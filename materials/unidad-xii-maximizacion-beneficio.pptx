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20"/>
  </p:notesMasterIdLst>
  <p:sldIdLst>
    <p:sldId id="423" r:id="rId2"/>
    <p:sldId id="456" r:id="rId3"/>
    <p:sldId id="460" r:id="rId4"/>
    <p:sldId id="461" r:id="rId5"/>
    <p:sldId id="475" r:id="rId6"/>
    <p:sldId id="474" r:id="rId7"/>
    <p:sldId id="471" r:id="rId8"/>
    <p:sldId id="473" r:id="rId9"/>
    <p:sldId id="472" r:id="rId10"/>
    <p:sldId id="470" r:id="rId11"/>
    <p:sldId id="469" r:id="rId12"/>
    <p:sldId id="466" r:id="rId13"/>
    <p:sldId id="467" r:id="rId14"/>
    <p:sldId id="465" r:id="rId15"/>
    <p:sldId id="476" r:id="rId16"/>
    <p:sldId id="477" r:id="rId17"/>
    <p:sldId id="464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A7552-D390-4A09-BB13-D094F1D12AB6}" v="3" dt="2024-07-15T13:45:39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8" autoAdjust="0"/>
    <p:restoredTop sz="94681"/>
  </p:normalViewPr>
  <p:slideViewPr>
    <p:cSldViewPr snapToGrid="0">
      <p:cViewPr varScale="1">
        <p:scale>
          <a:sx n="101" d="100"/>
          <a:sy n="101" d="100"/>
        </p:scale>
        <p:origin x="60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sica Aloi Rodriguez" userId="1fdb1b46-f6a3-4e1f-970c-8ca1e3dce219" providerId="ADAL" clId="{24EA7552-D390-4A09-BB13-D094F1D12AB6}"/>
    <pc:docChg chg="undo custSel modSld">
      <pc:chgData name="Jessica Aloi Rodriguez" userId="1fdb1b46-f6a3-4e1f-970c-8ca1e3dce219" providerId="ADAL" clId="{24EA7552-D390-4A09-BB13-D094F1D12AB6}" dt="2024-07-22T16:39:23.785" v="30" actId="1076"/>
      <pc:docMkLst>
        <pc:docMk/>
      </pc:docMkLst>
      <pc:sldChg chg="modSp">
        <pc:chgData name="Jessica Aloi Rodriguez" userId="1fdb1b46-f6a3-4e1f-970c-8ca1e3dce219" providerId="ADAL" clId="{24EA7552-D390-4A09-BB13-D094F1D12AB6}" dt="2024-07-15T13:45:39.384" v="28" actId="404"/>
        <pc:sldMkLst>
          <pc:docMk/>
          <pc:sldMk cId="1184709136" sldId="465"/>
        </pc:sldMkLst>
        <pc:spChg chg="mod">
          <ac:chgData name="Jessica Aloi Rodriguez" userId="1fdb1b46-f6a3-4e1f-970c-8ca1e3dce219" providerId="ADAL" clId="{24EA7552-D390-4A09-BB13-D094F1D12AB6}" dt="2024-07-15T13:45:39.384" v="28" actId="404"/>
          <ac:spMkLst>
            <pc:docMk/>
            <pc:sldMk cId="1184709136" sldId="465"/>
            <ac:spMk id="15" creationId="{C6AE06AE-77EE-9846-9339-E88EB5FD5ACD}"/>
          </ac:spMkLst>
        </pc:spChg>
      </pc:sldChg>
      <pc:sldChg chg="modSp mod">
        <pc:chgData name="Jessica Aloi Rodriguez" userId="1fdb1b46-f6a3-4e1f-970c-8ca1e3dce219" providerId="ADAL" clId="{24EA7552-D390-4A09-BB13-D094F1D12AB6}" dt="2024-07-22T16:39:23.785" v="30" actId="1076"/>
        <pc:sldMkLst>
          <pc:docMk/>
          <pc:sldMk cId="2605126667" sldId="467"/>
        </pc:sldMkLst>
        <pc:spChg chg="mod">
          <ac:chgData name="Jessica Aloi Rodriguez" userId="1fdb1b46-f6a3-4e1f-970c-8ca1e3dce219" providerId="ADAL" clId="{24EA7552-D390-4A09-BB13-D094F1D12AB6}" dt="2024-07-15T13:45:04.124" v="25" actId="404"/>
          <ac:spMkLst>
            <pc:docMk/>
            <pc:sldMk cId="2605126667" sldId="467"/>
            <ac:spMk id="2" creationId="{AE545717-1E68-644D-327B-804C14E49689}"/>
          </ac:spMkLst>
        </pc:spChg>
        <pc:picChg chg="mod">
          <ac:chgData name="Jessica Aloi Rodriguez" userId="1fdb1b46-f6a3-4e1f-970c-8ca1e3dce219" providerId="ADAL" clId="{24EA7552-D390-4A09-BB13-D094F1D12AB6}" dt="2024-07-22T16:39:23.785" v="30" actId="1076"/>
          <ac:picMkLst>
            <pc:docMk/>
            <pc:sldMk cId="2605126667" sldId="467"/>
            <ac:picMk id="4" creationId="{C4F65F2A-D3F6-0144-BFC9-E3DA0927E540}"/>
          </ac:picMkLst>
        </pc:picChg>
      </pc:sldChg>
      <pc:sldChg chg="modSp mod">
        <pc:chgData name="Jessica Aloi Rodriguez" userId="1fdb1b46-f6a3-4e1f-970c-8ca1e3dce219" providerId="ADAL" clId="{24EA7552-D390-4A09-BB13-D094F1D12AB6}" dt="2024-07-15T13:41:58.789" v="19" actId="1076"/>
        <pc:sldMkLst>
          <pc:docMk/>
          <pc:sldMk cId="2961830716" sldId="470"/>
        </pc:sldMkLst>
        <pc:spChg chg="mod">
          <ac:chgData name="Jessica Aloi Rodriguez" userId="1fdb1b46-f6a3-4e1f-970c-8ca1e3dce219" providerId="ADAL" clId="{24EA7552-D390-4A09-BB13-D094F1D12AB6}" dt="2024-07-15T13:41:53.567" v="17" actId="20577"/>
          <ac:spMkLst>
            <pc:docMk/>
            <pc:sldMk cId="2961830716" sldId="470"/>
            <ac:spMk id="2" creationId="{AE545717-1E68-644D-327B-804C14E49689}"/>
          </ac:spMkLst>
        </pc:spChg>
        <pc:picChg chg="mod">
          <ac:chgData name="Jessica Aloi Rodriguez" userId="1fdb1b46-f6a3-4e1f-970c-8ca1e3dce219" providerId="ADAL" clId="{24EA7552-D390-4A09-BB13-D094F1D12AB6}" dt="2024-07-15T13:41:58.789" v="19" actId="1076"/>
          <ac:picMkLst>
            <pc:docMk/>
            <pc:sldMk cId="2961830716" sldId="470"/>
            <ac:picMk id="4" creationId="{FB839DB6-D770-8A41-BD90-80D7A68584C5}"/>
          </ac:picMkLst>
        </pc:picChg>
      </pc:sldChg>
      <pc:sldChg chg="modSp mod">
        <pc:chgData name="Jessica Aloi Rodriguez" userId="1fdb1b46-f6a3-4e1f-970c-8ca1e3dce219" providerId="ADAL" clId="{24EA7552-D390-4A09-BB13-D094F1D12AB6}" dt="2024-07-15T13:41:36.710" v="15" actId="20577"/>
        <pc:sldMkLst>
          <pc:docMk/>
          <pc:sldMk cId="2444069030" sldId="471"/>
        </pc:sldMkLst>
        <pc:spChg chg="mod">
          <ac:chgData name="Jessica Aloi Rodriguez" userId="1fdb1b46-f6a3-4e1f-970c-8ca1e3dce219" providerId="ADAL" clId="{24EA7552-D390-4A09-BB13-D094F1D12AB6}" dt="2024-07-15T13:41:36.710" v="15" actId="20577"/>
          <ac:spMkLst>
            <pc:docMk/>
            <pc:sldMk cId="2444069030" sldId="471"/>
            <ac:spMk id="2" creationId="{AE545717-1E68-644D-327B-804C14E49689}"/>
          </ac:spMkLst>
        </pc:spChg>
      </pc:sldChg>
      <pc:sldChg chg="modSp mod">
        <pc:chgData name="Jessica Aloi Rodriguez" userId="1fdb1b46-f6a3-4e1f-970c-8ca1e3dce219" providerId="ADAL" clId="{24EA7552-D390-4A09-BB13-D094F1D12AB6}" dt="2024-07-15T13:46:34.535" v="29" actId="113"/>
        <pc:sldMkLst>
          <pc:docMk/>
          <pc:sldMk cId="716603183" sldId="477"/>
        </pc:sldMkLst>
        <pc:spChg chg="mod">
          <ac:chgData name="Jessica Aloi Rodriguez" userId="1fdb1b46-f6a3-4e1f-970c-8ca1e3dce219" providerId="ADAL" clId="{24EA7552-D390-4A09-BB13-D094F1D12AB6}" dt="2024-07-15T13:46:34.535" v="29" actId="113"/>
          <ac:spMkLst>
            <pc:docMk/>
            <pc:sldMk cId="716603183" sldId="477"/>
            <ac:spMk id="2" creationId="{AE545717-1E68-644D-327B-804C14E496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007D2-08F4-418F-AE90-44D2A7AE0C3F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FD7468-75B3-41AE-9C4E-22CC7ACBD4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25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DCFD5A-D2D4-4773-84E0-1B3A3DE46CF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675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16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838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34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8202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5633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840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220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683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2235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8580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421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1957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05288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256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0265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FD7468-75B3-41AE-9C4E-22CC7ACBD4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38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7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9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24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7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6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24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8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3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22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128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3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73A21B78-CDDB-4C02-B6D4-357E78AB9B2D}" type="datetimeFigureOut">
              <a:rPr lang="en-US" smtClean="0"/>
              <a:t>7/22/2024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73287EF7-B5A1-443B-B80B-AE5D3D63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399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618-1E64-4BB6-1FBB-D5F8F1F999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La </a:t>
            </a:r>
            <a:r>
              <a:rPr lang="en-US" sz="5400" b="1" dirty="0" err="1"/>
              <a:t>maximización</a:t>
            </a:r>
            <a:r>
              <a:rPr lang="en-US" sz="5400" b="1" dirty="0"/>
              <a:t> del </a:t>
            </a:r>
            <a:r>
              <a:rPr lang="en-US" sz="5400" b="1" dirty="0" err="1"/>
              <a:t>beneficio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254950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495240"/>
            <a:ext cx="9784080" cy="988627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Clase</a:t>
            </a:r>
            <a:r>
              <a:rPr lang="en-US" b="1" dirty="0">
                <a:solidFill>
                  <a:srgbClr val="1F497D"/>
                </a:solidFill>
              </a:rPr>
              <a:t> </a:t>
            </a:r>
            <a:r>
              <a:rPr lang="en-US" b="1" dirty="0" err="1">
                <a:solidFill>
                  <a:srgbClr val="1F497D"/>
                </a:solidFill>
              </a:rPr>
              <a:t>pasada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6" y="1477983"/>
            <a:ext cx="1062466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Los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factores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y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los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productos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Restricciones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tecnológicas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Propiedades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de la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función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de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producción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Relación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técnica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de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sustitución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roducto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marginal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decreciente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El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corto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y largo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plazo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Los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rendimientos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de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escala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8453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495240"/>
            <a:ext cx="9784080" cy="988627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Temas</a:t>
            </a:r>
            <a:r>
              <a:rPr lang="en-US" b="1" dirty="0">
                <a:solidFill>
                  <a:srgbClr val="1F497D"/>
                </a:solidFill>
              </a:rPr>
              <a:t> a </a:t>
            </a:r>
            <a:r>
              <a:rPr lang="en-US" b="1" dirty="0" err="1">
                <a:solidFill>
                  <a:srgbClr val="1F497D"/>
                </a:solidFill>
              </a:rPr>
              <a:t>desarrollar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6" y="1477983"/>
            <a:ext cx="1062466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Los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beneficios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Factores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fijos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y variables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Maximización</a:t>
            </a:r>
            <a:r>
              <a:rPr lang="en-US" sz="36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beneficio</a:t>
            </a:r>
            <a:r>
              <a:rPr lang="en-US" sz="36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600" dirty="0">
                <a:solidFill>
                  <a:prstClr val="black"/>
                </a:solidFill>
                <a:latin typeface="Corbel" panose="020B0503020204020204"/>
              </a:rPr>
              <a:t> el </a:t>
            </a: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corto</a:t>
            </a:r>
            <a:r>
              <a:rPr lang="en-US" sz="36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plazo</a:t>
            </a:r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 defTabSz="457200">
              <a:buFont typeface="Arial" panose="020B0604020202020204" pitchFamily="34" charset="0"/>
              <a:buChar char="•"/>
              <a:defRPr/>
            </a:pP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Maximización</a:t>
            </a:r>
            <a:r>
              <a:rPr lang="en-US" sz="36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beneficio</a:t>
            </a:r>
            <a:r>
              <a:rPr lang="en-US" sz="36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600" dirty="0">
                <a:solidFill>
                  <a:prstClr val="black"/>
                </a:solidFill>
                <a:latin typeface="Corbel" panose="020B0503020204020204"/>
              </a:rPr>
              <a:t> el largo </a:t>
            </a:r>
            <a:r>
              <a:rPr lang="en-US" sz="3600" dirty="0" err="1">
                <a:solidFill>
                  <a:prstClr val="black"/>
                </a:solidFill>
                <a:latin typeface="Corbel" panose="020B0503020204020204"/>
              </a:rPr>
              <a:t>plazo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6415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Introducción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clase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pasada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aprendimos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el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efecto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de la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toma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decisiones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de la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Vimos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las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distintas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b="1" dirty="0" err="1">
                <a:solidFill>
                  <a:prstClr val="black"/>
                </a:solidFill>
                <a:latin typeface="Corbel" panose="020B0503020204020204"/>
              </a:rPr>
              <a:t>formas</a:t>
            </a:r>
            <a:r>
              <a:rPr lang="en-US" sz="32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b="1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200" b="1" dirty="0">
                <a:solidFill>
                  <a:prstClr val="black"/>
                </a:solidFill>
                <a:latin typeface="Corbel" panose="020B0503020204020204"/>
              </a:rPr>
              <a:t> que </a:t>
            </a:r>
            <a:r>
              <a:rPr lang="en-US" sz="3200" b="1" dirty="0" err="1">
                <a:solidFill>
                  <a:prstClr val="black"/>
                </a:solidFill>
                <a:latin typeface="Corbel" panose="020B0503020204020204"/>
              </a:rPr>
              <a:t>pueden</a:t>
            </a:r>
            <a:r>
              <a:rPr lang="en-US" sz="32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b="1" dirty="0" err="1">
                <a:solidFill>
                  <a:prstClr val="black"/>
                </a:solidFill>
                <a:latin typeface="Corbel" panose="020B0503020204020204"/>
              </a:rPr>
              <a:t>combinarse</a:t>
            </a:r>
            <a:r>
              <a:rPr lang="en-US" sz="3200" b="1" dirty="0">
                <a:solidFill>
                  <a:prstClr val="black"/>
                </a:solidFill>
                <a:latin typeface="Corbel" panose="020B0503020204020204"/>
              </a:rPr>
              <a:t> los </a:t>
            </a:r>
            <a:r>
              <a:rPr lang="en-US" sz="3200" b="1" dirty="0" err="1">
                <a:solidFill>
                  <a:prstClr val="black"/>
                </a:solidFill>
                <a:latin typeface="Corbel" panose="020B0503020204020204"/>
              </a:rPr>
              <a:t>factores</a:t>
            </a:r>
            <a:r>
              <a:rPr lang="en-US" sz="32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b="1" dirty="0" err="1">
                <a:solidFill>
                  <a:prstClr val="black"/>
                </a:solidFill>
                <a:latin typeface="Corbel" panose="020B0503020204020204"/>
              </a:rPr>
              <a:t>productivos</a:t>
            </a:r>
            <a:r>
              <a:rPr lang="en-US" sz="32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s-ES" sz="3200" dirty="0">
                <a:solidFill>
                  <a:prstClr val="black"/>
                </a:solidFill>
                <a:latin typeface="Corbel" panose="020B0503020204020204"/>
              </a:rPr>
              <a:t>de forma eficiente para la obtención de productos o bienes</a:t>
            </a: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</p:spTree>
    <p:extLst>
      <p:ext uri="{BB962C8B-B14F-4D97-AF65-F5344CB8AC3E}">
        <p14:creationId xmlns:p14="http://schemas.microsoft.com/office/powerpoint/2010/main" val="191642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Introducción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Hoy,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aprenderemos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cómo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elige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el plan de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producción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que </a:t>
            </a:r>
            <a:r>
              <a:rPr lang="en-US" sz="3200" b="1" dirty="0" err="1">
                <a:solidFill>
                  <a:prstClr val="black"/>
                </a:solidFill>
                <a:latin typeface="Corbel" panose="020B0503020204020204"/>
              </a:rPr>
              <a:t>maximiza</a:t>
            </a:r>
            <a:r>
              <a:rPr lang="en-US" sz="3200" b="1" dirty="0">
                <a:solidFill>
                  <a:prstClr val="black"/>
                </a:solidFill>
                <a:latin typeface="Corbel" panose="020B0503020204020204"/>
              </a:rPr>
              <a:t> sus </a:t>
            </a:r>
            <a:r>
              <a:rPr lang="en-US" sz="3200" b="1" dirty="0" err="1">
                <a:solidFill>
                  <a:prstClr val="black"/>
                </a:solidFill>
                <a:latin typeface="Corbel" panose="020B0503020204020204"/>
              </a:rPr>
              <a:t>beneficios</a:t>
            </a:r>
            <a:r>
              <a:rPr lang="en-US" sz="32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donde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sus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factores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producción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y los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productos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se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venden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mercados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competitivos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</p:spTree>
    <p:extLst>
      <p:ext uri="{BB962C8B-B14F-4D97-AF65-F5344CB8AC3E}">
        <p14:creationId xmlns:p14="http://schemas.microsoft.com/office/powerpoint/2010/main" val="1077781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F497D"/>
                </a:solidFill>
              </a:rPr>
              <a:t>Los </a:t>
            </a:r>
            <a:r>
              <a:rPr lang="en-US" b="1" dirty="0" err="1">
                <a:solidFill>
                  <a:srgbClr val="1F497D"/>
                </a:solidFill>
              </a:rPr>
              <a:t>beneficios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Los </a:t>
            </a:r>
            <a:r>
              <a:rPr lang="en-US" sz="2400" b="1" dirty="0" err="1">
                <a:solidFill>
                  <a:prstClr val="black"/>
                </a:solidFill>
                <a:latin typeface="Corbel" panose="020B0503020204020204"/>
              </a:rPr>
              <a:t>beneficios</a:t>
            </a:r>
            <a:r>
              <a:rPr lang="en-US" sz="24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se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definen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como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los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ingresos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menos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los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costes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.</a:t>
            </a:r>
          </a:p>
          <a:p>
            <a:pPr algn="just"/>
            <a:endParaRPr lang="en-US" sz="24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Supongamos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que la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produce n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bienes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(y1,...,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yn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) y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utiliza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m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factores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(x1,...,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xm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). Sean (p1,...,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pn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) los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precios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de los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productos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y (w1,...,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wn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) los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precios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de los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factores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. </a:t>
            </a:r>
          </a:p>
          <a:p>
            <a:pPr algn="just"/>
            <a:endParaRPr lang="en-US" sz="24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Los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beneficios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que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obtiene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l-GR" sz="2400" dirty="0">
                <a:solidFill>
                  <a:prstClr val="black"/>
                </a:solidFill>
                <a:latin typeface="Corbel" panose="020B0503020204020204"/>
              </a:rPr>
              <a:t>π,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pueden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expresarse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 de la forma </a:t>
            </a:r>
            <a:r>
              <a:rPr lang="en-US" sz="2400" dirty="0" err="1">
                <a:solidFill>
                  <a:prstClr val="black"/>
                </a:solidFill>
                <a:latin typeface="Corbel" panose="020B0503020204020204"/>
              </a:rPr>
              <a:t>siguiente</a:t>
            </a:r>
            <a:r>
              <a:rPr lang="en-US" sz="2400" dirty="0">
                <a:solidFill>
                  <a:prstClr val="black"/>
                </a:solidFill>
                <a:latin typeface="Corbel" panose="020B0503020204020204"/>
              </a:rPr>
              <a:t>: </a:t>
            </a: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70EB7BE-1F88-0042-BECF-194C04C8EF26}"/>
              </a:ext>
            </a:extLst>
          </p:cNvPr>
          <p:cNvGrpSpPr/>
          <p:nvPr/>
        </p:nvGrpSpPr>
        <p:grpSpPr>
          <a:xfrm>
            <a:off x="4173174" y="4084939"/>
            <a:ext cx="2892312" cy="1894709"/>
            <a:chOff x="4173174" y="4084939"/>
            <a:chExt cx="2892312" cy="1894709"/>
          </a:xfrm>
        </p:grpSpPr>
        <p:pic>
          <p:nvPicPr>
            <p:cNvPr id="4" name="Picture 3" descr="A mathematical equation with numbers and symbols&#10;&#10;Description automatically generated">
              <a:extLst>
                <a:ext uri="{FF2B5EF4-FFF2-40B4-BE49-F238E27FC236}">
                  <a16:creationId xmlns:a16="http://schemas.microsoft.com/office/drawing/2014/main" id="{6E999F1B-DC26-7C48-8DF5-AE4C67217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3174" y="4084939"/>
              <a:ext cx="2832100" cy="1155700"/>
            </a:xfrm>
            <a:prstGeom prst="rect">
              <a:avLst/>
            </a:prstGeom>
          </p:spPr>
        </p:pic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C20C355D-C15D-EC4C-A5E4-E3098EB90086}"/>
                </a:ext>
              </a:extLst>
            </p:cNvPr>
            <p:cNvSpPr/>
            <p:nvPr/>
          </p:nvSpPr>
          <p:spPr>
            <a:xfrm rot="16200000">
              <a:off x="4998207" y="4903545"/>
              <a:ext cx="447575" cy="881350"/>
            </a:xfrm>
            <a:prstGeom prst="leftBrac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DO"/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15EB1E90-AB7B-394B-93F0-5BC89D40F22E}"/>
                </a:ext>
              </a:extLst>
            </p:cNvPr>
            <p:cNvSpPr/>
            <p:nvPr/>
          </p:nvSpPr>
          <p:spPr>
            <a:xfrm rot="16200000">
              <a:off x="6110185" y="4852576"/>
              <a:ext cx="447575" cy="881350"/>
            </a:xfrm>
            <a:prstGeom prst="leftBrac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DO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AF8B91-FA6D-174F-BB04-55B120E5B04F}"/>
                </a:ext>
              </a:extLst>
            </p:cNvPr>
            <p:cNvSpPr txBox="1"/>
            <p:nvPr/>
          </p:nvSpPr>
          <p:spPr>
            <a:xfrm>
              <a:off x="4522422" y="5579538"/>
              <a:ext cx="139914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tx2"/>
                  </a:solidFill>
                  <a:latin typeface="Corbel" panose="020B0503020204020204"/>
                </a:rPr>
                <a:t>Ingresos</a:t>
              </a:r>
              <a:endParaRPr lang="en-US" sz="2000" b="1" dirty="0">
                <a:solidFill>
                  <a:schemeClr val="tx2"/>
                </a:solidFill>
                <a:latin typeface="Corbel" panose="020B0503020204020204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C6CA0DD-D927-604F-B484-1B6838992FC2}"/>
                </a:ext>
              </a:extLst>
            </p:cNvPr>
            <p:cNvSpPr txBox="1"/>
            <p:nvPr/>
          </p:nvSpPr>
          <p:spPr>
            <a:xfrm>
              <a:off x="5666342" y="5568007"/>
              <a:ext cx="139914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 err="1">
                  <a:solidFill>
                    <a:schemeClr val="tx2"/>
                  </a:solidFill>
                  <a:latin typeface="Corbel" panose="020B0503020204020204"/>
                </a:rPr>
                <a:t>Costes</a:t>
              </a:r>
              <a:endParaRPr lang="en-US" sz="2000" b="1" dirty="0">
                <a:solidFill>
                  <a:schemeClr val="tx2"/>
                </a:solidFill>
                <a:latin typeface="Corbel" panose="020B0503020204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171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F497D"/>
                </a:solidFill>
              </a:rPr>
              <a:t>Los </a:t>
            </a:r>
            <a:r>
              <a:rPr lang="en-US" b="1" dirty="0" err="1">
                <a:solidFill>
                  <a:srgbClr val="1F497D"/>
                </a:solidFill>
              </a:rPr>
              <a:t>beneficios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Suponemos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que los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factores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son 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variables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flujo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b="1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Los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salarios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se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expresan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lógicamente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monedas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por hora.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En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caso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las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máquinas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medida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análoga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es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alquiler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es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decir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la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tasa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 (r) 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a la que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podemos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alquilar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una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máquina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durante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periodo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tiempo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dado.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Muchas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veces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no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existe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un mercado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muy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desarrollado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máquinas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alquiler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ya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que las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empresas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suelen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comprar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equipo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capital.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estos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casos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tenemos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que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obtener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alquiler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implícito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calculando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cuánto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costaría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comprar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una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máquina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al principio del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periodo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y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venderla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al final. </a:t>
            </a:r>
            <a:endParaRPr lang="en-US" sz="2400" dirty="0">
              <a:solidFill>
                <a:prstClr val="black"/>
              </a:solidFill>
              <a:latin typeface="Corbel" panose="020B0503020204020204"/>
            </a:endParaRPr>
          </a:p>
        </p:txBody>
      </p:sp>
    </p:spTree>
    <p:extLst>
      <p:ext uri="{BB962C8B-B14F-4D97-AF65-F5344CB8AC3E}">
        <p14:creationId xmlns:p14="http://schemas.microsoft.com/office/powerpoint/2010/main" val="2444069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F497D"/>
                </a:solidFill>
              </a:rPr>
              <a:t>Los </a:t>
            </a:r>
            <a:r>
              <a:rPr lang="en-US" b="1" dirty="0" err="1">
                <a:solidFill>
                  <a:srgbClr val="1F497D"/>
                </a:solidFill>
              </a:rPr>
              <a:t>beneficios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Es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importante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, que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expresión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costes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se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incluyan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todos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los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factores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producción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que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utiliza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i="1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prstClr val="black"/>
                </a:solidFill>
                <a:latin typeface="Corbel" panose="020B0503020204020204"/>
              </a:rPr>
              <a:t>Es </a:t>
            </a:r>
            <a:r>
              <a:rPr lang="en-US" sz="3200" i="1" dirty="0" err="1">
                <a:solidFill>
                  <a:prstClr val="black"/>
                </a:solidFill>
                <a:latin typeface="Corbel" panose="020B0503020204020204"/>
              </a:rPr>
              <a:t>decir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si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una persona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trabaja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propia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trabajo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es un factor y, por lo tanto, debe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incluirse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los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costes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.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salario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es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simplemente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el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precio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de mercado de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trabajo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, es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decir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, lo que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recibiría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si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vendiera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trabajo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32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3200" dirty="0">
                <a:solidFill>
                  <a:prstClr val="black"/>
                </a:solidFill>
                <a:latin typeface="Corbel" panose="020B0503020204020204"/>
              </a:rPr>
              <a:t> el mercado. </a:t>
            </a: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</p:spTree>
    <p:extLst>
      <p:ext uri="{BB962C8B-B14F-4D97-AF65-F5344CB8AC3E}">
        <p14:creationId xmlns:p14="http://schemas.microsoft.com/office/powerpoint/2010/main" val="166339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F497D"/>
                </a:solidFill>
              </a:rPr>
              <a:t>Los </a:t>
            </a:r>
            <a:r>
              <a:rPr lang="en-US" b="1" dirty="0" err="1">
                <a:solidFill>
                  <a:srgbClr val="1F497D"/>
                </a:solidFill>
              </a:rPr>
              <a:t>beneficios</a:t>
            </a:r>
            <a:endParaRPr lang="en-US" b="1" dirty="0">
              <a:solidFill>
                <a:srgbClr val="1F497D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Hemos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visto que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este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tipo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costes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económicos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suele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llamarse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coste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oportunidad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.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término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se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basa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la idea de que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si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un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individuo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utiliza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por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ejemplo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trabajo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pierde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oportunidad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emplearlo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otra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parte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.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Por lo tanto, los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salarios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perdidos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forman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parte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coste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producción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. </a:t>
            </a:r>
          </a:p>
          <a:p>
            <a:pPr algn="just"/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Lo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mismo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sucede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con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ejemplo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la tierra.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agricultor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tiene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oportunidad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arrendarla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otra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persona,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pero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decide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renunciar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 ese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alquiler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cambio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alquilársela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si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́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mismo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. 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Los </a:t>
            </a:r>
            <a:r>
              <a:rPr lang="en-US" sz="2800" u="sng" dirty="0" err="1">
                <a:solidFill>
                  <a:prstClr val="black"/>
                </a:solidFill>
                <a:latin typeface="Corbel" panose="020B0503020204020204"/>
              </a:rPr>
              <a:t>alquileres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u="sng" dirty="0" err="1">
                <a:solidFill>
                  <a:prstClr val="black"/>
                </a:solidFill>
                <a:latin typeface="Corbel" panose="020B0503020204020204"/>
              </a:rPr>
              <a:t>perdidos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u="sng" dirty="0" err="1">
                <a:solidFill>
                  <a:prstClr val="black"/>
                </a:solidFill>
                <a:latin typeface="Corbel" panose="020B0503020204020204"/>
              </a:rPr>
              <a:t>forman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u="sng" dirty="0" err="1">
                <a:solidFill>
                  <a:prstClr val="black"/>
                </a:solidFill>
                <a:latin typeface="Corbel" panose="020B0503020204020204"/>
              </a:rPr>
              <a:t>parte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 del </a:t>
            </a:r>
            <a:r>
              <a:rPr lang="en-US" sz="2800" u="sng" dirty="0" err="1">
                <a:solidFill>
                  <a:prstClr val="black"/>
                </a:solidFill>
                <a:latin typeface="Corbel" panose="020B0503020204020204"/>
              </a:rPr>
              <a:t>coste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u="sng" dirty="0" err="1">
                <a:solidFill>
                  <a:prstClr val="black"/>
                </a:solidFill>
                <a:latin typeface="Corbel" panose="020B0503020204020204"/>
              </a:rPr>
              <a:t>oportunidad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u="sng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u="sng" dirty="0" err="1">
                <a:solidFill>
                  <a:prstClr val="black"/>
                </a:solidFill>
                <a:latin typeface="Corbel" panose="020B0503020204020204"/>
              </a:rPr>
              <a:t>producción</a:t>
            </a:r>
            <a:r>
              <a:rPr lang="en-US" sz="2800" u="sng" dirty="0">
                <a:solidFill>
                  <a:prstClr val="black"/>
                </a:solidFill>
                <a:latin typeface="Corbel" panose="020B0503020204020204"/>
              </a:rPr>
              <a:t>. </a:t>
            </a: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</p:spTree>
    <p:extLst>
      <p:ext uri="{BB962C8B-B14F-4D97-AF65-F5344CB8AC3E}">
        <p14:creationId xmlns:p14="http://schemas.microsoft.com/office/powerpoint/2010/main" val="2013875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maximización</a:t>
            </a:r>
            <a:r>
              <a:rPr lang="en-US" b="1" dirty="0">
                <a:solidFill>
                  <a:srgbClr val="1F497D"/>
                </a:solidFill>
              </a:rPr>
              <a:t> del </a:t>
            </a:r>
            <a:r>
              <a:rPr lang="en-US" b="1" dirty="0" err="1">
                <a:solidFill>
                  <a:srgbClr val="1F497D"/>
                </a:solidFill>
              </a:rPr>
              <a:t>beneficio</a:t>
            </a:r>
            <a:r>
              <a:rPr lang="en-US" b="1" dirty="0">
                <a:solidFill>
                  <a:srgbClr val="1F497D"/>
                </a:solidFill>
              </a:rPr>
              <a:t> a </a:t>
            </a:r>
            <a:r>
              <a:rPr lang="en-US" b="1" dirty="0" err="1">
                <a:solidFill>
                  <a:srgbClr val="1F497D"/>
                </a:solidFill>
              </a:rPr>
              <a:t>corto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  <a:r>
              <a:rPr lang="en-US" b="1" dirty="0" err="1">
                <a:solidFill>
                  <a:srgbClr val="1F497D"/>
                </a:solidFill>
              </a:rPr>
              <a:t>plazo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El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corto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plazo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es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periodo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tiempo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el que hay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algunos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factores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fijos</a:t>
            </a:r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Consideremos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problema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maximización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beneficio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corto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plazo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cuando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el factor 2 es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fijo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x̅2. Sea 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f(x1, x̅2) 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función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producción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. Sea 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p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precio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los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productos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y 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w1 y w2 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los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precios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los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factores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.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este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caso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problema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maximización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beneficio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 que se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enfrenta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puede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expresarse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la forma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siguiente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: 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  <p:pic>
        <p:nvPicPr>
          <p:cNvPr id="4" name="Picture 3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FB839DB6-D770-8A41-BD90-80D7A68584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115" y="4662099"/>
            <a:ext cx="5119917" cy="97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30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maximización</a:t>
            </a:r>
            <a:r>
              <a:rPr lang="en-US" b="1" dirty="0">
                <a:solidFill>
                  <a:srgbClr val="1F497D"/>
                </a:solidFill>
              </a:rPr>
              <a:t> del </a:t>
            </a:r>
            <a:r>
              <a:rPr lang="en-US" b="1" dirty="0" err="1">
                <a:solidFill>
                  <a:srgbClr val="1F497D"/>
                </a:solidFill>
              </a:rPr>
              <a:t>beneficio</a:t>
            </a:r>
            <a:r>
              <a:rPr lang="en-US" b="1" dirty="0">
                <a:solidFill>
                  <a:srgbClr val="1F497D"/>
                </a:solidFill>
              </a:rPr>
              <a:t> a </a:t>
            </a:r>
            <a:r>
              <a:rPr lang="en-US" b="1" dirty="0" err="1">
                <a:solidFill>
                  <a:srgbClr val="1F497D"/>
                </a:solidFill>
              </a:rPr>
              <a:t>corto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  <a:r>
              <a:rPr lang="en-US" b="1" dirty="0" err="1">
                <a:solidFill>
                  <a:srgbClr val="1F497D"/>
                </a:solidFill>
              </a:rPr>
              <a:t>plazo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Si 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x*1 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es 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elección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del factor 1 que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maximiza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beneficio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precio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producto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multiplicado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por el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producto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marginal del factor 1 debe ser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igual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al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precio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del factor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7131CE0-E75F-DF4C-B3E6-ED357EF001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2"/>
          <a:stretch/>
        </p:blipFill>
        <p:spPr>
          <a:xfrm>
            <a:off x="4287410" y="2644130"/>
            <a:ext cx="2928635" cy="8934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1EB90E-5043-5449-9380-1052DED5D382}"/>
              </a:ext>
            </a:extLst>
          </p:cNvPr>
          <p:cNvSpPr txBox="1"/>
          <p:nvPr/>
        </p:nvSpPr>
        <p:spPr>
          <a:xfrm>
            <a:off x="1011016" y="3796649"/>
            <a:ext cx="100278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otras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palabras, 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el valor del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producto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marginal del factor 1 debe ser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igual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a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su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i="1" dirty="0" err="1">
                <a:solidFill>
                  <a:prstClr val="black"/>
                </a:solidFill>
                <a:latin typeface="Corbel" panose="020B0503020204020204"/>
              </a:rPr>
              <a:t>precio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C2726E-3A0E-334F-AB1E-164A8C31CAB2}"/>
              </a:ext>
            </a:extLst>
          </p:cNvPr>
          <p:cNvSpPr/>
          <p:nvPr/>
        </p:nvSpPr>
        <p:spPr>
          <a:xfrm>
            <a:off x="4287410" y="2776251"/>
            <a:ext cx="3093891" cy="7613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O"/>
          </a:p>
        </p:txBody>
      </p:sp>
    </p:spTree>
    <p:extLst>
      <p:ext uri="{BB962C8B-B14F-4D97-AF65-F5344CB8AC3E}">
        <p14:creationId xmlns:p14="http://schemas.microsoft.com/office/powerpoint/2010/main" val="3802976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maximización</a:t>
            </a:r>
            <a:r>
              <a:rPr lang="en-US" b="1" dirty="0">
                <a:solidFill>
                  <a:srgbClr val="1F497D"/>
                </a:solidFill>
              </a:rPr>
              <a:t> del </a:t>
            </a:r>
            <a:r>
              <a:rPr lang="en-US" b="1" dirty="0" err="1">
                <a:solidFill>
                  <a:srgbClr val="1F497D"/>
                </a:solidFill>
              </a:rPr>
              <a:t>beneficio</a:t>
            </a:r>
            <a:r>
              <a:rPr lang="en-US" b="1" dirty="0">
                <a:solidFill>
                  <a:srgbClr val="1F497D"/>
                </a:solidFill>
              </a:rPr>
              <a:t> a </a:t>
            </a:r>
            <a:r>
              <a:rPr lang="en-US" b="1" dirty="0" err="1">
                <a:solidFill>
                  <a:srgbClr val="1F497D"/>
                </a:solidFill>
              </a:rPr>
              <a:t>corto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  <a:r>
              <a:rPr lang="en-US" b="1" dirty="0" err="1">
                <a:solidFill>
                  <a:srgbClr val="1F497D"/>
                </a:solidFill>
              </a:rPr>
              <a:t>plazo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Si 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y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representa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producción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empresa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, los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beneficios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son:</a:t>
            </a:r>
          </a:p>
          <a:p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Despejando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i="1" dirty="0">
                <a:solidFill>
                  <a:prstClr val="black"/>
                </a:solidFill>
                <a:latin typeface="Corbel" panose="020B0503020204020204"/>
              </a:rPr>
              <a:t>y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esta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expresión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</a:p>
          <a:p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pPr algn="just"/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Esta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ecuación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describe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rectas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b="1" dirty="0" err="1">
                <a:solidFill>
                  <a:prstClr val="black"/>
                </a:solidFill>
                <a:latin typeface="Corbel" panose="020B0503020204020204"/>
              </a:rPr>
              <a:t>isobeneficio</a:t>
            </a:r>
            <a:r>
              <a:rPr lang="en-US" sz="2800" b="1" dirty="0">
                <a:solidFill>
                  <a:prstClr val="black"/>
                </a:solidFill>
                <a:latin typeface="Corbel" panose="020B0503020204020204"/>
              </a:rPr>
              <a:t>, 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la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cual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es una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combinación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insumos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y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productos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 que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proporciona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un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nivel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de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beneficio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Corbel" panose="020B0503020204020204"/>
              </a:rPr>
              <a:t>constante</a:t>
            </a:r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.</a:t>
            </a:r>
          </a:p>
          <a:p>
            <a:endParaRPr lang="en-US" sz="2800" dirty="0">
              <a:solidFill>
                <a:prstClr val="black"/>
              </a:solidFill>
              <a:latin typeface="Corbel" panose="020B0503020204020204"/>
            </a:endParaRPr>
          </a:p>
          <a:p>
            <a:r>
              <a:rPr lang="en-US" sz="2800" dirty="0">
                <a:solidFill>
                  <a:prstClr val="black"/>
                </a:solidFill>
                <a:latin typeface="Corbel" panose="020B0503020204020204"/>
              </a:rPr>
              <a:t> </a:t>
            </a: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1B2CC701-FD39-C04D-B09A-F786882B76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2"/>
          <a:stretch/>
        </p:blipFill>
        <p:spPr>
          <a:xfrm>
            <a:off x="3844925" y="1828602"/>
            <a:ext cx="3591461" cy="656703"/>
          </a:xfrm>
          <a:prstGeom prst="rect">
            <a:avLst/>
          </a:prstGeom>
        </p:spPr>
      </p:pic>
      <p:pic>
        <p:nvPicPr>
          <p:cNvPr id="9" name="Picture 8" descr="A mathematical equation with black letters&#10;&#10;Description automatically generated">
            <a:extLst>
              <a:ext uri="{FF2B5EF4-FFF2-40B4-BE49-F238E27FC236}">
                <a16:creationId xmlns:a16="http://schemas.microsoft.com/office/drawing/2014/main" id="{7F02B0B0-C067-0A4D-9616-64F2E3CB9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220" y="3114320"/>
            <a:ext cx="2952119" cy="112717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33FCEC7-FFD2-1E48-8068-4105616F8B6F}"/>
              </a:ext>
            </a:extLst>
          </p:cNvPr>
          <p:cNvSpPr/>
          <p:nvPr/>
        </p:nvSpPr>
        <p:spPr>
          <a:xfrm>
            <a:off x="4342496" y="3297233"/>
            <a:ext cx="2985844" cy="85612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O"/>
          </a:p>
        </p:txBody>
      </p:sp>
    </p:spTree>
    <p:extLst>
      <p:ext uri="{BB962C8B-B14F-4D97-AF65-F5344CB8AC3E}">
        <p14:creationId xmlns:p14="http://schemas.microsoft.com/office/powerpoint/2010/main" val="2393578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maximización</a:t>
            </a:r>
            <a:r>
              <a:rPr lang="en-US" b="1" dirty="0">
                <a:solidFill>
                  <a:srgbClr val="1F497D"/>
                </a:solidFill>
              </a:rPr>
              <a:t> del </a:t>
            </a:r>
            <a:r>
              <a:rPr lang="en-US" b="1" dirty="0" err="1">
                <a:solidFill>
                  <a:srgbClr val="1F497D"/>
                </a:solidFill>
              </a:rPr>
              <a:t>beneficio</a:t>
            </a:r>
            <a:r>
              <a:rPr lang="en-US" b="1" dirty="0">
                <a:solidFill>
                  <a:srgbClr val="1F497D"/>
                </a:solidFill>
              </a:rPr>
              <a:t> a </a:t>
            </a:r>
            <a:r>
              <a:rPr lang="en-US" b="1" dirty="0" err="1">
                <a:solidFill>
                  <a:srgbClr val="1F497D"/>
                </a:solidFill>
              </a:rPr>
              <a:t>corto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  <a:r>
              <a:rPr lang="en-US" b="1" dirty="0" err="1">
                <a:solidFill>
                  <a:srgbClr val="1F497D"/>
                </a:solidFill>
              </a:rPr>
              <a:t>plazo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739282" y="1425444"/>
            <a:ext cx="5859822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effectLst/>
                <a:latin typeface="Corbel" panose="020B0503020204020204" pitchFamily="34" charset="0"/>
              </a:rPr>
              <a:t>El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problema</a:t>
            </a:r>
            <a:r>
              <a:rPr lang="en-US" sz="2000" dirty="0">
                <a:effectLst/>
                <a:latin typeface="Corbel" panose="020B0503020204020204" pitchFamily="34" charset="0"/>
              </a:rPr>
              <a:t> de </a:t>
            </a:r>
            <a:r>
              <a:rPr lang="en-US" sz="2000" b="1" dirty="0" err="1">
                <a:effectLst/>
                <a:latin typeface="Corbel" panose="020B0503020204020204" pitchFamily="34" charset="0"/>
              </a:rPr>
              <a:t>maximización</a:t>
            </a:r>
            <a:r>
              <a:rPr lang="en-US" sz="2000" b="1" dirty="0">
                <a:effectLst/>
                <a:latin typeface="Corbel" panose="020B0503020204020204" pitchFamily="34" charset="0"/>
              </a:rPr>
              <a:t> del </a:t>
            </a:r>
            <a:r>
              <a:rPr lang="en-US" sz="2000" b="1" dirty="0" err="1">
                <a:effectLst/>
                <a:latin typeface="Corbel" panose="020B0503020204020204" pitchFamily="34" charset="0"/>
              </a:rPr>
              <a:t>beneficio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consiste</a:t>
            </a:r>
            <a:r>
              <a:rPr lang="en-US" sz="2000" dirty="0">
                <a:effectLst/>
                <a:latin typeface="Corbel" panose="020B0503020204020204" pitchFamily="34" charset="0"/>
              </a:rPr>
              <a:t>,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en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hallar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u="sng" dirty="0">
                <a:effectLst/>
                <a:latin typeface="Corbel" panose="020B0503020204020204" pitchFamily="34" charset="0"/>
              </a:rPr>
              <a:t>el punto de la </a:t>
            </a:r>
            <a:r>
              <a:rPr lang="en-US" sz="2000" u="sng" dirty="0" err="1">
                <a:effectLst/>
                <a:latin typeface="Corbel" panose="020B0503020204020204" pitchFamily="34" charset="0"/>
              </a:rPr>
              <a:t>función</a:t>
            </a:r>
            <a:r>
              <a:rPr lang="en-US" sz="2000" u="sng" dirty="0">
                <a:effectLst/>
                <a:latin typeface="Corbel" panose="020B0503020204020204" pitchFamily="34" charset="0"/>
              </a:rPr>
              <a:t> de </a:t>
            </a:r>
            <a:r>
              <a:rPr lang="en-US" sz="2000" u="sng" dirty="0" err="1">
                <a:effectLst/>
                <a:latin typeface="Corbel" panose="020B0503020204020204" pitchFamily="34" charset="0"/>
              </a:rPr>
              <a:t>producción</a:t>
            </a:r>
            <a:r>
              <a:rPr lang="en-US" sz="2000" u="sng" dirty="0">
                <a:effectLst/>
                <a:latin typeface="Corbel" panose="020B0503020204020204" pitchFamily="34" charset="0"/>
              </a:rPr>
              <a:t> que </a:t>
            </a:r>
            <a:r>
              <a:rPr lang="en-US" sz="2000" u="sng" dirty="0" err="1">
                <a:effectLst/>
                <a:latin typeface="Corbel" panose="020B0503020204020204" pitchFamily="34" charset="0"/>
              </a:rPr>
              <a:t>corresponde</a:t>
            </a:r>
            <a:r>
              <a:rPr lang="en-US" sz="2000" u="sng" dirty="0">
                <a:effectLst/>
                <a:latin typeface="Corbel" panose="020B0503020204020204" pitchFamily="34" charset="0"/>
              </a:rPr>
              <a:t> a la recta </a:t>
            </a:r>
            <a:r>
              <a:rPr lang="en-US" sz="2000" u="sng" dirty="0" err="1">
                <a:effectLst/>
                <a:latin typeface="Corbel" panose="020B0503020204020204" pitchFamily="34" charset="0"/>
              </a:rPr>
              <a:t>isobeneficio</a:t>
            </a:r>
            <a:r>
              <a:rPr lang="en-US" sz="2000" u="sng" dirty="0">
                <a:effectLst/>
                <a:latin typeface="Corbel" panose="020B0503020204020204" pitchFamily="34" charset="0"/>
              </a:rPr>
              <a:t> </a:t>
            </a:r>
            <a:r>
              <a:rPr lang="en-US" sz="2000" u="sng" dirty="0" err="1">
                <a:effectLst/>
                <a:latin typeface="Corbel" panose="020B0503020204020204" pitchFamily="34" charset="0"/>
              </a:rPr>
              <a:t>más</a:t>
            </a:r>
            <a:r>
              <a:rPr lang="en-US" sz="2000" u="sng" dirty="0">
                <a:effectLst/>
                <a:latin typeface="Corbel" panose="020B0503020204020204" pitchFamily="34" charset="0"/>
              </a:rPr>
              <a:t> </a:t>
            </a:r>
            <a:r>
              <a:rPr lang="en-US" sz="2000" u="sng" dirty="0" err="1">
                <a:effectLst/>
                <a:latin typeface="Corbel" panose="020B0503020204020204" pitchFamily="34" charset="0"/>
              </a:rPr>
              <a:t>alta.</a:t>
            </a:r>
            <a:r>
              <a:rPr lang="en-US" sz="2000" u="sng" dirty="0">
                <a:effectLst/>
                <a:latin typeface="Corbel" panose="020B0503020204020204" pitchFamily="34" charset="0"/>
              </a:rPr>
              <a:t> </a:t>
            </a:r>
          </a:p>
          <a:p>
            <a:pPr algn="just"/>
            <a:endParaRPr lang="en-US" sz="1100" dirty="0">
              <a:latin typeface="Corbel" panose="020B0503020204020204" pitchFamily="34" charset="0"/>
            </a:endParaRPr>
          </a:p>
          <a:p>
            <a:pPr algn="just"/>
            <a:r>
              <a:rPr lang="en-US" sz="2000" dirty="0">
                <a:latin typeface="Corbel" panose="020B0503020204020204" pitchFamily="34" charset="0"/>
              </a:rPr>
              <a:t>Se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caracteriza</a:t>
            </a:r>
            <a:r>
              <a:rPr lang="en-US" sz="2000" dirty="0">
                <a:effectLst/>
                <a:latin typeface="Corbel" panose="020B0503020204020204" pitchFamily="34" charset="0"/>
              </a:rPr>
              <a:t> por una </a:t>
            </a:r>
            <a:r>
              <a:rPr lang="en-US" sz="2000" b="1" dirty="0" err="1">
                <a:effectLst/>
                <a:latin typeface="Corbel" panose="020B0503020204020204" pitchFamily="34" charset="0"/>
              </a:rPr>
              <a:t>condición</a:t>
            </a:r>
            <a:r>
              <a:rPr lang="en-US" sz="2000" b="1" dirty="0">
                <a:effectLst/>
                <a:latin typeface="Corbel" panose="020B0503020204020204" pitchFamily="34" charset="0"/>
              </a:rPr>
              <a:t> de </a:t>
            </a:r>
            <a:r>
              <a:rPr lang="en-US" sz="2000" b="1" dirty="0" err="1">
                <a:effectLst/>
                <a:latin typeface="Corbel" panose="020B0503020204020204" pitchFamily="34" charset="0"/>
              </a:rPr>
              <a:t>tangencia</a:t>
            </a:r>
            <a:r>
              <a:rPr lang="en-US" sz="2000" dirty="0">
                <a:effectLst/>
                <a:latin typeface="Corbel" panose="020B0503020204020204" pitchFamily="34" charset="0"/>
              </a:rPr>
              <a:t>: la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pendiente</a:t>
            </a:r>
            <a:r>
              <a:rPr lang="en-US" sz="2000" dirty="0">
                <a:effectLst/>
                <a:latin typeface="Corbel" panose="020B0503020204020204" pitchFamily="34" charset="0"/>
              </a:rPr>
              <a:t> de la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función</a:t>
            </a:r>
            <a:r>
              <a:rPr lang="en-US" sz="2000" dirty="0">
                <a:effectLst/>
                <a:latin typeface="Corbel" panose="020B0503020204020204" pitchFamily="34" charset="0"/>
              </a:rPr>
              <a:t> de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producción</a:t>
            </a:r>
            <a:r>
              <a:rPr lang="en-US" sz="2000" dirty="0">
                <a:effectLst/>
                <a:latin typeface="Corbel" panose="020B0503020204020204" pitchFamily="34" charset="0"/>
              </a:rPr>
              <a:t> debe ser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igual</a:t>
            </a:r>
            <a:r>
              <a:rPr lang="en-US" sz="2000" dirty="0">
                <a:effectLst/>
                <a:latin typeface="Corbel" panose="020B0503020204020204" pitchFamily="34" charset="0"/>
              </a:rPr>
              <a:t> a la de la recta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isobeneficio</a:t>
            </a:r>
            <a:r>
              <a:rPr lang="en-US" sz="2000" dirty="0">
                <a:effectLst/>
                <a:latin typeface="Corbel" panose="020B0503020204020204" pitchFamily="34" charset="0"/>
              </a:rPr>
              <a:t>. Dado que la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pendiente</a:t>
            </a:r>
            <a:r>
              <a:rPr lang="en-US" sz="2000" dirty="0">
                <a:effectLst/>
                <a:latin typeface="Corbel" panose="020B0503020204020204" pitchFamily="34" charset="0"/>
              </a:rPr>
              <a:t> de la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función</a:t>
            </a:r>
            <a:r>
              <a:rPr lang="en-US" sz="2000" dirty="0">
                <a:effectLst/>
                <a:latin typeface="Corbel" panose="020B0503020204020204" pitchFamily="34" charset="0"/>
              </a:rPr>
              <a:t> de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producción</a:t>
            </a:r>
            <a:r>
              <a:rPr lang="en-US" sz="2000" dirty="0">
                <a:effectLst/>
                <a:latin typeface="Corbel" panose="020B0503020204020204" pitchFamily="34" charset="0"/>
              </a:rPr>
              <a:t> es el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producto</a:t>
            </a:r>
            <a:r>
              <a:rPr lang="en-US" sz="2000" dirty="0">
                <a:effectLst/>
                <a:latin typeface="Corbel" panose="020B0503020204020204" pitchFamily="34" charset="0"/>
              </a:rPr>
              <a:t> marginal y la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pendiente</a:t>
            </a:r>
            <a:r>
              <a:rPr lang="en-US" sz="2000" dirty="0">
                <a:effectLst/>
                <a:latin typeface="Corbel" panose="020B0503020204020204" pitchFamily="34" charset="0"/>
              </a:rPr>
              <a:t> de la recta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isobeneficio</a:t>
            </a:r>
            <a:r>
              <a:rPr lang="en-US" sz="2000" dirty="0">
                <a:effectLst/>
                <a:latin typeface="Corbel" panose="020B0503020204020204" pitchFamily="34" charset="0"/>
              </a:rPr>
              <a:t> es </a:t>
            </a:r>
            <a:r>
              <a:rPr lang="en-US" sz="2000" i="1" dirty="0">
                <a:effectLst/>
                <a:latin typeface="Corbel" panose="020B0503020204020204" pitchFamily="34" charset="0"/>
              </a:rPr>
              <a:t>w</a:t>
            </a:r>
            <a:r>
              <a:rPr lang="en-US" sz="2000" dirty="0">
                <a:effectLst/>
                <a:latin typeface="Corbel" panose="020B0503020204020204" pitchFamily="34" charset="0"/>
              </a:rPr>
              <a:t>1/</a:t>
            </a:r>
            <a:r>
              <a:rPr lang="en-US" sz="2000" i="1" dirty="0">
                <a:effectLst/>
                <a:latin typeface="Corbel" panose="020B0503020204020204" pitchFamily="34" charset="0"/>
              </a:rPr>
              <a:t>p</a:t>
            </a:r>
            <a:r>
              <a:rPr lang="en-US" sz="2000" dirty="0">
                <a:effectLst/>
                <a:latin typeface="Corbel" panose="020B0503020204020204" pitchFamily="34" charset="0"/>
              </a:rPr>
              <a:t>,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esta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condición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también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puede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expresarse</a:t>
            </a:r>
            <a:r>
              <a:rPr lang="en-US" sz="2000" dirty="0">
                <a:effectLst/>
                <a:latin typeface="Corbel" panose="020B0503020204020204" pitchFamily="34" charset="0"/>
              </a:rPr>
              <a:t> de la forma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siguiente</a:t>
            </a:r>
            <a:r>
              <a:rPr lang="en-US" sz="2000" dirty="0">
                <a:effectLst/>
                <a:latin typeface="Corbel" panose="020B0503020204020204" pitchFamily="34" charset="0"/>
              </a:rPr>
              <a:t>: </a:t>
            </a:r>
            <a:endParaRPr lang="en-US" sz="2000" dirty="0">
              <a:latin typeface="Corbel" panose="020B0503020204020204" pitchFamily="34" charset="0"/>
            </a:endParaRPr>
          </a:p>
          <a:p>
            <a:pPr algn="just"/>
            <a:endParaRPr lang="en-US" sz="1600" dirty="0">
              <a:effectLst/>
              <a:latin typeface="Corbel" panose="020B0503020204020204" pitchFamily="34" charset="0"/>
            </a:endParaRPr>
          </a:p>
          <a:p>
            <a:pPr algn="just"/>
            <a:endParaRPr lang="en-US" sz="1600" dirty="0">
              <a:effectLst/>
              <a:latin typeface="Corbel" panose="020B0503020204020204" pitchFamily="34" charset="0"/>
            </a:endParaRPr>
          </a:p>
          <a:p>
            <a:pPr algn="just"/>
            <a:r>
              <a:rPr lang="en-US" sz="2000" dirty="0">
                <a:effectLst/>
                <a:latin typeface="Corbel" panose="020B0503020204020204" pitchFamily="34" charset="0"/>
              </a:rPr>
              <a:t>La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empresa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elige</a:t>
            </a:r>
            <a:r>
              <a:rPr lang="en-US" sz="2000" dirty="0">
                <a:effectLst/>
                <a:latin typeface="Corbel" panose="020B0503020204020204" pitchFamily="34" charset="0"/>
              </a:rPr>
              <a:t> la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combinación</a:t>
            </a:r>
            <a:r>
              <a:rPr lang="en-US" sz="2000" dirty="0">
                <a:effectLst/>
                <a:latin typeface="Corbel" panose="020B0503020204020204" pitchFamily="34" charset="0"/>
              </a:rPr>
              <a:t> de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factores</a:t>
            </a:r>
            <a:r>
              <a:rPr lang="en-US" sz="2000" dirty="0">
                <a:effectLst/>
                <a:latin typeface="Corbel" panose="020B0503020204020204" pitchFamily="34" charset="0"/>
              </a:rPr>
              <a:t> y de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productos</a:t>
            </a:r>
            <a:r>
              <a:rPr lang="en-US" sz="2000" dirty="0">
                <a:effectLst/>
                <a:latin typeface="Corbel" panose="020B0503020204020204" pitchFamily="34" charset="0"/>
              </a:rPr>
              <a:t> que se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encuentra</a:t>
            </a:r>
            <a:r>
              <a:rPr lang="en-US" sz="2000" dirty="0">
                <a:effectLst/>
                <a:latin typeface="Corbel" panose="020B0503020204020204" pitchFamily="34" charset="0"/>
              </a:rPr>
              <a:t>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en</a:t>
            </a:r>
            <a:r>
              <a:rPr lang="en-US" sz="2000" dirty="0">
                <a:effectLst/>
                <a:latin typeface="Corbel" panose="020B0503020204020204" pitchFamily="34" charset="0"/>
              </a:rPr>
              <a:t> el punto de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maximización</a:t>
            </a:r>
            <a:r>
              <a:rPr lang="en-US" sz="2000" dirty="0">
                <a:effectLst/>
                <a:latin typeface="Corbel" panose="020B0503020204020204" pitchFamily="34" charset="0"/>
              </a:rPr>
              <a:t> del </a:t>
            </a:r>
            <a:r>
              <a:rPr lang="en-US" sz="2000" dirty="0" err="1">
                <a:effectLst/>
                <a:latin typeface="Corbel" panose="020B0503020204020204" pitchFamily="34" charset="0"/>
              </a:rPr>
              <a:t>beneficio</a:t>
            </a:r>
            <a:r>
              <a:rPr lang="en-US" sz="2000" dirty="0">
                <a:effectLst/>
                <a:latin typeface="Corbel" panose="020B0503020204020204" pitchFamily="34" charset="0"/>
              </a:rPr>
              <a:t> es (</a:t>
            </a:r>
            <a:r>
              <a:rPr lang="en-US" sz="2000" i="1" dirty="0">
                <a:effectLst/>
                <a:latin typeface="Corbel" panose="020B0503020204020204" pitchFamily="34" charset="0"/>
              </a:rPr>
              <a:t>x</a:t>
            </a:r>
            <a:r>
              <a:rPr lang="en-US" sz="1400" i="1" dirty="0">
                <a:effectLst/>
                <a:latin typeface="Corbel" panose="020B0503020204020204" pitchFamily="34" charset="0"/>
              </a:rPr>
              <a:t>1</a:t>
            </a:r>
            <a:r>
              <a:rPr lang="en-US" sz="2000" dirty="0">
                <a:effectLst/>
                <a:latin typeface="Corbel" panose="020B0503020204020204" pitchFamily="34" charset="0"/>
              </a:rPr>
              <a:t>*, </a:t>
            </a:r>
            <a:r>
              <a:rPr lang="en-US" sz="2000" i="1" dirty="0">
                <a:effectLst/>
                <a:latin typeface="Corbel" panose="020B0503020204020204" pitchFamily="34" charset="0"/>
              </a:rPr>
              <a:t>y</a:t>
            </a:r>
            <a:r>
              <a:rPr lang="en-US" sz="2000" dirty="0">
                <a:effectLst/>
                <a:latin typeface="Corbel" panose="020B0503020204020204" pitchFamily="34" charset="0"/>
              </a:rPr>
              <a:t>*). </a:t>
            </a:r>
            <a:endParaRPr lang="en-US" sz="3200" dirty="0">
              <a:solidFill>
                <a:prstClr val="black"/>
              </a:solidFill>
              <a:latin typeface="Corbel" panose="020B0503020204020204"/>
            </a:endParaRPr>
          </a:p>
        </p:txBody>
      </p:sp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C4F65F2A-D3F6-0144-BFC9-E3DA0927E54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3"/>
          <a:stretch/>
        </p:blipFill>
        <p:spPr>
          <a:xfrm>
            <a:off x="6690695" y="1483867"/>
            <a:ext cx="5164893" cy="44878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B2E6F5-0CCE-3B4D-8059-E5B068BC9F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858" y="4438374"/>
            <a:ext cx="1320800" cy="7239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7B1168-7D99-6445-970C-253E0D61EBA1}"/>
              </a:ext>
            </a:extLst>
          </p:cNvPr>
          <p:cNvCxnSpPr>
            <a:cxnSpLocks/>
          </p:cNvCxnSpPr>
          <p:nvPr/>
        </p:nvCxnSpPr>
        <p:spPr>
          <a:xfrm flipH="1" flipV="1">
            <a:off x="9057592" y="3926691"/>
            <a:ext cx="337959" cy="30847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856541-FDB9-F349-B537-14B4CC325188}"/>
              </a:ext>
            </a:extLst>
          </p:cNvPr>
          <p:cNvSpPr txBox="1"/>
          <p:nvPr/>
        </p:nvSpPr>
        <p:spPr>
          <a:xfrm>
            <a:off x="9036686" y="4277104"/>
            <a:ext cx="1549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O" sz="1400" dirty="0"/>
              <a:t>NO está maximizando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A7F99F1-FC47-F448-913F-3604351287A3}"/>
              </a:ext>
            </a:extLst>
          </p:cNvPr>
          <p:cNvCxnSpPr>
            <a:cxnSpLocks/>
          </p:cNvCxnSpPr>
          <p:nvPr/>
        </p:nvCxnSpPr>
        <p:spPr>
          <a:xfrm>
            <a:off x="8505877" y="2711306"/>
            <a:ext cx="205005" cy="3912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C452F85-B462-F24D-85B0-932215BD2EFD}"/>
              </a:ext>
            </a:extLst>
          </p:cNvPr>
          <p:cNvSpPr txBox="1"/>
          <p:nvPr/>
        </p:nvSpPr>
        <p:spPr>
          <a:xfrm>
            <a:off x="7792043" y="2343814"/>
            <a:ext cx="1549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O" sz="1400" dirty="0"/>
              <a:t>Es inalcanzable</a:t>
            </a:r>
          </a:p>
        </p:txBody>
      </p:sp>
    </p:spTree>
    <p:extLst>
      <p:ext uri="{BB962C8B-B14F-4D97-AF65-F5344CB8AC3E}">
        <p14:creationId xmlns:p14="http://schemas.microsoft.com/office/powerpoint/2010/main" val="26051266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maximización</a:t>
            </a:r>
            <a:r>
              <a:rPr lang="en-US" b="1" dirty="0">
                <a:solidFill>
                  <a:srgbClr val="1F497D"/>
                </a:solidFill>
              </a:rPr>
              <a:t> del </a:t>
            </a:r>
            <a:r>
              <a:rPr lang="en-US" b="1" dirty="0" err="1">
                <a:solidFill>
                  <a:srgbClr val="1F497D"/>
                </a:solidFill>
              </a:rPr>
              <a:t>beneficio</a:t>
            </a:r>
            <a:r>
              <a:rPr lang="en-US" b="1" dirty="0">
                <a:solidFill>
                  <a:srgbClr val="1F497D"/>
                </a:solidFill>
              </a:rPr>
              <a:t> a </a:t>
            </a:r>
            <a:r>
              <a:rPr lang="en-US" b="1" dirty="0" err="1">
                <a:solidFill>
                  <a:srgbClr val="1F497D"/>
                </a:solidFill>
              </a:rPr>
              <a:t>corto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  <a:r>
              <a:rPr lang="en-US" b="1" dirty="0" err="1">
                <a:solidFill>
                  <a:srgbClr val="1F497D"/>
                </a:solidFill>
              </a:rPr>
              <a:t>plazo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¿</a:t>
            </a:r>
            <a:r>
              <a:rPr lang="en-US" sz="2400" b="1" dirty="0" err="1">
                <a:latin typeface="Corbel" panose="020B0503020204020204" pitchFamily="34" charset="0"/>
              </a:rPr>
              <a:t>Cómo</a:t>
            </a:r>
            <a:r>
              <a:rPr lang="en-US" sz="2400" b="1" dirty="0">
                <a:latin typeface="Corbel" panose="020B0503020204020204" pitchFamily="34" charset="0"/>
              </a:rPr>
              <a:t> </a:t>
            </a:r>
            <a:r>
              <a:rPr lang="en-US" sz="2400" b="1" dirty="0" err="1">
                <a:latin typeface="Corbel" panose="020B0503020204020204" pitchFamily="34" charset="0"/>
              </a:rPr>
              <a:t>varía</a:t>
            </a:r>
            <a:r>
              <a:rPr lang="en-US" sz="2400" b="1" dirty="0">
                <a:latin typeface="Corbel" panose="020B0503020204020204" pitchFamily="34" charset="0"/>
              </a:rPr>
              <a:t> la </a:t>
            </a:r>
            <a:r>
              <a:rPr lang="en-US" sz="2400" b="1" dirty="0" err="1">
                <a:latin typeface="Corbel" panose="020B0503020204020204" pitchFamily="34" charset="0"/>
              </a:rPr>
              <a:t>elección</a:t>
            </a:r>
            <a:r>
              <a:rPr lang="en-US" sz="2400" b="1" dirty="0">
                <a:latin typeface="Corbel" panose="020B0503020204020204" pitchFamily="34" charset="0"/>
              </a:rPr>
              <a:t> </a:t>
            </a:r>
            <a:r>
              <a:rPr lang="en-US" sz="2400" b="1" dirty="0" err="1">
                <a:latin typeface="Corbel" panose="020B0503020204020204" pitchFamily="34" charset="0"/>
              </a:rPr>
              <a:t>óptima</a:t>
            </a:r>
            <a:r>
              <a:rPr lang="en-US" sz="2400" b="1" dirty="0">
                <a:latin typeface="Corbel" panose="020B0503020204020204" pitchFamily="34" charset="0"/>
              </a:rPr>
              <a:t> del factor 1 </a:t>
            </a:r>
            <a:r>
              <a:rPr lang="en-US" sz="2400" b="1" dirty="0" err="1">
                <a:latin typeface="Corbel" panose="020B0503020204020204" pitchFamily="34" charset="0"/>
              </a:rPr>
              <a:t>cuando</a:t>
            </a:r>
            <a:r>
              <a:rPr lang="en-US" sz="2400" b="1" dirty="0">
                <a:latin typeface="Corbel" panose="020B0503020204020204" pitchFamily="34" charset="0"/>
              </a:rPr>
              <a:t> </a:t>
            </a:r>
            <a:r>
              <a:rPr lang="en-US" sz="2400" b="1" dirty="0" err="1">
                <a:latin typeface="Corbel" panose="020B0503020204020204" pitchFamily="34" charset="0"/>
              </a:rPr>
              <a:t>alteramos</a:t>
            </a:r>
            <a:r>
              <a:rPr lang="en-US" sz="2400" b="1" dirty="0">
                <a:latin typeface="Corbel" panose="020B0503020204020204" pitchFamily="34" charset="0"/>
              </a:rPr>
              <a:t> </a:t>
            </a:r>
            <a:r>
              <a:rPr lang="en-US" sz="2400" b="1" dirty="0" err="1">
                <a:latin typeface="Corbel" panose="020B0503020204020204" pitchFamily="34" charset="0"/>
              </a:rPr>
              <a:t>su</a:t>
            </a:r>
            <a:r>
              <a:rPr lang="en-US" sz="2400" b="1" dirty="0">
                <a:latin typeface="Corbel" panose="020B0503020204020204" pitchFamily="34" charset="0"/>
              </a:rPr>
              <a:t> </a:t>
            </a:r>
            <a:r>
              <a:rPr lang="en-US" sz="2400" b="1" dirty="0" err="1">
                <a:latin typeface="Corbel" panose="020B0503020204020204" pitchFamily="34" charset="0"/>
              </a:rPr>
              <a:t>precio</a:t>
            </a:r>
            <a:r>
              <a:rPr lang="en-US" sz="2400" b="1" dirty="0">
                <a:latin typeface="Corbel" panose="020B0503020204020204" pitchFamily="34" charset="0"/>
              </a:rPr>
              <a:t> w1?</a:t>
            </a:r>
          </a:p>
          <a:p>
            <a:endParaRPr lang="en-US" sz="2400" dirty="0">
              <a:latin typeface="Corbel" panose="020B0503020204020204" pitchFamily="34" charset="0"/>
            </a:endParaRPr>
          </a:p>
          <a:p>
            <a:endParaRPr lang="en-US" sz="2400" dirty="0">
              <a:latin typeface="Corbel" panose="020B0503020204020204" pitchFamily="34" charset="0"/>
            </a:endParaRPr>
          </a:p>
          <a:p>
            <a:endParaRPr lang="en-US" sz="2400" dirty="0">
              <a:latin typeface="Corbel" panose="020B0503020204020204" pitchFamily="34" charset="0"/>
            </a:endParaRPr>
          </a:p>
          <a:p>
            <a:r>
              <a:rPr lang="en-US" sz="2400" dirty="0">
                <a:latin typeface="Corbel" panose="020B0503020204020204" pitchFamily="34" charset="0"/>
              </a:rPr>
              <a:t>Si </a:t>
            </a:r>
            <a:r>
              <a:rPr lang="en-US" sz="2400" dirty="0" err="1">
                <a:latin typeface="Corbel" panose="020B0503020204020204" pitchFamily="34" charset="0"/>
              </a:rPr>
              <a:t>aumentamos</a:t>
            </a:r>
            <a:r>
              <a:rPr lang="en-US" sz="2400" dirty="0">
                <a:latin typeface="Corbel" panose="020B0503020204020204" pitchFamily="34" charset="0"/>
              </a:rPr>
              <a:t> w1, </a:t>
            </a:r>
            <a:r>
              <a:rPr lang="en-US" sz="2400" dirty="0" err="1">
                <a:latin typeface="Corbel" panose="020B0503020204020204" pitchFamily="34" charset="0"/>
              </a:rPr>
              <a:t>ésta</a:t>
            </a:r>
            <a:r>
              <a:rPr lang="en-US" sz="2400" dirty="0">
                <a:latin typeface="Corbel" panose="020B0503020204020204" pitchFamily="34" charset="0"/>
              </a:rPr>
              <a:t> es </a:t>
            </a:r>
            <a:r>
              <a:rPr lang="en-US" sz="2400" dirty="0" err="1">
                <a:latin typeface="Corbel" panose="020B0503020204020204" pitchFamily="34" charset="0"/>
              </a:rPr>
              <a:t>más</a:t>
            </a:r>
            <a:r>
              <a:rPr lang="en-US" sz="2400" dirty="0">
                <a:latin typeface="Corbel" panose="020B0503020204020204" pitchFamily="34" charset="0"/>
              </a:rPr>
              <a:t> </a:t>
            </a:r>
            <a:r>
              <a:rPr lang="en-US" sz="2400" dirty="0" err="1">
                <a:latin typeface="Corbel" panose="020B0503020204020204" pitchFamily="34" charset="0"/>
              </a:rPr>
              <a:t>inclinada</a:t>
            </a:r>
            <a:r>
              <a:rPr lang="en-US" sz="2400" dirty="0">
                <a:latin typeface="Corbel" panose="020B0503020204020204" pitchFamily="34" charset="0"/>
              </a:rPr>
              <a:t>, </a:t>
            </a:r>
            <a:r>
              <a:rPr lang="en-US" sz="2400" dirty="0" err="1">
                <a:latin typeface="Corbel" panose="020B0503020204020204" pitchFamily="34" charset="0"/>
              </a:rPr>
              <a:t>como</a:t>
            </a:r>
            <a:r>
              <a:rPr lang="en-US" sz="2400" dirty="0">
                <a:latin typeface="Corbel" panose="020B0503020204020204" pitchFamily="34" charset="0"/>
              </a:rPr>
              <a:t> </a:t>
            </a:r>
            <a:r>
              <a:rPr lang="en-US" sz="2400" dirty="0" err="1">
                <a:latin typeface="Corbel" panose="020B0503020204020204" pitchFamily="34" charset="0"/>
              </a:rPr>
              <a:t>muestra</a:t>
            </a:r>
            <a:r>
              <a:rPr lang="en-US" sz="2400" dirty="0">
                <a:latin typeface="Corbel" panose="020B0503020204020204" pitchFamily="34" charset="0"/>
              </a:rPr>
              <a:t> el </a:t>
            </a:r>
            <a:r>
              <a:rPr lang="en-US" sz="2400" dirty="0" err="1">
                <a:latin typeface="Corbel" panose="020B0503020204020204" pitchFamily="34" charset="0"/>
              </a:rPr>
              <a:t>siguiente</a:t>
            </a:r>
            <a:r>
              <a:rPr lang="en-US" sz="2400" dirty="0">
                <a:latin typeface="Corbel" panose="020B0503020204020204" pitchFamily="34" charset="0"/>
              </a:rPr>
              <a:t> </a:t>
            </a:r>
            <a:r>
              <a:rPr lang="en-US" sz="2400" dirty="0" err="1">
                <a:latin typeface="Corbel" panose="020B0503020204020204" pitchFamily="34" charset="0"/>
              </a:rPr>
              <a:t>gráfico</a:t>
            </a:r>
            <a:r>
              <a:rPr lang="en-US" sz="2400" dirty="0">
                <a:latin typeface="Corbel" panose="020B0503020204020204" pitchFamily="34" charset="0"/>
              </a:rPr>
              <a:t>:</a:t>
            </a:r>
          </a:p>
          <a:p>
            <a:endParaRPr lang="en-US" sz="2400" dirty="0">
              <a:latin typeface="Corbel" panose="020B0503020204020204" pitchFamily="34" charset="0"/>
            </a:endParaRPr>
          </a:p>
          <a:p>
            <a:endParaRPr lang="en-US" sz="2400" dirty="0">
              <a:latin typeface="Corbel" panose="020B0503020204020204" pitchFamily="34" charset="0"/>
            </a:endParaRPr>
          </a:p>
          <a:p>
            <a:r>
              <a:rPr lang="en-US" sz="2400" dirty="0">
                <a:latin typeface="Corbel" panose="020B0503020204020204" pitchFamily="34" charset="0"/>
              </a:rPr>
              <a:t> </a:t>
            </a: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04BFB4-3EBD-A14C-BA78-18D39FF3C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41" y="1797823"/>
            <a:ext cx="1515091" cy="838135"/>
          </a:xfrm>
          <a:prstGeom prst="rect">
            <a:avLst/>
          </a:prstGeom>
        </p:spPr>
      </p:pic>
      <p:pic>
        <p:nvPicPr>
          <p:cNvPr id="9" name="Picture 8" descr="A graph of a function&#10;&#10;Description automatically generated">
            <a:extLst>
              <a:ext uri="{FF2B5EF4-FFF2-40B4-BE49-F238E27FC236}">
                <a16:creationId xmlns:a16="http://schemas.microsoft.com/office/drawing/2014/main" id="{88174E2D-0512-0D4A-86D7-334846B52E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991" y="3468204"/>
            <a:ext cx="3008745" cy="270151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7077A7-5737-E646-AAB6-6711316605E8}"/>
              </a:ext>
            </a:extLst>
          </p:cNvPr>
          <p:cNvCxnSpPr>
            <a:cxnSpLocks/>
          </p:cNvCxnSpPr>
          <p:nvPr/>
        </p:nvCxnSpPr>
        <p:spPr>
          <a:xfrm>
            <a:off x="5682533" y="4470690"/>
            <a:ext cx="74579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AE06AE-77EE-9846-9339-E88EB5FD5ACD}"/>
              </a:ext>
            </a:extLst>
          </p:cNvPr>
          <p:cNvSpPr txBox="1"/>
          <p:nvPr/>
        </p:nvSpPr>
        <p:spPr>
          <a:xfrm>
            <a:off x="6641228" y="3967050"/>
            <a:ext cx="5107498" cy="1200329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Palatino" pitchFamily="2" charset="77"/>
              </a:rPr>
              <a:t>Vemos</a:t>
            </a:r>
            <a:r>
              <a:rPr lang="en-US" dirty="0">
                <a:latin typeface="Palatino" pitchFamily="2" charset="77"/>
              </a:rPr>
              <a:t> que al </a:t>
            </a:r>
            <a:r>
              <a:rPr lang="en-US" dirty="0" err="1">
                <a:latin typeface="Palatino" pitchFamily="2" charset="77"/>
              </a:rPr>
              <a:t>aumentar</a:t>
            </a:r>
            <a:r>
              <a:rPr lang="en-US" dirty="0">
                <a:latin typeface="Palatino" pitchFamily="2" charset="77"/>
              </a:rPr>
              <a:t> w</a:t>
            </a:r>
            <a:r>
              <a:rPr lang="en-US" sz="1200" dirty="0">
                <a:latin typeface="Palatino" pitchFamily="2" charset="77"/>
              </a:rPr>
              <a:t>1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disminuye</a:t>
            </a:r>
            <a:r>
              <a:rPr lang="en-US" dirty="0">
                <a:latin typeface="Palatino" pitchFamily="2" charset="77"/>
              </a:rPr>
              <a:t> el </a:t>
            </a:r>
            <a:r>
              <a:rPr lang="en-US" dirty="0" err="1">
                <a:latin typeface="Palatino" pitchFamily="2" charset="77"/>
              </a:rPr>
              <a:t>nivel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óptimo</a:t>
            </a:r>
            <a:r>
              <a:rPr lang="en-US" dirty="0">
                <a:latin typeface="Palatino" pitchFamily="2" charset="77"/>
              </a:rPr>
              <a:t> del factor 1, lo que </a:t>
            </a:r>
            <a:r>
              <a:rPr lang="en-US" dirty="0" err="1">
                <a:latin typeface="Palatino" pitchFamily="2" charset="77"/>
              </a:rPr>
              <a:t>significa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simplemente</a:t>
            </a:r>
            <a:r>
              <a:rPr lang="en-US" dirty="0">
                <a:latin typeface="Palatino" pitchFamily="2" charset="77"/>
              </a:rPr>
              <a:t> que </a:t>
            </a:r>
            <a:r>
              <a:rPr lang="en-US" dirty="0" err="1">
                <a:latin typeface="Palatino" pitchFamily="2" charset="77"/>
              </a:rPr>
              <a:t>cuando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aumenta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su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precio</a:t>
            </a:r>
            <a:r>
              <a:rPr lang="en-US" dirty="0">
                <a:latin typeface="Palatino" pitchFamily="2" charset="77"/>
              </a:rPr>
              <a:t>, debe </a:t>
            </a:r>
            <a:r>
              <a:rPr lang="en-US" dirty="0" err="1">
                <a:latin typeface="Palatino" pitchFamily="2" charset="77"/>
              </a:rPr>
              <a:t>disminuir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su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demanda</a:t>
            </a:r>
            <a:r>
              <a:rPr lang="en-US" dirty="0">
                <a:latin typeface="Palatino" pitchFamily="2" charset="7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4709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maximización</a:t>
            </a:r>
            <a:r>
              <a:rPr lang="en-US" b="1" dirty="0">
                <a:solidFill>
                  <a:srgbClr val="1F497D"/>
                </a:solidFill>
              </a:rPr>
              <a:t> del </a:t>
            </a:r>
            <a:r>
              <a:rPr lang="en-US" b="1" dirty="0" err="1">
                <a:solidFill>
                  <a:srgbClr val="1F497D"/>
                </a:solidFill>
              </a:rPr>
              <a:t>beneficio</a:t>
            </a:r>
            <a:r>
              <a:rPr lang="en-US" b="1" dirty="0">
                <a:solidFill>
                  <a:srgbClr val="1F497D"/>
                </a:solidFill>
              </a:rPr>
              <a:t> a </a:t>
            </a:r>
            <a:r>
              <a:rPr lang="en-US" b="1" dirty="0" err="1">
                <a:solidFill>
                  <a:srgbClr val="1F497D"/>
                </a:solidFill>
              </a:rPr>
              <a:t>corto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  <a:r>
              <a:rPr lang="en-US" b="1" dirty="0" err="1">
                <a:solidFill>
                  <a:srgbClr val="1F497D"/>
                </a:solidFill>
              </a:rPr>
              <a:t>plazo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¿</a:t>
            </a:r>
            <a:r>
              <a:rPr lang="en-US" sz="2400" b="1" dirty="0" err="1">
                <a:latin typeface="Corbel" panose="020B0503020204020204" pitchFamily="34" charset="0"/>
              </a:rPr>
              <a:t>Cómo</a:t>
            </a:r>
            <a:r>
              <a:rPr lang="en-US" sz="2400" b="1" dirty="0">
                <a:latin typeface="Corbel" panose="020B0503020204020204" pitchFamily="34" charset="0"/>
              </a:rPr>
              <a:t> </a:t>
            </a:r>
            <a:r>
              <a:rPr lang="en-US" sz="2400" b="1" dirty="0" err="1">
                <a:latin typeface="Corbel" panose="020B0503020204020204" pitchFamily="34" charset="0"/>
              </a:rPr>
              <a:t>varía</a:t>
            </a:r>
            <a:r>
              <a:rPr lang="en-US" sz="2400" b="1" dirty="0">
                <a:latin typeface="Corbel" panose="020B0503020204020204" pitchFamily="34" charset="0"/>
              </a:rPr>
              <a:t> la </a:t>
            </a:r>
            <a:r>
              <a:rPr lang="en-US" sz="2400" b="1" dirty="0" err="1">
                <a:latin typeface="Corbel" panose="020B0503020204020204" pitchFamily="34" charset="0"/>
              </a:rPr>
              <a:t>elección</a:t>
            </a:r>
            <a:r>
              <a:rPr lang="en-US" sz="2400" b="1" dirty="0">
                <a:latin typeface="Corbel" panose="020B0503020204020204" pitchFamily="34" charset="0"/>
              </a:rPr>
              <a:t> </a:t>
            </a:r>
            <a:r>
              <a:rPr lang="en-US" sz="2400" b="1" dirty="0" err="1">
                <a:latin typeface="Corbel" panose="020B0503020204020204" pitchFamily="34" charset="0"/>
              </a:rPr>
              <a:t>óptima</a:t>
            </a:r>
            <a:r>
              <a:rPr lang="en-US" sz="2400" b="1" dirty="0">
                <a:latin typeface="Corbel" panose="020B0503020204020204" pitchFamily="34" charset="0"/>
              </a:rPr>
              <a:t> del factor 1 </a:t>
            </a:r>
            <a:r>
              <a:rPr lang="en-US" sz="2400" b="1" dirty="0" err="1">
                <a:effectLst/>
                <a:latin typeface="Palatino" pitchFamily="2" charset="77"/>
              </a:rPr>
              <a:t>si</a:t>
            </a:r>
            <a:r>
              <a:rPr lang="en-US" sz="2400" b="1" dirty="0">
                <a:effectLst/>
                <a:latin typeface="Palatino" pitchFamily="2" charset="77"/>
              </a:rPr>
              <a:t> </a:t>
            </a:r>
            <a:r>
              <a:rPr lang="en-US" sz="2400" b="1" dirty="0" err="1">
                <a:effectLst/>
                <a:latin typeface="Palatino" pitchFamily="2" charset="77"/>
              </a:rPr>
              <a:t>disminuye</a:t>
            </a:r>
            <a:r>
              <a:rPr lang="en-US" sz="2400" b="1" dirty="0">
                <a:effectLst/>
                <a:latin typeface="Palatino" pitchFamily="2" charset="77"/>
              </a:rPr>
              <a:t> el </a:t>
            </a:r>
            <a:r>
              <a:rPr lang="en-US" sz="2400" b="1" dirty="0" err="1">
                <a:effectLst/>
                <a:latin typeface="Palatino" pitchFamily="2" charset="77"/>
              </a:rPr>
              <a:t>precio</a:t>
            </a:r>
            <a:r>
              <a:rPr lang="en-US" sz="2400" b="1" dirty="0">
                <a:effectLst/>
                <a:latin typeface="Palatino" pitchFamily="2" charset="77"/>
              </a:rPr>
              <a:t> del product</a:t>
            </a:r>
            <a:r>
              <a:rPr lang="en-US" sz="2400" b="1" dirty="0">
                <a:latin typeface="Palatino" pitchFamily="2" charset="77"/>
              </a:rPr>
              <a:t> p?</a:t>
            </a:r>
          </a:p>
          <a:p>
            <a:endParaRPr lang="en-US" sz="2400" dirty="0">
              <a:latin typeface="Corbel" panose="020B0503020204020204" pitchFamily="34" charset="0"/>
            </a:endParaRPr>
          </a:p>
          <a:p>
            <a:endParaRPr lang="en-US" sz="2400" dirty="0">
              <a:latin typeface="Corbel" panose="020B0503020204020204" pitchFamily="34" charset="0"/>
            </a:endParaRPr>
          </a:p>
          <a:p>
            <a:endParaRPr lang="en-US" sz="1400" dirty="0">
              <a:latin typeface="Corbel" panose="020B0503020204020204" pitchFamily="34" charset="0"/>
            </a:endParaRPr>
          </a:p>
          <a:p>
            <a:pPr algn="just"/>
            <a:r>
              <a:rPr lang="en-US" sz="2400" dirty="0">
                <a:latin typeface="Corbel" panose="020B0503020204020204" pitchFamily="34" charset="0"/>
              </a:rPr>
              <a:t>La recta </a:t>
            </a:r>
            <a:r>
              <a:rPr lang="en-US" sz="2400" dirty="0" err="1">
                <a:latin typeface="Corbel" panose="020B0503020204020204" pitchFamily="34" charset="0"/>
              </a:rPr>
              <a:t>isobeneficio</a:t>
            </a:r>
            <a:r>
              <a:rPr lang="en-US" sz="2400" dirty="0">
                <a:latin typeface="Corbel" panose="020B0503020204020204" pitchFamily="34" charset="0"/>
              </a:rPr>
              <a:t> debe ser </a:t>
            </a:r>
            <a:r>
              <a:rPr lang="en-US" sz="2400" dirty="0" err="1">
                <a:latin typeface="Corbel" panose="020B0503020204020204" pitchFamily="34" charset="0"/>
              </a:rPr>
              <a:t>más</a:t>
            </a:r>
            <a:r>
              <a:rPr lang="en-US" sz="2400" dirty="0">
                <a:latin typeface="Corbel" panose="020B0503020204020204" pitchFamily="34" charset="0"/>
              </a:rPr>
              <a:t> </a:t>
            </a:r>
            <a:r>
              <a:rPr lang="en-US" sz="2400" dirty="0" err="1">
                <a:latin typeface="Corbel" panose="020B0503020204020204" pitchFamily="34" charset="0"/>
              </a:rPr>
              <a:t>inclinada</a:t>
            </a:r>
            <a:r>
              <a:rPr lang="en-US" sz="2400" dirty="0">
                <a:latin typeface="Corbel" panose="020B0503020204020204" pitchFamily="34" charset="0"/>
              </a:rPr>
              <a:t>, </a:t>
            </a:r>
            <a:r>
              <a:rPr lang="en-US" sz="2400" dirty="0" err="1">
                <a:latin typeface="Corbel" panose="020B0503020204020204" pitchFamily="34" charset="0"/>
              </a:rPr>
              <a:t>porque</a:t>
            </a:r>
            <a:r>
              <a:rPr lang="en-US" sz="2400" dirty="0">
                <a:latin typeface="Corbel" panose="020B0503020204020204" pitchFamily="34" charset="0"/>
              </a:rPr>
              <a:t> </a:t>
            </a:r>
            <a:r>
              <a:rPr lang="en-US" sz="2400" dirty="0" err="1">
                <a:latin typeface="Corbel" panose="020B0503020204020204" pitchFamily="34" charset="0"/>
              </a:rPr>
              <a:t>disminuye</a:t>
            </a:r>
            <a:r>
              <a:rPr lang="en-US" sz="2400" dirty="0">
                <a:latin typeface="Corbel" panose="020B0503020204020204" pitchFamily="34" charset="0"/>
              </a:rPr>
              <a:t> la </a:t>
            </a:r>
            <a:r>
              <a:rPr lang="en-US" sz="2400" dirty="0" err="1">
                <a:latin typeface="Corbel" panose="020B0503020204020204" pitchFamily="34" charset="0"/>
              </a:rPr>
              <a:t>elección</a:t>
            </a:r>
            <a:r>
              <a:rPr lang="en-US" sz="2400" dirty="0">
                <a:latin typeface="Corbel" panose="020B0503020204020204" pitchFamily="34" charset="0"/>
              </a:rPr>
              <a:t> del factor 1 que </a:t>
            </a:r>
            <a:r>
              <a:rPr lang="en-US" sz="2400" dirty="0" err="1">
                <a:latin typeface="Corbel" panose="020B0503020204020204" pitchFamily="34" charset="0"/>
              </a:rPr>
              <a:t>maximiza</a:t>
            </a:r>
            <a:r>
              <a:rPr lang="en-US" sz="2400" dirty="0">
                <a:latin typeface="Corbel" panose="020B0503020204020204" pitchFamily="34" charset="0"/>
              </a:rPr>
              <a:t> el </a:t>
            </a:r>
            <a:r>
              <a:rPr lang="en-US" sz="2400" dirty="0" err="1">
                <a:latin typeface="Corbel" panose="020B0503020204020204" pitchFamily="34" charset="0"/>
              </a:rPr>
              <a:t>beneficio</a:t>
            </a:r>
            <a:r>
              <a:rPr lang="en-US" sz="2400" dirty="0">
                <a:latin typeface="Corbel" panose="020B0503020204020204" pitchFamily="34" charset="0"/>
              </a:rPr>
              <a:t>. </a:t>
            </a:r>
          </a:p>
          <a:p>
            <a:endParaRPr lang="en-US" sz="2400" dirty="0">
              <a:latin typeface="Corbel" panose="020B0503020204020204" pitchFamily="34" charset="0"/>
            </a:endParaRPr>
          </a:p>
          <a:p>
            <a:endParaRPr lang="en-US" sz="2400" dirty="0">
              <a:latin typeface="Corbel" panose="020B0503020204020204" pitchFamily="34" charset="0"/>
            </a:endParaRPr>
          </a:p>
          <a:p>
            <a:r>
              <a:rPr lang="en-US" sz="2400" dirty="0">
                <a:latin typeface="Corbel" panose="020B0503020204020204" pitchFamily="34" charset="0"/>
              </a:rPr>
              <a:t> </a:t>
            </a: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7077A7-5737-E646-AAB6-6711316605E8}"/>
              </a:ext>
            </a:extLst>
          </p:cNvPr>
          <p:cNvCxnSpPr>
            <a:cxnSpLocks/>
          </p:cNvCxnSpPr>
          <p:nvPr/>
        </p:nvCxnSpPr>
        <p:spPr>
          <a:xfrm>
            <a:off x="5102248" y="4655265"/>
            <a:ext cx="745790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6AE06AE-77EE-9846-9339-E88EB5FD5ACD}"/>
              </a:ext>
            </a:extLst>
          </p:cNvPr>
          <p:cNvSpPr txBox="1"/>
          <p:nvPr/>
        </p:nvSpPr>
        <p:spPr>
          <a:xfrm>
            <a:off x="6069212" y="4321292"/>
            <a:ext cx="5107498" cy="92333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Palatino" pitchFamily="2" charset="77"/>
              </a:rPr>
              <a:t>Cuando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sube</a:t>
            </a:r>
            <a:r>
              <a:rPr lang="en-US" dirty="0">
                <a:latin typeface="Palatino" pitchFamily="2" charset="77"/>
              </a:rPr>
              <a:t> el </a:t>
            </a:r>
            <a:r>
              <a:rPr lang="en-US" dirty="0" err="1">
                <a:latin typeface="Palatino" pitchFamily="2" charset="77"/>
              </a:rPr>
              <a:t>precio</a:t>
            </a:r>
            <a:r>
              <a:rPr lang="en-US" dirty="0">
                <a:latin typeface="Palatino" pitchFamily="2" charset="77"/>
              </a:rPr>
              <a:t> del </a:t>
            </a:r>
            <a:r>
              <a:rPr lang="en-US" dirty="0" err="1">
                <a:latin typeface="Palatino" pitchFamily="2" charset="77"/>
              </a:rPr>
              <a:t>producto</a:t>
            </a:r>
            <a:r>
              <a:rPr lang="en-US" dirty="0">
                <a:latin typeface="Palatino" pitchFamily="2" charset="77"/>
              </a:rPr>
              <a:t>, </a:t>
            </a:r>
            <a:r>
              <a:rPr lang="en-US" dirty="0" err="1">
                <a:latin typeface="Palatino" pitchFamily="2" charset="77"/>
              </a:rPr>
              <a:t>aumenta</a:t>
            </a:r>
            <a:r>
              <a:rPr lang="en-US" dirty="0">
                <a:latin typeface="Palatino" pitchFamily="2" charset="77"/>
              </a:rPr>
              <a:t> la </a:t>
            </a:r>
            <a:r>
              <a:rPr lang="en-US" dirty="0" err="1">
                <a:latin typeface="Palatino" pitchFamily="2" charset="77"/>
              </a:rPr>
              <a:t>demanda</a:t>
            </a:r>
            <a:r>
              <a:rPr lang="en-US" dirty="0">
                <a:latin typeface="Palatino" pitchFamily="2" charset="77"/>
              </a:rPr>
              <a:t> del factor 1, y, por lo tanto, </a:t>
            </a:r>
            <a:r>
              <a:rPr lang="en-US" dirty="0" err="1">
                <a:latin typeface="Palatino" pitchFamily="2" charset="77"/>
              </a:rPr>
              <a:t>también</a:t>
            </a:r>
            <a:r>
              <a:rPr lang="en-US" dirty="0">
                <a:latin typeface="Palatino" pitchFamily="2" charset="77"/>
              </a:rPr>
              <a:t> </a:t>
            </a:r>
            <a:r>
              <a:rPr lang="en-US" dirty="0" err="1">
                <a:latin typeface="Palatino" pitchFamily="2" charset="77"/>
              </a:rPr>
              <a:t>aumenta</a:t>
            </a:r>
            <a:r>
              <a:rPr lang="en-US" dirty="0">
                <a:latin typeface="Palatino" pitchFamily="2" charset="77"/>
              </a:rPr>
              <a:t> la </a:t>
            </a:r>
            <a:r>
              <a:rPr lang="en-US" dirty="0" err="1">
                <a:latin typeface="Palatino" pitchFamily="2" charset="77"/>
              </a:rPr>
              <a:t>oferta</a:t>
            </a:r>
            <a:r>
              <a:rPr lang="en-US" dirty="0">
                <a:latin typeface="Palatino" pitchFamily="2" charset="77"/>
              </a:rPr>
              <a:t> del bien.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A80D70-25D4-6442-AF43-2C180F0E9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41" y="1797823"/>
            <a:ext cx="1515091" cy="838135"/>
          </a:xfrm>
          <a:prstGeom prst="rect">
            <a:avLst/>
          </a:prstGeom>
        </p:spPr>
      </p:pic>
      <p:pic>
        <p:nvPicPr>
          <p:cNvPr id="5" name="Picture 4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A6B92C58-189A-2F44-93C1-19A219831C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079" y="3441782"/>
            <a:ext cx="3146737" cy="292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26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maximización</a:t>
            </a:r>
            <a:r>
              <a:rPr lang="en-US" b="1" dirty="0">
                <a:solidFill>
                  <a:srgbClr val="1F497D"/>
                </a:solidFill>
              </a:rPr>
              <a:t> del </a:t>
            </a:r>
            <a:r>
              <a:rPr lang="en-US" b="1" dirty="0" err="1">
                <a:solidFill>
                  <a:srgbClr val="1F497D"/>
                </a:solidFill>
              </a:rPr>
              <a:t>beneficio</a:t>
            </a:r>
            <a:r>
              <a:rPr lang="en-US" b="1" dirty="0">
                <a:solidFill>
                  <a:srgbClr val="1F497D"/>
                </a:solidFill>
              </a:rPr>
              <a:t> a </a:t>
            </a:r>
            <a:r>
              <a:rPr lang="en-US" b="1" dirty="0" err="1">
                <a:solidFill>
                  <a:srgbClr val="1F497D"/>
                </a:solidFill>
              </a:rPr>
              <a:t>corto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  <a:r>
              <a:rPr lang="en-US" b="1" dirty="0" err="1">
                <a:solidFill>
                  <a:srgbClr val="1F497D"/>
                </a:solidFill>
              </a:rPr>
              <a:t>plazo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rbel" panose="020B0503020204020204" pitchFamily="34" charset="0"/>
              </a:rPr>
              <a:t>¿Qué </a:t>
            </a:r>
            <a:r>
              <a:rPr lang="en-US" sz="2800" b="1" dirty="0" err="1">
                <a:latin typeface="Corbel" panose="020B0503020204020204" pitchFamily="34" charset="0"/>
              </a:rPr>
              <a:t>ocurre</a:t>
            </a:r>
            <a:r>
              <a:rPr lang="en-US" sz="2800" b="1" dirty="0">
                <a:latin typeface="Corbel" panose="020B0503020204020204" pitchFamily="34" charset="0"/>
              </a:rPr>
              <a:t> </a:t>
            </a:r>
            <a:r>
              <a:rPr lang="en-US" sz="2800" b="1" dirty="0" err="1">
                <a:latin typeface="Corbel" panose="020B0503020204020204" pitchFamily="34" charset="0"/>
              </a:rPr>
              <a:t>si</a:t>
            </a:r>
            <a:r>
              <a:rPr lang="en-US" sz="2800" b="1" dirty="0">
                <a:latin typeface="Corbel" panose="020B0503020204020204" pitchFamily="34" charset="0"/>
              </a:rPr>
              <a:t> </a:t>
            </a:r>
            <a:r>
              <a:rPr lang="en-US" sz="2800" b="1" dirty="0" err="1">
                <a:latin typeface="Corbel" panose="020B0503020204020204" pitchFamily="34" charset="0"/>
              </a:rPr>
              <a:t>varía</a:t>
            </a:r>
            <a:r>
              <a:rPr lang="en-US" sz="2800" b="1" dirty="0">
                <a:latin typeface="Corbel" panose="020B0503020204020204" pitchFamily="34" charset="0"/>
              </a:rPr>
              <a:t> el </a:t>
            </a:r>
            <a:r>
              <a:rPr lang="en-US" sz="2800" b="1" dirty="0" err="1">
                <a:latin typeface="Corbel" panose="020B0503020204020204" pitchFamily="34" charset="0"/>
              </a:rPr>
              <a:t>precio</a:t>
            </a:r>
            <a:r>
              <a:rPr lang="en-US" sz="2800" b="1" dirty="0">
                <a:latin typeface="Corbel" panose="020B0503020204020204" pitchFamily="34" charset="0"/>
              </a:rPr>
              <a:t> del factor 2?</a:t>
            </a:r>
          </a:p>
          <a:p>
            <a:endParaRPr lang="en-US" sz="2800" dirty="0">
              <a:latin typeface="Corbel" panose="020B0503020204020204" pitchFamily="34" charset="0"/>
            </a:endParaRPr>
          </a:p>
          <a:p>
            <a:pPr algn="just"/>
            <a:r>
              <a:rPr lang="en-US" sz="2800" dirty="0">
                <a:latin typeface="Corbel" panose="020B0503020204020204" pitchFamily="34" charset="0"/>
              </a:rPr>
              <a:t>Como </a:t>
            </a:r>
            <a:r>
              <a:rPr lang="en-US" sz="2800" dirty="0" err="1">
                <a:latin typeface="Corbel" panose="020B0503020204020204" pitchFamily="34" charset="0"/>
              </a:rPr>
              <a:t>nuestro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análisis</a:t>
            </a:r>
            <a:r>
              <a:rPr lang="en-US" sz="2800" dirty="0">
                <a:latin typeface="Corbel" panose="020B0503020204020204" pitchFamily="34" charset="0"/>
              </a:rPr>
              <a:t> se </a:t>
            </a:r>
            <a:r>
              <a:rPr lang="en-US" sz="2800" dirty="0" err="1">
                <a:latin typeface="Corbel" panose="020B0503020204020204" pitchFamily="34" charset="0"/>
              </a:rPr>
              <a:t>refiere</a:t>
            </a:r>
            <a:r>
              <a:rPr lang="en-US" sz="2800" dirty="0">
                <a:latin typeface="Corbel" panose="020B0503020204020204" pitchFamily="34" charset="0"/>
              </a:rPr>
              <a:t> al </a:t>
            </a:r>
            <a:r>
              <a:rPr lang="en-US" sz="2800" dirty="0" err="1">
                <a:latin typeface="Corbel" panose="020B0503020204020204" pitchFamily="34" charset="0"/>
              </a:rPr>
              <a:t>corto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plazo</a:t>
            </a:r>
            <a:r>
              <a:rPr lang="en-US" sz="2800" dirty="0">
                <a:latin typeface="Corbel" panose="020B0503020204020204" pitchFamily="34" charset="0"/>
              </a:rPr>
              <a:t>, la </a:t>
            </a:r>
            <a:r>
              <a:rPr lang="en-US" sz="2800" dirty="0" err="1">
                <a:latin typeface="Corbel" panose="020B0503020204020204" pitchFamily="34" charset="0"/>
              </a:rPr>
              <a:t>variación</a:t>
            </a:r>
            <a:r>
              <a:rPr lang="en-US" sz="2800" dirty="0">
                <a:latin typeface="Corbel" panose="020B0503020204020204" pitchFamily="34" charset="0"/>
              </a:rPr>
              <a:t> del </a:t>
            </a:r>
            <a:r>
              <a:rPr lang="en-US" sz="2800" dirty="0" err="1">
                <a:latin typeface="Corbel" panose="020B0503020204020204" pitchFamily="34" charset="0"/>
              </a:rPr>
              <a:t>precio</a:t>
            </a:r>
            <a:r>
              <a:rPr lang="en-US" sz="2800" dirty="0">
                <a:latin typeface="Corbel" panose="020B0503020204020204" pitchFamily="34" charset="0"/>
              </a:rPr>
              <a:t> del factor 2 no altera la </a:t>
            </a:r>
            <a:r>
              <a:rPr lang="en-US" sz="2800" dirty="0" err="1">
                <a:latin typeface="Corbel" panose="020B0503020204020204" pitchFamily="34" charset="0"/>
              </a:rPr>
              <a:t>elección</a:t>
            </a:r>
            <a:r>
              <a:rPr lang="en-US" sz="2800" dirty="0">
                <a:latin typeface="Corbel" panose="020B0503020204020204" pitchFamily="34" charset="0"/>
              </a:rPr>
              <a:t> de </a:t>
            </a:r>
            <a:r>
              <a:rPr lang="en-US" sz="2800" dirty="0" err="1">
                <a:latin typeface="Corbel" panose="020B0503020204020204" pitchFamily="34" charset="0"/>
              </a:rPr>
              <a:t>dicho</a:t>
            </a:r>
            <a:r>
              <a:rPr lang="en-US" sz="2800" dirty="0">
                <a:latin typeface="Corbel" panose="020B0503020204020204" pitchFamily="34" charset="0"/>
              </a:rPr>
              <a:t> factor, es </a:t>
            </a:r>
            <a:r>
              <a:rPr lang="en-US" sz="2800" dirty="0" err="1">
                <a:latin typeface="Corbel" panose="020B0503020204020204" pitchFamily="34" charset="0"/>
              </a:rPr>
              <a:t>decir</a:t>
            </a:r>
            <a:r>
              <a:rPr lang="en-US" sz="2800" dirty="0">
                <a:latin typeface="Corbel" panose="020B0503020204020204" pitchFamily="34" charset="0"/>
              </a:rPr>
              <a:t>, a </a:t>
            </a:r>
            <a:r>
              <a:rPr lang="en-US" sz="2800" dirty="0" err="1">
                <a:latin typeface="Corbel" panose="020B0503020204020204" pitchFamily="34" charset="0"/>
              </a:rPr>
              <a:t>corto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plazo</a:t>
            </a:r>
            <a:r>
              <a:rPr lang="en-US" sz="2800" dirty="0">
                <a:latin typeface="Corbel" panose="020B0503020204020204" pitchFamily="34" charset="0"/>
              </a:rPr>
              <a:t> el </a:t>
            </a:r>
            <a:r>
              <a:rPr lang="en-US" sz="2800" dirty="0" err="1">
                <a:latin typeface="Corbel" panose="020B0503020204020204" pitchFamily="34" charset="0"/>
              </a:rPr>
              <a:t>nivel</a:t>
            </a:r>
            <a:r>
              <a:rPr lang="en-US" sz="2800" dirty="0">
                <a:latin typeface="Corbel" panose="020B0503020204020204" pitchFamily="34" charset="0"/>
              </a:rPr>
              <a:t> del factor 2 es </a:t>
            </a:r>
            <a:r>
              <a:rPr lang="en-US" sz="2800" dirty="0" err="1">
                <a:latin typeface="Corbel" panose="020B0503020204020204" pitchFamily="34" charset="0"/>
              </a:rPr>
              <a:t>fijo</a:t>
            </a:r>
            <a:r>
              <a:rPr lang="en-US" sz="2800" dirty="0">
                <a:latin typeface="Corbel" panose="020B0503020204020204" pitchFamily="34" charset="0"/>
              </a:rPr>
              <a:t>, x̅2 .</a:t>
            </a:r>
          </a:p>
          <a:p>
            <a:pPr algn="just"/>
            <a:endParaRPr lang="en-US" sz="2800" dirty="0">
              <a:latin typeface="Corbel" panose="020B0503020204020204" pitchFamily="34" charset="0"/>
            </a:endParaRPr>
          </a:p>
          <a:p>
            <a:pPr algn="just"/>
            <a:r>
              <a:rPr lang="en-US" sz="2800" b="1" i="1" dirty="0">
                <a:latin typeface="Corbel" panose="020B0503020204020204" pitchFamily="34" charset="0"/>
              </a:rPr>
              <a:t>La </a:t>
            </a:r>
            <a:r>
              <a:rPr lang="en-US" sz="2800" b="1" i="1" dirty="0" err="1">
                <a:latin typeface="Corbel" panose="020B0503020204020204" pitchFamily="34" charset="0"/>
              </a:rPr>
              <a:t>variación</a:t>
            </a:r>
            <a:r>
              <a:rPr lang="en-US" sz="2800" b="1" i="1" dirty="0">
                <a:latin typeface="Corbel" panose="020B0503020204020204" pitchFamily="34" charset="0"/>
              </a:rPr>
              <a:t> de </a:t>
            </a:r>
            <a:r>
              <a:rPr lang="en-US" sz="2800" b="1" i="1" dirty="0" err="1">
                <a:latin typeface="Corbel" panose="020B0503020204020204" pitchFamily="34" charset="0"/>
              </a:rPr>
              <a:t>su</a:t>
            </a:r>
            <a:r>
              <a:rPr lang="en-US" sz="2800" b="1" i="1" dirty="0">
                <a:latin typeface="Corbel" panose="020B0503020204020204" pitchFamily="34" charset="0"/>
              </a:rPr>
              <a:t> </a:t>
            </a:r>
            <a:r>
              <a:rPr lang="en-US" sz="2800" b="1" i="1" dirty="0" err="1">
                <a:latin typeface="Corbel" panose="020B0503020204020204" pitchFamily="34" charset="0"/>
              </a:rPr>
              <a:t>precio</a:t>
            </a:r>
            <a:r>
              <a:rPr lang="en-US" sz="2800" b="1" i="1" dirty="0">
                <a:latin typeface="Corbel" panose="020B0503020204020204" pitchFamily="34" charset="0"/>
              </a:rPr>
              <a:t> no </a:t>
            </a:r>
            <a:r>
              <a:rPr lang="en-US" sz="2800" b="1" i="1" dirty="0" err="1">
                <a:latin typeface="Corbel" panose="020B0503020204020204" pitchFamily="34" charset="0"/>
              </a:rPr>
              <a:t>afecta</a:t>
            </a:r>
            <a:r>
              <a:rPr lang="en-US" sz="2800" b="1" i="1" dirty="0">
                <a:latin typeface="Corbel" panose="020B0503020204020204" pitchFamily="34" charset="0"/>
              </a:rPr>
              <a:t> a la </a:t>
            </a:r>
            <a:r>
              <a:rPr lang="en-US" sz="2800" b="1" i="1" dirty="0" err="1">
                <a:latin typeface="Corbel" panose="020B0503020204020204" pitchFamily="34" charset="0"/>
              </a:rPr>
              <a:t>pendiente</a:t>
            </a:r>
            <a:r>
              <a:rPr lang="en-US" sz="2800" b="1" i="1" dirty="0">
                <a:latin typeface="Corbel" panose="020B0503020204020204" pitchFamily="34" charset="0"/>
              </a:rPr>
              <a:t> de la recta </a:t>
            </a:r>
            <a:r>
              <a:rPr lang="en-US" sz="2800" b="1" i="1" dirty="0" err="1">
                <a:latin typeface="Corbel" panose="020B0503020204020204" pitchFamily="34" charset="0"/>
              </a:rPr>
              <a:t>isobeneficio</a:t>
            </a:r>
            <a:r>
              <a:rPr lang="en-US" sz="2800" dirty="0">
                <a:latin typeface="Corbel" panose="020B0503020204020204" pitchFamily="34" charset="0"/>
              </a:rPr>
              <a:t>. Por lo tanto, no </a:t>
            </a:r>
            <a:r>
              <a:rPr lang="en-US" sz="2800" dirty="0" err="1">
                <a:latin typeface="Corbel" panose="020B0503020204020204" pitchFamily="34" charset="0"/>
              </a:rPr>
              <a:t>varía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ni</a:t>
            </a:r>
            <a:r>
              <a:rPr lang="en-US" sz="2800" dirty="0">
                <a:latin typeface="Corbel" panose="020B0503020204020204" pitchFamily="34" charset="0"/>
              </a:rPr>
              <a:t> la </a:t>
            </a:r>
            <a:r>
              <a:rPr lang="en-US" sz="2800" dirty="0" err="1">
                <a:latin typeface="Corbel" panose="020B0503020204020204" pitchFamily="34" charset="0"/>
              </a:rPr>
              <a:t>elección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óptima</a:t>
            </a:r>
            <a:r>
              <a:rPr lang="en-US" sz="2800" dirty="0">
                <a:latin typeface="Corbel" panose="020B0503020204020204" pitchFamily="34" charset="0"/>
              </a:rPr>
              <a:t> del factor 1 </a:t>
            </a:r>
            <a:r>
              <a:rPr lang="en-US" sz="2800" dirty="0" err="1">
                <a:latin typeface="Corbel" panose="020B0503020204020204" pitchFamily="34" charset="0"/>
              </a:rPr>
              <a:t>ni</a:t>
            </a:r>
            <a:r>
              <a:rPr lang="en-US" sz="2800" dirty="0">
                <a:latin typeface="Corbel" panose="020B0503020204020204" pitchFamily="34" charset="0"/>
              </a:rPr>
              <a:t> la </a:t>
            </a:r>
            <a:r>
              <a:rPr lang="en-US" sz="2800" dirty="0" err="1">
                <a:latin typeface="Corbel" panose="020B0503020204020204" pitchFamily="34" charset="0"/>
              </a:rPr>
              <a:t>oferta</a:t>
            </a:r>
            <a:r>
              <a:rPr lang="en-US" sz="2800" dirty="0">
                <a:latin typeface="Corbel" panose="020B0503020204020204" pitchFamily="34" charset="0"/>
              </a:rPr>
              <a:t> del </a:t>
            </a:r>
            <a:r>
              <a:rPr lang="en-US" sz="2800" dirty="0" err="1">
                <a:latin typeface="Corbel" panose="020B0503020204020204" pitchFamily="34" charset="0"/>
              </a:rPr>
              <a:t>producto</a:t>
            </a:r>
            <a:r>
              <a:rPr lang="en-US" sz="2800" dirty="0">
                <a:latin typeface="Corbel" panose="020B0503020204020204" pitchFamily="34" charset="0"/>
              </a:rPr>
              <a:t>. Lo </a:t>
            </a:r>
            <a:r>
              <a:rPr lang="en-US" sz="2800" dirty="0" err="1">
                <a:latin typeface="Corbel" panose="020B0503020204020204" pitchFamily="34" charset="0"/>
              </a:rPr>
              <a:t>único</a:t>
            </a:r>
            <a:r>
              <a:rPr lang="en-US" sz="2800" dirty="0">
                <a:latin typeface="Corbel" panose="020B0503020204020204" pitchFamily="34" charset="0"/>
              </a:rPr>
              <a:t> que </a:t>
            </a:r>
            <a:r>
              <a:rPr lang="en-US" sz="2800" dirty="0" err="1">
                <a:latin typeface="Corbel" panose="020B0503020204020204" pitchFamily="34" charset="0"/>
              </a:rPr>
              <a:t>varía</a:t>
            </a:r>
            <a:r>
              <a:rPr lang="en-US" sz="2800" dirty="0">
                <a:latin typeface="Corbel" panose="020B0503020204020204" pitchFamily="34" charset="0"/>
              </a:rPr>
              <a:t> es el </a:t>
            </a:r>
            <a:r>
              <a:rPr lang="en-US" sz="2800" dirty="0" err="1">
                <a:latin typeface="Corbel" panose="020B0503020204020204" pitchFamily="34" charset="0"/>
              </a:rPr>
              <a:t>beneficio</a:t>
            </a:r>
            <a:r>
              <a:rPr lang="en-US" sz="2800" dirty="0">
                <a:latin typeface="Corbel" panose="020B0503020204020204" pitchFamily="34" charset="0"/>
              </a:rPr>
              <a:t> que </a:t>
            </a:r>
            <a:r>
              <a:rPr lang="en-US" sz="2800" dirty="0" err="1">
                <a:latin typeface="Corbel" panose="020B0503020204020204" pitchFamily="34" charset="0"/>
              </a:rPr>
              <a:t>obtiene</a:t>
            </a:r>
            <a:r>
              <a:rPr lang="en-US" sz="2800" dirty="0">
                <a:latin typeface="Corbel" panose="020B0503020204020204" pitchFamily="34" charset="0"/>
              </a:rPr>
              <a:t> la </a:t>
            </a:r>
            <a:r>
              <a:rPr lang="en-US" sz="2800" dirty="0" err="1">
                <a:latin typeface="Corbel" panose="020B0503020204020204" pitchFamily="34" charset="0"/>
              </a:rPr>
              <a:t>empresa</a:t>
            </a:r>
            <a:r>
              <a:rPr lang="en-US" sz="2800" dirty="0">
                <a:latin typeface="Corbel" panose="020B0503020204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16603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3B88604-D5C1-DD5C-0309-B0D54367B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495240"/>
            <a:ext cx="10572750" cy="988627"/>
          </a:xfrm>
        </p:spPr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1F497D"/>
                </a:solidFill>
              </a:rPr>
              <a:t>maximización</a:t>
            </a:r>
            <a:r>
              <a:rPr lang="en-US" b="1" dirty="0">
                <a:solidFill>
                  <a:srgbClr val="1F497D"/>
                </a:solidFill>
              </a:rPr>
              <a:t> del </a:t>
            </a:r>
            <a:r>
              <a:rPr lang="en-US" b="1" dirty="0" err="1">
                <a:solidFill>
                  <a:srgbClr val="1F497D"/>
                </a:solidFill>
              </a:rPr>
              <a:t>beneficio</a:t>
            </a:r>
            <a:r>
              <a:rPr lang="en-US" b="1" dirty="0">
                <a:solidFill>
                  <a:srgbClr val="1F497D"/>
                </a:solidFill>
              </a:rPr>
              <a:t> a largo </a:t>
            </a:r>
            <a:r>
              <a:rPr lang="en-US" b="1" dirty="0" err="1">
                <a:solidFill>
                  <a:srgbClr val="1F497D"/>
                </a:solidFill>
              </a:rPr>
              <a:t>plazo</a:t>
            </a:r>
            <a:r>
              <a:rPr lang="en-US" b="1" dirty="0">
                <a:solidFill>
                  <a:srgbClr val="1F497D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46588-22C5-5E7B-8AEB-CFE250C9AD16}"/>
              </a:ext>
            </a:extLst>
          </p:cNvPr>
          <p:cNvSpPr txBox="1"/>
          <p:nvPr/>
        </p:nvSpPr>
        <p:spPr>
          <a:xfrm>
            <a:off x="2050659" y="1760267"/>
            <a:ext cx="7596554" cy="433284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545717-1E68-644D-327B-804C14E49689}"/>
              </a:ext>
            </a:extLst>
          </p:cNvPr>
          <p:cNvSpPr txBox="1"/>
          <p:nvPr/>
        </p:nvSpPr>
        <p:spPr>
          <a:xfrm>
            <a:off x="657225" y="1289993"/>
            <a:ext cx="11056057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Corbel" panose="020B0503020204020204" pitchFamily="34" charset="0"/>
              </a:rPr>
              <a:t>A </a:t>
            </a:r>
            <a:r>
              <a:rPr lang="en-US" sz="2800" b="1" dirty="0">
                <a:latin typeface="Corbel" panose="020B0503020204020204" pitchFamily="34" charset="0"/>
              </a:rPr>
              <a:t>largo </a:t>
            </a:r>
            <a:r>
              <a:rPr lang="en-US" sz="2800" b="1" dirty="0" err="1">
                <a:latin typeface="Corbel" panose="020B0503020204020204" pitchFamily="34" charset="0"/>
              </a:rPr>
              <a:t>plazo</a:t>
            </a:r>
            <a:r>
              <a:rPr lang="en-US" sz="2800" b="1" dirty="0">
                <a:latin typeface="Corbel" panose="020B0503020204020204" pitchFamily="34" charset="0"/>
              </a:rPr>
              <a:t> </a:t>
            </a:r>
            <a:r>
              <a:rPr lang="en-US" sz="2800" dirty="0">
                <a:latin typeface="Corbel" panose="020B0503020204020204" pitchFamily="34" charset="0"/>
              </a:rPr>
              <a:t>la </a:t>
            </a:r>
            <a:r>
              <a:rPr lang="en-US" sz="2800" dirty="0" err="1">
                <a:latin typeface="Corbel" panose="020B0503020204020204" pitchFamily="34" charset="0"/>
              </a:rPr>
              <a:t>empresa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puede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elegir</a:t>
            </a:r>
            <a:r>
              <a:rPr lang="en-US" sz="2800" dirty="0">
                <a:latin typeface="Corbel" panose="020B0503020204020204" pitchFamily="34" charset="0"/>
              </a:rPr>
              <a:t> el </a:t>
            </a:r>
            <a:r>
              <a:rPr lang="en-US" sz="2800" dirty="0" err="1">
                <a:latin typeface="Corbel" panose="020B0503020204020204" pitchFamily="34" charset="0"/>
              </a:rPr>
              <a:t>nivel</a:t>
            </a:r>
            <a:r>
              <a:rPr lang="en-US" sz="2800" dirty="0">
                <a:latin typeface="Corbel" panose="020B0503020204020204" pitchFamily="34" charset="0"/>
              </a:rPr>
              <a:t> de </a:t>
            </a:r>
            <a:r>
              <a:rPr lang="en-US" sz="2800" dirty="0" err="1">
                <a:latin typeface="Corbel" panose="020B0503020204020204" pitchFamily="34" charset="0"/>
              </a:rPr>
              <a:t>todos</a:t>
            </a:r>
            <a:r>
              <a:rPr lang="en-US" sz="2800" dirty="0">
                <a:latin typeface="Corbel" panose="020B0503020204020204" pitchFamily="34" charset="0"/>
              </a:rPr>
              <a:t> sus </a:t>
            </a:r>
            <a:r>
              <a:rPr lang="en-US" sz="2800" dirty="0" err="1">
                <a:latin typeface="Corbel" panose="020B0503020204020204" pitchFamily="34" charset="0"/>
              </a:rPr>
              <a:t>factores</a:t>
            </a:r>
            <a:r>
              <a:rPr lang="en-US" sz="2800" dirty="0">
                <a:latin typeface="Corbel" panose="020B0503020204020204" pitchFamily="34" charset="0"/>
              </a:rPr>
              <a:t>. Por lo tanto, el </a:t>
            </a:r>
            <a:r>
              <a:rPr lang="en-US" sz="2800" dirty="0" err="1">
                <a:latin typeface="Corbel" panose="020B0503020204020204" pitchFamily="34" charset="0"/>
              </a:rPr>
              <a:t>problema</a:t>
            </a:r>
            <a:r>
              <a:rPr lang="en-US" sz="2800" dirty="0">
                <a:latin typeface="Corbel" panose="020B0503020204020204" pitchFamily="34" charset="0"/>
              </a:rPr>
              <a:t> de </a:t>
            </a:r>
            <a:r>
              <a:rPr lang="en-US" sz="2800" dirty="0" err="1">
                <a:latin typeface="Corbel" panose="020B0503020204020204" pitchFamily="34" charset="0"/>
              </a:rPr>
              <a:t>maximización</a:t>
            </a:r>
            <a:r>
              <a:rPr lang="en-US" sz="2800" dirty="0">
                <a:latin typeface="Corbel" panose="020B0503020204020204" pitchFamily="34" charset="0"/>
              </a:rPr>
              <a:t> del </a:t>
            </a:r>
            <a:r>
              <a:rPr lang="en-US" sz="2800" dirty="0" err="1">
                <a:latin typeface="Corbel" panose="020B0503020204020204" pitchFamily="34" charset="0"/>
              </a:rPr>
              <a:t>beneficio</a:t>
            </a:r>
            <a:r>
              <a:rPr lang="en-US" sz="2800" dirty="0">
                <a:latin typeface="Corbel" panose="020B0503020204020204" pitchFamily="34" charset="0"/>
              </a:rPr>
              <a:t> a largo </a:t>
            </a:r>
            <a:r>
              <a:rPr lang="en-US" sz="2800" dirty="0" err="1">
                <a:latin typeface="Corbel" panose="020B0503020204020204" pitchFamily="34" charset="0"/>
              </a:rPr>
              <a:t>plazo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puede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plantearse</a:t>
            </a:r>
            <a:r>
              <a:rPr lang="en-US" sz="2800" dirty="0">
                <a:latin typeface="Corbel" panose="020B0503020204020204" pitchFamily="34" charset="0"/>
              </a:rPr>
              <a:t> de la forma </a:t>
            </a:r>
            <a:r>
              <a:rPr lang="en-US" sz="2800" dirty="0" err="1">
                <a:latin typeface="Corbel" panose="020B0503020204020204" pitchFamily="34" charset="0"/>
              </a:rPr>
              <a:t>siguiente</a:t>
            </a:r>
            <a:r>
              <a:rPr lang="en-US" sz="2800" dirty="0">
                <a:latin typeface="Corbel" panose="020B0503020204020204" pitchFamily="34" charset="0"/>
              </a:rPr>
              <a:t>: </a:t>
            </a:r>
          </a:p>
          <a:p>
            <a:pPr algn="just"/>
            <a:endParaRPr lang="en-US" sz="2800" dirty="0">
              <a:latin typeface="Corbel" panose="020B0503020204020204" pitchFamily="34" charset="0"/>
            </a:endParaRPr>
          </a:p>
          <a:p>
            <a:pPr algn="just"/>
            <a:endParaRPr lang="en-US" sz="2800" dirty="0">
              <a:latin typeface="Corbel" panose="020B0503020204020204" pitchFamily="34" charset="0"/>
            </a:endParaRPr>
          </a:p>
          <a:p>
            <a:pPr algn="just"/>
            <a:endParaRPr lang="en-US" sz="2800" dirty="0">
              <a:latin typeface="Corbel" panose="020B0503020204020204" pitchFamily="34" charset="0"/>
            </a:endParaRPr>
          </a:p>
          <a:p>
            <a:pPr algn="just"/>
            <a:r>
              <a:rPr lang="en-US" sz="2800" dirty="0">
                <a:latin typeface="Corbel" panose="020B0503020204020204" pitchFamily="34" charset="0"/>
              </a:rPr>
              <a:t>La </a:t>
            </a:r>
            <a:r>
              <a:rPr lang="en-US" sz="2800" dirty="0" err="1">
                <a:latin typeface="Corbel" panose="020B0503020204020204" pitchFamily="34" charset="0"/>
              </a:rPr>
              <a:t>elección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óptima</a:t>
            </a:r>
            <a:r>
              <a:rPr lang="en-US" sz="2800" dirty="0">
                <a:latin typeface="Corbel" panose="020B0503020204020204" pitchFamily="34" charset="0"/>
              </a:rPr>
              <a:t> debe </a:t>
            </a:r>
            <a:r>
              <a:rPr lang="en-US" sz="2800" dirty="0" err="1">
                <a:latin typeface="Corbel" panose="020B0503020204020204" pitchFamily="34" charset="0"/>
              </a:rPr>
              <a:t>cumplir</a:t>
            </a:r>
            <a:r>
              <a:rPr lang="en-US" sz="2800" dirty="0">
                <a:latin typeface="Corbel" panose="020B0503020204020204" pitchFamily="34" charset="0"/>
              </a:rPr>
              <a:t> la </a:t>
            </a:r>
            <a:r>
              <a:rPr lang="en-US" sz="2800" dirty="0" err="1">
                <a:latin typeface="Corbel" panose="020B0503020204020204" pitchFamily="34" charset="0"/>
              </a:rPr>
              <a:t>misma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condición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en</a:t>
            </a:r>
            <a:r>
              <a:rPr lang="en-US" sz="2800" dirty="0">
                <a:latin typeface="Corbel" panose="020B0503020204020204" pitchFamily="34" charset="0"/>
              </a:rPr>
              <a:t> </a:t>
            </a:r>
            <a:r>
              <a:rPr lang="en-US" sz="2800" dirty="0" err="1">
                <a:latin typeface="Corbel" panose="020B0503020204020204" pitchFamily="34" charset="0"/>
              </a:rPr>
              <a:t>todas</a:t>
            </a:r>
            <a:r>
              <a:rPr lang="en-US" sz="2800" dirty="0">
                <a:latin typeface="Corbel" panose="020B0503020204020204" pitchFamily="34" charset="0"/>
              </a:rPr>
              <a:t> las </a:t>
            </a:r>
            <a:r>
              <a:rPr lang="en-US" sz="2800" dirty="0" err="1">
                <a:latin typeface="Corbel" panose="020B0503020204020204" pitchFamily="34" charset="0"/>
              </a:rPr>
              <a:t>elecciones</a:t>
            </a:r>
            <a:r>
              <a:rPr lang="en-US" sz="2800" dirty="0">
                <a:latin typeface="Corbel" panose="020B0503020204020204" pitchFamily="34" charset="0"/>
              </a:rPr>
              <a:t> de </a:t>
            </a:r>
            <a:r>
              <a:rPr lang="en-US" sz="2800" dirty="0" err="1">
                <a:latin typeface="Corbel" panose="020B0503020204020204" pitchFamily="34" charset="0"/>
              </a:rPr>
              <a:t>factores</a:t>
            </a:r>
            <a:r>
              <a:rPr lang="en-US" sz="2800" dirty="0">
                <a:latin typeface="Corbel" panose="020B0503020204020204" pitchFamily="34" charset="0"/>
              </a:rPr>
              <a:t>:</a:t>
            </a:r>
          </a:p>
          <a:p>
            <a:pPr algn="just"/>
            <a:endParaRPr lang="en-US" sz="2800" dirty="0">
              <a:latin typeface="Corbel" panose="020B0503020204020204" pitchFamily="34" charset="0"/>
            </a:endParaRPr>
          </a:p>
          <a:p>
            <a:pPr algn="just"/>
            <a:endParaRPr lang="en-US" sz="2800" dirty="0">
              <a:latin typeface="Corbel" panose="020B0503020204020204" pitchFamily="34" charset="0"/>
            </a:endParaRPr>
          </a:p>
          <a:p>
            <a:pPr algn="just"/>
            <a:endParaRPr lang="en-US" sz="3600" dirty="0">
              <a:solidFill>
                <a:prstClr val="black"/>
              </a:solidFill>
              <a:latin typeface="Corbel" panose="020B0503020204020204"/>
            </a:endParaRPr>
          </a:p>
        </p:txBody>
      </p:sp>
      <p:pic>
        <p:nvPicPr>
          <p:cNvPr id="4" name="Picture 3" descr="A black math equation&#10;&#10;Description automatically generated with medium confidence">
            <a:extLst>
              <a:ext uri="{FF2B5EF4-FFF2-40B4-BE49-F238E27FC236}">
                <a16:creationId xmlns:a16="http://schemas.microsoft.com/office/drawing/2014/main" id="{4B98D3A8-7E21-4F4B-84E6-7C9F8930D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456" y="2807679"/>
            <a:ext cx="4519737" cy="843396"/>
          </a:xfrm>
          <a:prstGeom prst="rect">
            <a:avLst/>
          </a:prstGeom>
        </p:spPr>
      </p:pic>
      <p:pic>
        <p:nvPicPr>
          <p:cNvPr id="9" name="Picture 8" descr="A group of math symbols&#10;&#10;Description automatically generated">
            <a:extLst>
              <a:ext uri="{FF2B5EF4-FFF2-40B4-BE49-F238E27FC236}">
                <a16:creationId xmlns:a16="http://schemas.microsoft.com/office/drawing/2014/main" id="{8BF92395-4226-6246-BE20-E721461C0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4844" y="4862809"/>
            <a:ext cx="2985957" cy="12768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372560-4833-0C47-B6B3-B3CCD0CEE30A}"/>
              </a:ext>
            </a:extLst>
          </p:cNvPr>
          <p:cNvSpPr/>
          <p:nvPr/>
        </p:nvSpPr>
        <p:spPr>
          <a:xfrm>
            <a:off x="3791008" y="4976684"/>
            <a:ext cx="2701627" cy="11185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O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C462C24-8B74-8342-ABCA-44E007B7BE92}"/>
              </a:ext>
            </a:extLst>
          </p:cNvPr>
          <p:cNvCxnSpPr>
            <a:cxnSpLocks/>
          </p:cNvCxnSpPr>
          <p:nvPr/>
        </p:nvCxnSpPr>
        <p:spPr>
          <a:xfrm>
            <a:off x="6586260" y="5522251"/>
            <a:ext cx="74579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63D502-323F-3742-A4BE-2A8553C39146}"/>
              </a:ext>
            </a:extLst>
          </p:cNvPr>
          <p:cNvSpPr txBox="1"/>
          <p:nvPr/>
        </p:nvSpPr>
        <p:spPr>
          <a:xfrm>
            <a:off x="7401325" y="5337585"/>
            <a:ext cx="3322093" cy="36933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Palatino" pitchFamily="2" charset="77"/>
              </a:rPr>
              <a:t>Condiciones</a:t>
            </a:r>
            <a:r>
              <a:rPr lang="en-US" dirty="0">
                <a:latin typeface="Palatino" pitchFamily="2" charset="77"/>
              </a:rPr>
              <a:t> de </a:t>
            </a:r>
            <a:r>
              <a:rPr lang="en-US" dirty="0" err="1">
                <a:latin typeface="Palatino" pitchFamily="2" charset="77"/>
              </a:rPr>
              <a:t>maximización</a:t>
            </a:r>
            <a:endParaRPr lang="en-US" dirty="0">
              <a:latin typeface="Palatin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45463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6" grpId="1" animBg="1"/>
      <p:bldP spid="16" grpId="2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DD85A-0C94-4E1D-1717-1E99ED246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 err="1"/>
              <a:t>Teoría</a:t>
            </a:r>
            <a:r>
              <a:rPr lang="en-US" sz="4400" b="1" dirty="0"/>
              <a:t> </a:t>
            </a:r>
            <a:r>
              <a:rPr lang="en-US" sz="4400" b="1" dirty="0" err="1"/>
              <a:t>Microeconómica</a:t>
            </a:r>
            <a:r>
              <a:rPr lang="en-US" sz="4400" b="1" dirty="0"/>
              <a:t> 1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DF532-AADA-2DDE-ED2D-E339659E2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267712"/>
            <a:ext cx="9784080" cy="3950208"/>
          </a:xfrm>
        </p:spPr>
        <p:txBody>
          <a:bodyPr>
            <a:normAutofit/>
          </a:bodyPr>
          <a:lstStyle/>
          <a:p>
            <a:r>
              <a:rPr lang="en-US" sz="3800" b="1" dirty="0" err="1"/>
              <a:t>Próxima</a:t>
            </a:r>
            <a:r>
              <a:rPr lang="en-US" sz="3800" b="1" dirty="0"/>
              <a:t> </a:t>
            </a:r>
            <a:r>
              <a:rPr lang="en-US" sz="3800" b="1" dirty="0" err="1"/>
              <a:t>Clase</a:t>
            </a:r>
            <a:r>
              <a:rPr lang="en-US" sz="3800" b="1" dirty="0"/>
              <a:t>: </a:t>
            </a:r>
            <a:r>
              <a:rPr lang="en-US" sz="3800" b="1" dirty="0">
                <a:solidFill>
                  <a:srgbClr val="FFC000"/>
                </a:solidFill>
              </a:rPr>
              <a:t>17 de Julio</a:t>
            </a:r>
            <a:endParaRPr lang="en-US" sz="3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8676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11578</TotalTime>
  <Words>1147</Words>
  <Application>Microsoft Office PowerPoint</Application>
  <PresentationFormat>Widescreen</PresentationFormat>
  <Paragraphs>133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Corbel</vt:lpstr>
      <vt:lpstr>Palatino</vt:lpstr>
      <vt:lpstr>Wingdings</vt:lpstr>
      <vt:lpstr>Banded</vt:lpstr>
      <vt:lpstr>La maximización del beneficio</vt:lpstr>
      <vt:lpstr>Clase pasada</vt:lpstr>
      <vt:lpstr>Temas a desarrollar</vt:lpstr>
      <vt:lpstr>Introducción</vt:lpstr>
      <vt:lpstr>Introducción</vt:lpstr>
      <vt:lpstr>Los beneficios</vt:lpstr>
      <vt:lpstr>Los beneficios</vt:lpstr>
      <vt:lpstr>Los beneficios</vt:lpstr>
      <vt:lpstr>Los beneficios</vt:lpstr>
      <vt:lpstr>maximización del beneficio a corto plazo </vt:lpstr>
      <vt:lpstr>maximización del beneficio a corto plazo </vt:lpstr>
      <vt:lpstr>maximización del beneficio a corto plazo </vt:lpstr>
      <vt:lpstr>maximización del beneficio a corto plazo </vt:lpstr>
      <vt:lpstr>maximización del beneficio a corto plazo </vt:lpstr>
      <vt:lpstr>maximización del beneficio a corto plazo </vt:lpstr>
      <vt:lpstr>maximización del beneficio a corto plazo </vt:lpstr>
      <vt:lpstr>maximización del beneficio a largo plazo </vt:lpstr>
      <vt:lpstr>Teoría Microeconómica 1</vt:lpstr>
    </vt:vector>
  </TitlesOfParts>
  <Company>BCRD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la MaximizaciÓn de la utilidad a la demanda</dc:title>
  <dc:creator>Jessica Aloi Rodriguez</dc:creator>
  <cp:lastModifiedBy>Jessica Aloi Rodriguez</cp:lastModifiedBy>
  <cp:revision>47</cp:revision>
  <dcterms:created xsi:type="dcterms:W3CDTF">2024-05-22T13:25:52Z</dcterms:created>
  <dcterms:modified xsi:type="dcterms:W3CDTF">2024-07-22T16:39:34Z</dcterms:modified>
</cp:coreProperties>
</file>