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1"/>
  </p:notesMasterIdLst>
  <p:sldIdLst>
    <p:sldId id="423" r:id="rId2"/>
    <p:sldId id="456" r:id="rId3"/>
    <p:sldId id="460" r:id="rId4"/>
    <p:sldId id="461" r:id="rId5"/>
    <p:sldId id="475" r:id="rId6"/>
    <p:sldId id="478" r:id="rId7"/>
    <p:sldId id="477" r:id="rId8"/>
    <p:sldId id="476" r:id="rId9"/>
    <p:sldId id="482" r:id="rId10"/>
    <p:sldId id="481" r:id="rId11"/>
    <p:sldId id="479" r:id="rId12"/>
    <p:sldId id="485" r:id="rId13"/>
    <p:sldId id="484" r:id="rId14"/>
    <p:sldId id="483" r:id="rId15"/>
    <p:sldId id="480" r:id="rId16"/>
    <p:sldId id="490" r:id="rId17"/>
    <p:sldId id="487" r:id="rId18"/>
    <p:sldId id="491" r:id="rId19"/>
    <p:sldId id="25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A39157-D83E-47B9-952B-1EC17591DAC4}" v="956" dt="2024-07-17T17:22:25"/>
    <p1510:client id="{35D2D8C8-F9F6-416E-AF7E-9D03E042F21F}" v="2" dt="2024-07-17T22:50:40.2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8" autoAdjust="0"/>
    <p:restoredTop sz="94681"/>
  </p:normalViewPr>
  <p:slideViewPr>
    <p:cSldViewPr snapToGrid="0">
      <p:cViewPr varScale="1">
        <p:scale>
          <a:sx n="64" d="100"/>
          <a:sy n="64" d="100"/>
        </p:scale>
        <p:origin x="756"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ica Aloi Rodriguez" userId="1fdb1b46-f6a3-4e1f-970c-8ca1e3dce219" providerId="ADAL" clId="{35D2D8C8-F9F6-416E-AF7E-9D03E042F21F}"/>
    <pc:docChg chg="modSld">
      <pc:chgData name="Jessica Aloi Rodriguez" userId="1fdb1b46-f6a3-4e1f-970c-8ca1e3dce219" providerId="ADAL" clId="{35D2D8C8-F9F6-416E-AF7E-9D03E042F21F}" dt="2024-07-17T22:50:40.213" v="1" actId="20577"/>
      <pc:docMkLst>
        <pc:docMk/>
      </pc:docMkLst>
      <pc:sldChg chg="modSp">
        <pc:chgData name="Jessica Aloi Rodriguez" userId="1fdb1b46-f6a3-4e1f-970c-8ca1e3dce219" providerId="ADAL" clId="{35D2D8C8-F9F6-416E-AF7E-9D03E042F21F}" dt="2024-07-17T22:50:40.213" v="1" actId="20577"/>
        <pc:sldMkLst>
          <pc:docMk/>
          <pc:sldMk cId="447928617" sldId="491"/>
        </pc:sldMkLst>
        <pc:spChg chg="mod">
          <ac:chgData name="Jessica Aloi Rodriguez" userId="1fdb1b46-f6a3-4e1f-970c-8ca1e3dce219" providerId="ADAL" clId="{35D2D8C8-F9F6-416E-AF7E-9D03E042F21F}" dt="2024-07-17T22:50:40.213" v="1" actId="20577"/>
          <ac:spMkLst>
            <pc:docMk/>
            <pc:sldMk cId="447928617" sldId="491"/>
            <ac:spMk id="2" creationId="{AE545717-1E68-644D-327B-804C14E49689}"/>
          </ac:spMkLst>
        </pc:spChg>
      </pc:sldChg>
    </pc:docChg>
  </pc:docChgLst>
  <pc:docChgLst>
    <pc:chgData name="Jessica Aloi Rodriguez" userId="1fdb1b46-f6a3-4e1f-970c-8ca1e3dce219" providerId="ADAL" clId="{1DA39157-D83E-47B9-952B-1EC17591DAC4}"/>
    <pc:docChg chg="undo redo custSel addSld delSld modSld sldOrd">
      <pc:chgData name="Jessica Aloi Rodriguez" userId="1fdb1b46-f6a3-4e1f-970c-8ca1e3dce219" providerId="ADAL" clId="{1DA39157-D83E-47B9-952B-1EC17591DAC4}" dt="2024-07-17T17:34:35.084" v="3115" actId="47"/>
      <pc:docMkLst>
        <pc:docMk/>
      </pc:docMkLst>
      <pc:sldChg chg="modSp mod">
        <pc:chgData name="Jessica Aloi Rodriguez" userId="1fdb1b46-f6a3-4e1f-970c-8ca1e3dce219" providerId="ADAL" clId="{1DA39157-D83E-47B9-952B-1EC17591DAC4}" dt="2024-07-15T17:00:18.909" v="60" actId="20577"/>
        <pc:sldMkLst>
          <pc:docMk/>
          <pc:sldMk cId="1481867651" sldId="258"/>
        </pc:sldMkLst>
        <pc:spChg chg="mod">
          <ac:chgData name="Jessica Aloi Rodriguez" userId="1fdb1b46-f6a3-4e1f-970c-8ca1e3dce219" providerId="ADAL" clId="{1DA39157-D83E-47B9-952B-1EC17591DAC4}" dt="2024-07-15T17:00:18.909" v="60" actId="20577"/>
          <ac:spMkLst>
            <pc:docMk/>
            <pc:sldMk cId="1481867651" sldId="258"/>
            <ac:spMk id="3" creationId="{1D9DF532-AADA-2DDE-ED2D-E339659E213C}"/>
          </ac:spMkLst>
        </pc:spChg>
      </pc:sldChg>
      <pc:sldChg chg="modSp mod">
        <pc:chgData name="Jessica Aloi Rodriguez" userId="1fdb1b46-f6a3-4e1f-970c-8ca1e3dce219" providerId="ADAL" clId="{1DA39157-D83E-47B9-952B-1EC17591DAC4}" dt="2024-07-15T16:59:39.424" v="31" actId="20577"/>
        <pc:sldMkLst>
          <pc:docMk/>
          <pc:sldMk cId="2549507071" sldId="423"/>
        </pc:sldMkLst>
        <pc:spChg chg="mod">
          <ac:chgData name="Jessica Aloi Rodriguez" userId="1fdb1b46-f6a3-4e1f-970c-8ca1e3dce219" providerId="ADAL" clId="{1DA39157-D83E-47B9-952B-1EC17591DAC4}" dt="2024-07-15T16:59:39.424" v="31" actId="20577"/>
          <ac:spMkLst>
            <pc:docMk/>
            <pc:sldMk cId="2549507071" sldId="423"/>
            <ac:spMk id="2" creationId="{E8584618-1E64-4BB6-1FBB-D5F8F1F99936}"/>
          </ac:spMkLst>
        </pc:spChg>
      </pc:sldChg>
      <pc:sldChg chg="addSp delSp modSp mod">
        <pc:chgData name="Jessica Aloi Rodriguez" userId="1fdb1b46-f6a3-4e1f-970c-8ca1e3dce219" providerId="ADAL" clId="{1DA39157-D83E-47B9-952B-1EC17591DAC4}" dt="2024-07-15T16:59:50.165" v="33"/>
        <pc:sldMkLst>
          <pc:docMk/>
          <pc:sldMk cId="1408453391" sldId="456"/>
        </pc:sldMkLst>
        <pc:spChg chg="del">
          <ac:chgData name="Jessica Aloi Rodriguez" userId="1fdb1b46-f6a3-4e1f-970c-8ca1e3dce219" providerId="ADAL" clId="{1DA39157-D83E-47B9-952B-1EC17591DAC4}" dt="2024-07-15T16:59:49.590" v="32" actId="478"/>
          <ac:spMkLst>
            <pc:docMk/>
            <pc:sldMk cId="1408453391" sldId="456"/>
            <ac:spMk id="2" creationId="{AE545717-1E68-644D-327B-804C14E49689}"/>
          </ac:spMkLst>
        </pc:spChg>
        <pc:spChg chg="add mod">
          <ac:chgData name="Jessica Aloi Rodriguez" userId="1fdb1b46-f6a3-4e1f-970c-8ca1e3dce219" providerId="ADAL" clId="{1DA39157-D83E-47B9-952B-1EC17591DAC4}" dt="2024-07-15T16:59:50.165" v="33"/>
          <ac:spMkLst>
            <pc:docMk/>
            <pc:sldMk cId="1408453391" sldId="456"/>
            <ac:spMk id="3" creationId="{FC67AAE0-DE31-E221-9028-36CC771882C9}"/>
          </ac:spMkLst>
        </pc:spChg>
      </pc:sldChg>
      <pc:sldChg chg="modSp mod">
        <pc:chgData name="Jessica Aloi Rodriguez" userId="1fdb1b46-f6a3-4e1f-970c-8ca1e3dce219" providerId="ADAL" clId="{1DA39157-D83E-47B9-952B-1EC17591DAC4}" dt="2024-07-15T20:33:13.403" v="1560" actId="20577"/>
        <pc:sldMkLst>
          <pc:docMk/>
          <pc:sldMk cId="4252641500" sldId="460"/>
        </pc:sldMkLst>
        <pc:spChg chg="mod">
          <ac:chgData name="Jessica Aloi Rodriguez" userId="1fdb1b46-f6a3-4e1f-970c-8ca1e3dce219" providerId="ADAL" clId="{1DA39157-D83E-47B9-952B-1EC17591DAC4}" dt="2024-07-15T20:33:13.403" v="1560" actId="20577"/>
          <ac:spMkLst>
            <pc:docMk/>
            <pc:sldMk cId="4252641500" sldId="460"/>
            <ac:spMk id="2" creationId="{AE545717-1E68-644D-327B-804C14E49689}"/>
          </ac:spMkLst>
        </pc:spChg>
      </pc:sldChg>
      <pc:sldChg chg="modSp mod">
        <pc:chgData name="Jessica Aloi Rodriguez" userId="1fdb1b46-f6a3-4e1f-970c-8ca1e3dce219" providerId="ADAL" clId="{1DA39157-D83E-47B9-952B-1EC17591DAC4}" dt="2024-07-15T17:04:31.842" v="129" actId="20577"/>
        <pc:sldMkLst>
          <pc:docMk/>
          <pc:sldMk cId="191642369" sldId="461"/>
        </pc:sldMkLst>
        <pc:spChg chg="mod">
          <ac:chgData name="Jessica Aloi Rodriguez" userId="1fdb1b46-f6a3-4e1f-970c-8ca1e3dce219" providerId="ADAL" clId="{1DA39157-D83E-47B9-952B-1EC17591DAC4}" dt="2024-07-15T17:04:31.842" v="129" actId="20577"/>
          <ac:spMkLst>
            <pc:docMk/>
            <pc:sldMk cId="191642369" sldId="461"/>
            <ac:spMk id="2" creationId="{AE545717-1E68-644D-327B-804C14E49689}"/>
          </ac:spMkLst>
        </pc:spChg>
      </pc:sldChg>
      <pc:sldChg chg="del">
        <pc:chgData name="Jessica Aloi Rodriguez" userId="1fdb1b46-f6a3-4e1f-970c-8ca1e3dce219" providerId="ADAL" clId="{1DA39157-D83E-47B9-952B-1EC17591DAC4}" dt="2024-07-15T17:00:10.659" v="56" actId="47"/>
        <pc:sldMkLst>
          <pc:docMk/>
          <pc:sldMk cId="1245463443" sldId="464"/>
        </pc:sldMkLst>
      </pc:sldChg>
      <pc:sldChg chg="del">
        <pc:chgData name="Jessica Aloi Rodriguez" userId="1fdb1b46-f6a3-4e1f-970c-8ca1e3dce219" providerId="ADAL" clId="{1DA39157-D83E-47B9-952B-1EC17591DAC4}" dt="2024-07-15T17:00:08.961" v="53" actId="47"/>
        <pc:sldMkLst>
          <pc:docMk/>
          <pc:sldMk cId="1184709136" sldId="465"/>
        </pc:sldMkLst>
      </pc:sldChg>
      <pc:sldChg chg="del">
        <pc:chgData name="Jessica Aloi Rodriguez" userId="1fdb1b46-f6a3-4e1f-970c-8ca1e3dce219" providerId="ADAL" clId="{1DA39157-D83E-47B9-952B-1EC17591DAC4}" dt="2024-07-15T17:00:08.002" v="51" actId="47"/>
        <pc:sldMkLst>
          <pc:docMk/>
          <pc:sldMk cId="2393578314" sldId="466"/>
        </pc:sldMkLst>
      </pc:sldChg>
      <pc:sldChg chg="del">
        <pc:chgData name="Jessica Aloi Rodriguez" userId="1fdb1b46-f6a3-4e1f-970c-8ca1e3dce219" providerId="ADAL" clId="{1DA39157-D83E-47B9-952B-1EC17591DAC4}" dt="2024-07-15T17:00:08.333" v="52" actId="47"/>
        <pc:sldMkLst>
          <pc:docMk/>
          <pc:sldMk cId="2605126667" sldId="467"/>
        </pc:sldMkLst>
      </pc:sldChg>
      <pc:sldChg chg="del">
        <pc:chgData name="Jessica Aloi Rodriguez" userId="1fdb1b46-f6a3-4e1f-970c-8ca1e3dce219" providerId="ADAL" clId="{1DA39157-D83E-47B9-952B-1EC17591DAC4}" dt="2024-07-15T17:00:07.577" v="50" actId="47"/>
        <pc:sldMkLst>
          <pc:docMk/>
          <pc:sldMk cId="3802976791" sldId="469"/>
        </pc:sldMkLst>
      </pc:sldChg>
      <pc:sldChg chg="del">
        <pc:chgData name="Jessica Aloi Rodriguez" userId="1fdb1b46-f6a3-4e1f-970c-8ca1e3dce219" providerId="ADAL" clId="{1DA39157-D83E-47B9-952B-1EC17591DAC4}" dt="2024-07-15T17:00:07.184" v="49" actId="47"/>
        <pc:sldMkLst>
          <pc:docMk/>
          <pc:sldMk cId="2961830716" sldId="470"/>
        </pc:sldMkLst>
      </pc:sldChg>
      <pc:sldChg chg="del">
        <pc:chgData name="Jessica Aloi Rodriguez" userId="1fdb1b46-f6a3-4e1f-970c-8ca1e3dce219" providerId="ADAL" clId="{1DA39157-D83E-47B9-952B-1EC17591DAC4}" dt="2024-07-15T17:00:05.993" v="46" actId="47"/>
        <pc:sldMkLst>
          <pc:docMk/>
          <pc:sldMk cId="2444069030" sldId="471"/>
        </pc:sldMkLst>
      </pc:sldChg>
      <pc:sldChg chg="del">
        <pc:chgData name="Jessica Aloi Rodriguez" userId="1fdb1b46-f6a3-4e1f-970c-8ca1e3dce219" providerId="ADAL" clId="{1DA39157-D83E-47B9-952B-1EC17591DAC4}" dt="2024-07-15T17:00:06.775" v="48" actId="47"/>
        <pc:sldMkLst>
          <pc:docMk/>
          <pc:sldMk cId="2013875239" sldId="472"/>
        </pc:sldMkLst>
      </pc:sldChg>
      <pc:sldChg chg="del">
        <pc:chgData name="Jessica Aloi Rodriguez" userId="1fdb1b46-f6a3-4e1f-970c-8ca1e3dce219" providerId="ADAL" clId="{1DA39157-D83E-47B9-952B-1EC17591DAC4}" dt="2024-07-15T17:00:06.287" v="47" actId="47"/>
        <pc:sldMkLst>
          <pc:docMk/>
          <pc:sldMk cId="166339007" sldId="473"/>
        </pc:sldMkLst>
      </pc:sldChg>
      <pc:sldChg chg="del">
        <pc:chgData name="Jessica Aloi Rodriguez" userId="1fdb1b46-f6a3-4e1f-970c-8ca1e3dce219" providerId="ADAL" clId="{1DA39157-D83E-47B9-952B-1EC17591DAC4}" dt="2024-07-15T17:00:04.005" v="45" actId="47"/>
        <pc:sldMkLst>
          <pc:docMk/>
          <pc:sldMk cId="2109171855" sldId="474"/>
        </pc:sldMkLst>
      </pc:sldChg>
      <pc:sldChg chg="addSp modSp mod">
        <pc:chgData name="Jessica Aloi Rodriguez" userId="1fdb1b46-f6a3-4e1f-970c-8ca1e3dce219" providerId="ADAL" clId="{1DA39157-D83E-47B9-952B-1EC17591DAC4}" dt="2024-07-15T19:41:27.589" v="710" actId="113"/>
        <pc:sldMkLst>
          <pc:docMk/>
          <pc:sldMk cId="1077781580" sldId="475"/>
        </pc:sldMkLst>
        <pc:spChg chg="mod">
          <ac:chgData name="Jessica Aloi Rodriguez" userId="1fdb1b46-f6a3-4e1f-970c-8ca1e3dce219" providerId="ADAL" clId="{1DA39157-D83E-47B9-952B-1EC17591DAC4}" dt="2024-07-15T19:41:27.589" v="710" actId="113"/>
          <ac:spMkLst>
            <pc:docMk/>
            <pc:sldMk cId="1077781580" sldId="475"/>
            <ac:spMk id="2" creationId="{AE545717-1E68-644D-327B-804C14E49689}"/>
          </ac:spMkLst>
        </pc:spChg>
        <pc:spChg chg="mod">
          <ac:chgData name="Jessica Aloi Rodriguez" userId="1fdb1b46-f6a3-4e1f-970c-8ca1e3dce219" providerId="ADAL" clId="{1DA39157-D83E-47B9-952B-1EC17591DAC4}" dt="2024-07-15T17:04:58.189" v="162" actId="20577"/>
          <ac:spMkLst>
            <pc:docMk/>
            <pc:sldMk cId="1077781580" sldId="475"/>
            <ac:spMk id="7" creationId="{E3B88604-D5C1-DD5C-0309-B0D54367BCA1}"/>
          </ac:spMkLst>
        </pc:spChg>
        <pc:picChg chg="add mod">
          <ac:chgData name="Jessica Aloi Rodriguez" userId="1fdb1b46-f6a3-4e1f-970c-8ca1e3dce219" providerId="ADAL" clId="{1DA39157-D83E-47B9-952B-1EC17591DAC4}" dt="2024-07-15T17:10:22.845" v="203" actId="1076"/>
          <ac:picMkLst>
            <pc:docMk/>
            <pc:sldMk cId="1077781580" sldId="475"/>
            <ac:picMk id="4" creationId="{832BB240-7709-AE7A-6E85-B4D4065D2681}"/>
          </ac:picMkLst>
        </pc:picChg>
      </pc:sldChg>
      <pc:sldChg chg="addSp modSp add mod">
        <pc:chgData name="Jessica Aloi Rodriguez" userId="1fdb1b46-f6a3-4e1f-970c-8ca1e3dce219" providerId="ADAL" clId="{1DA39157-D83E-47B9-952B-1EC17591DAC4}" dt="2024-07-15T19:56:00.386" v="854" actId="1076"/>
        <pc:sldMkLst>
          <pc:docMk/>
          <pc:sldMk cId="538709233" sldId="476"/>
        </pc:sldMkLst>
        <pc:spChg chg="mod">
          <ac:chgData name="Jessica Aloi Rodriguez" userId="1fdb1b46-f6a3-4e1f-970c-8ca1e3dce219" providerId="ADAL" clId="{1DA39157-D83E-47B9-952B-1EC17591DAC4}" dt="2024-07-15T19:56:00.386" v="854" actId="1076"/>
          <ac:spMkLst>
            <pc:docMk/>
            <pc:sldMk cId="538709233" sldId="476"/>
            <ac:spMk id="2" creationId="{AE545717-1E68-644D-327B-804C14E49689}"/>
          </ac:spMkLst>
        </pc:spChg>
        <pc:spChg chg="mod">
          <ac:chgData name="Jessica Aloi Rodriguez" userId="1fdb1b46-f6a3-4e1f-970c-8ca1e3dce219" providerId="ADAL" clId="{1DA39157-D83E-47B9-952B-1EC17591DAC4}" dt="2024-07-15T17:37:10.898" v="640"/>
          <ac:spMkLst>
            <pc:docMk/>
            <pc:sldMk cId="538709233" sldId="476"/>
            <ac:spMk id="7" creationId="{E3B88604-D5C1-DD5C-0309-B0D54367BCA1}"/>
          </ac:spMkLst>
        </pc:spChg>
        <pc:picChg chg="add mod">
          <ac:chgData name="Jessica Aloi Rodriguez" userId="1fdb1b46-f6a3-4e1f-970c-8ca1e3dce219" providerId="ADAL" clId="{1DA39157-D83E-47B9-952B-1EC17591DAC4}" dt="2024-07-15T17:37:30.496" v="643"/>
          <ac:picMkLst>
            <pc:docMk/>
            <pc:sldMk cId="538709233" sldId="476"/>
            <ac:picMk id="3" creationId="{1FA77880-5965-22CF-595F-DC355ADB4DFD}"/>
          </ac:picMkLst>
        </pc:picChg>
      </pc:sldChg>
      <pc:sldChg chg="del">
        <pc:chgData name="Jessica Aloi Rodriguez" userId="1fdb1b46-f6a3-4e1f-970c-8ca1e3dce219" providerId="ADAL" clId="{1DA39157-D83E-47B9-952B-1EC17591DAC4}" dt="2024-07-15T17:00:09.480" v="54" actId="47"/>
        <pc:sldMkLst>
          <pc:docMk/>
          <pc:sldMk cId="2254126890" sldId="476"/>
        </pc:sldMkLst>
      </pc:sldChg>
      <pc:sldChg chg="del">
        <pc:chgData name="Jessica Aloi Rodriguez" userId="1fdb1b46-f6a3-4e1f-970c-8ca1e3dce219" providerId="ADAL" clId="{1DA39157-D83E-47B9-952B-1EC17591DAC4}" dt="2024-07-15T17:00:10.102" v="55" actId="47"/>
        <pc:sldMkLst>
          <pc:docMk/>
          <pc:sldMk cId="716603183" sldId="477"/>
        </pc:sldMkLst>
      </pc:sldChg>
      <pc:sldChg chg="addSp modSp add mod">
        <pc:chgData name="Jessica Aloi Rodriguez" userId="1fdb1b46-f6a3-4e1f-970c-8ca1e3dce219" providerId="ADAL" clId="{1DA39157-D83E-47B9-952B-1EC17591DAC4}" dt="2024-07-15T17:35:18.773" v="639" actId="1076"/>
        <pc:sldMkLst>
          <pc:docMk/>
          <pc:sldMk cId="1544291911" sldId="477"/>
        </pc:sldMkLst>
        <pc:spChg chg="mod">
          <ac:chgData name="Jessica Aloi Rodriguez" userId="1fdb1b46-f6a3-4e1f-970c-8ca1e3dce219" providerId="ADAL" clId="{1DA39157-D83E-47B9-952B-1EC17591DAC4}" dt="2024-07-15T17:34:58.188" v="637" actId="113"/>
          <ac:spMkLst>
            <pc:docMk/>
            <pc:sldMk cId="1544291911" sldId="477"/>
            <ac:spMk id="2" creationId="{AE545717-1E68-644D-327B-804C14E49689}"/>
          </ac:spMkLst>
        </pc:spChg>
        <pc:spChg chg="mod">
          <ac:chgData name="Jessica Aloi Rodriguez" userId="1fdb1b46-f6a3-4e1f-970c-8ca1e3dce219" providerId="ADAL" clId="{1DA39157-D83E-47B9-952B-1EC17591DAC4}" dt="2024-07-15T17:27:50.748" v="588"/>
          <ac:spMkLst>
            <pc:docMk/>
            <pc:sldMk cId="1544291911" sldId="477"/>
            <ac:spMk id="7" creationId="{E3B88604-D5C1-DD5C-0309-B0D54367BCA1}"/>
          </ac:spMkLst>
        </pc:spChg>
        <pc:picChg chg="add mod">
          <ac:chgData name="Jessica Aloi Rodriguez" userId="1fdb1b46-f6a3-4e1f-970c-8ca1e3dce219" providerId="ADAL" clId="{1DA39157-D83E-47B9-952B-1EC17591DAC4}" dt="2024-07-15T17:32:56.204" v="599"/>
          <ac:picMkLst>
            <pc:docMk/>
            <pc:sldMk cId="1544291911" sldId="477"/>
            <ac:picMk id="3" creationId="{1331E683-4B89-C3B1-D287-DD9087C38793}"/>
          </ac:picMkLst>
        </pc:picChg>
        <pc:picChg chg="add mod">
          <ac:chgData name="Jessica Aloi Rodriguez" userId="1fdb1b46-f6a3-4e1f-970c-8ca1e3dce219" providerId="ADAL" clId="{1DA39157-D83E-47B9-952B-1EC17591DAC4}" dt="2024-07-15T17:35:18.773" v="639" actId="1076"/>
          <ac:picMkLst>
            <pc:docMk/>
            <pc:sldMk cId="1544291911" sldId="477"/>
            <ac:picMk id="5" creationId="{0375AD5A-F938-97CA-9071-703A0DB0C7CD}"/>
          </ac:picMkLst>
        </pc:picChg>
      </pc:sldChg>
      <pc:sldChg chg="addSp delSp modSp add mod delAnim modAnim">
        <pc:chgData name="Jessica Aloi Rodriguez" userId="1fdb1b46-f6a3-4e1f-970c-8ca1e3dce219" providerId="ADAL" clId="{1DA39157-D83E-47B9-952B-1EC17591DAC4}" dt="2024-07-15T17:32:44.412" v="598" actId="478"/>
        <pc:sldMkLst>
          <pc:docMk/>
          <pc:sldMk cId="3197059820" sldId="478"/>
        </pc:sldMkLst>
        <pc:spChg chg="mod">
          <ac:chgData name="Jessica Aloi Rodriguez" userId="1fdb1b46-f6a3-4e1f-970c-8ca1e3dce219" providerId="ADAL" clId="{1DA39157-D83E-47B9-952B-1EC17591DAC4}" dt="2024-07-15T17:23:09.552" v="484" actId="20577"/>
          <ac:spMkLst>
            <pc:docMk/>
            <pc:sldMk cId="3197059820" sldId="478"/>
            <ac:spMk id="2" creationId="{AE545717-1E68-644D-327B-804C14E49689}"/>
          </ac:spMkLst>
        </pc:spChg>
        <pc:spChg chg="mod">
          <ac:chgData name="Jessica Aloi Rodriguez" userId="1fdb1b46-f6a3-4e1f-970c-8ca1e3dce219" providerId="ADAL" clId="{1DA39157-D83E-47B9-952B-1EC17591DAC4}" dt="2024-07-15T17:13:21.995" v="268"/>
          <ac:spMkLst>
            <pc:docMk/>
            <pc:sldMk cId="3197059820" sldId="478"/>
            <ac:spMk id="7" creationId="{E3B88604-D5C1-DD5C-0309-B0D54367BCA1}"/>
          </ac:spMkLst>
        </pc:spChg>
        <pc:spChg chg="add del mod">
          <ac:chgData name="Jessica Aloi Rodriguez" userId="1fdb1b46-f6a3-4e1f-970c-8ca1e3dce219" providerId="ADAL" clId="{1DA39157-D83E-47B9-952B-1EC17591DAC4}" dt="2024-07-15T17:32:44.412" v="598" actId="478"/>
          <ac:spMkLst>
            <pc:docMk/>
            <pc:sldMk cId="3197059820" sldId="478"/>
            <ac:spMk id="13" creationId="{C45CD56D-860F-D6AA-5E04-F70063E93036}"/>
          </ac:spMkLst>
        </pc:spChg>
        <pc:picChg chg="add mod modCrop">
          <ac:chgData name="Jessica Aloi Rodriguez" userId="1fdb1b46-f6a3-4e1f-970c-8ca1e3dce219" providerId="ADAL" clId="{1DA39157-D83E-47B9-952B-1EC17591DAC4}" dt="2024-07-15T17:23:52.781" v="488" actId="1076"/>
          <ac:picMkLst>
            <pc:docMk/>
            <pc:sldMk cId="3197059820" sldId="478"/>
            <ac:picMk id="4" creationId="{7A12603F-E079-CDC0-CCE5-A49D8D405803}"/>
          </ac:picMkLst>
        </pc:picChg>
        <pc:cxnChg chg="add del mod">
          <ac:chgData name="Jessica Aloi Rodriguez" userId="1fdb1b46-f6a3-4e1f-970c-8ca1e3dce219" providerId="ADAL" clId="{1DA39157-D83E-47B9-952B-1EC17591DAC4}" dt="2024-07-15T17:32:41.438" v="597" actId="478"/>
          <ac:cxnSpMkLst>
            <pc:docMk/>
            <pc:sldMk cId="3197059820" sldId="478"/>
            <ac:cxnSpMk id="9" creationId="{EBBAEE62-2A96-B851-A1C1-5BF9075A63DC}"/>
          </ac:cxnSpMkLst>
        </pc:cxnChg>
      </pc:sldChg>
      <pc:sldChg chg="addSp delSp modSp add mod delDesignElem chgLayout">
        <pc:chgData name="Jessica Aloi Rodriguez" userId="1fdb1b46-f6a3-4e1f-970c-8ca1e3dce219" providerId="ADAL" clId="{1DA39157-D83E-47B9-952B-1EC17591DAC4}" dt="2024-07-15T20:10:13.658" v="1186" actId="113"/>
        <pc:sldMkLst>
          <pc:docMk/>
          <pc:sldMk cId="370553814" sldId="479"/>
        </pc:sldMkLst>
        <pc:spChg chg="mod">
          <ac:chgData name="Jessica Aloi Rodriguez" userId="1fdb1b46-f6a3-4e1f-970c-8ca1e3dce219" providerId="ADAL" clId="{1DA39157-D83E-47B9-952B-1EC17591DAC4}" dt="2024-07-15T20:10:13.658" v="1186" actId="113"/>
          <ac:spMkLst>
            <pc:docMk/>
            <pc:sldMk cId="370553814" sldId="479"/>
            <ac:spMk id="2" creationId="{AE545717-1E68-644D-327B-804C14E49689}"/>
          </ac:spMkLst>
        </pc:spChg>
        <pc:spChg chg="mod ord">
          <ac:chgData name="Jessica Aloi Rodriguez" userId="1fdb1b46-f6a3-4e1f-970c-8ca1e3dce219" providerId="ADAL" clId="{1DA39157-D83E-47B9-952B-1EC17591DAC4}" dt="2024-07-15T20:09:25.478" v="1166" actId="20577"/>
          <ac:spMkLst>
            <pc:docMk/>
            <pc:sldMk cId="370553814" sldId="479"/>
            <ac:spMk id="7" creationId="{E3B88604-D5C1-DD5C-0309-B0D54367BCA1}"/>
          </ac:spMkLst>
        </pc:spChg>
        <pc:spChg chg="add del">
          <ac:chgData name="Jessica Aloi Rodriguez" userId="1fdb1b46-f6a3-4e1f-970c-8ca1e3dce219" providerId="ADAL" clId="{1DA39157-D83E-47B9-952B-1EC17591DAC4}" dt="2024-07-15T17:31:18.198" v="596" actId="700"/>
          <ac:spMkLst>
            <pc:docMk/>
            <pc:sldMk cId="370553814" sldId="479"/>
            <ac:spMk id="8" creationId="{CB972422-B794-4FA8-BCC6-BAF6938A1B53}"/>
          </ac:spMkLst>
        </pc:spChg>
        <pc:spChg chg="add del">
          <ac:chgData name="Jessica Aloi Rodriguez" userId="1fdb1b46-f6a3-4e1f-970c-8ca1e3dce219" providerId="ADAL" clId="{1DA39157-D83E-47B9-952B-1EC17591DAC4}" dt="2024-07-15T17:31:18.198" v="596" actId="700"/>
          <ac:spMkLst>
            <pc:docMk/>
            <pc:sldMk cId="370553814" sldId="479"/>
            <ac:spMk id="10" creationId="{89DE9E2B-5611-49C8-862E-AD4D43A8AA6D}"/>
          </ac:spMkLst>
        </pc:spChg>
        <pc:spChg chg="add del">
          <ac:chgData name="Jessica Aloi Rodriguez" userId="1fdb1b46-f6a3-4e1f-970c-8ca1e3dce219" providerId="ADAL" clId="{1DA39157-D83E-47B9-952B-1EC17591DAC4}" dt="2024-07-15T17:31:18.198" v="596" actId="700"/>
          <ac:spMkLst>
            <pc:docMk/>
            <pc:sldMk cId="370553814" sldId="479"/>
            <ac:spMk id="14" creationId="{519C7155-1644-4C60-B0B5-32B1800D6044}"/>
          </ac:spMkLst>
        </pc:spChg>
        <pc:cxnChg chg="add del">
          <ac:chgData name="Jessica Aloi Rodriguez" userId="1fdb1b46-f6a3-4e1f-970c-8ca1e3dce219" providerId="ADAL" clId="{1DA39157-D83E-47B9-952B-1EC17591DAC4}" dt="2024-07-15T17:31:18.198" v="596" actId="700"/>
          <ac:cxnSpMkLst>
            <pc:docMk/>
            <pc:sldMk cId="370553814" sldId="479"/>
            <ac:cxnSpMk id="12" creationId="{5296EC4F-8732-481B-94CB-C98E4EF297FF}"/>
          </ac:cxnSpMkLst>
        </pc:cxnChg>
      </pc:sldChg>
      <pc:sldChg chg="add del">
        <pc:chgData name="Jessica Aloi Rodriguez" userId="1fdb1b46-f6a3-4e1f-970c-8ca1e3dce219" providerId="ADAL" clId="{1DA39157-D83E-47B9-952B-1EC17591DAC4}" dt="2024-07-15T17:04:40.206" v="130" actId="47"/>
        <pc:sldMkLst>
          <pc:docMk/>
          <pc:sldMk cId="743532266" sldId="479"/>
        </pc:sldMkLst>
      </pc:sldChg>
      <pc:sldChg chg="modSp add mod ord">
        <pc:chgData name="Jessica Aloi Rodriguez" userId="1fdb1b46-f6a3-4e1f-970c-8ca1e3dce219" providerId="ADAL" clId="{1DA39157-D83E-47B9-952B-1EC17591DAC4}" dt="2024-07-16T20:38:58.173" v="2172"/>
        <pc:sldMkLst>
          <pc:docMk/>
          <pc:sldMk cId="1273690028" sldId="480"/>
        </pc:sldMkLst>
        <pc:spChg chg="mod">
          <ac:chgData name="Jessica Aloi Rodriguez" userId="1fdb1b46-f6a3-4e1f-970c-8ca1e3dce219" providerId="ADAL" clId="{1DA39157-D83E-47B9-952B-1EC17591DAC4}" dt="2024-07-16T20:26:06.649" v="1875" actId="113"/>
          <ac:spMkLst>
            <pc:docMk/>
            <pc:sldMk cId="1273690028" sldId="480"/>
            <ac:spMk id="2" creationId="{AE545717-1E68-644D-327B-804C14E49689}"/>
          </ac:spMkLst>
        </pc:spChg>
        <pc:spChg chg="mod">
          <ac:chgData name="Jessica Aloi Rodriguez" userId="1fdb1b46-f6a3-4e1f-970c-8ca1e3dce219" providerId="ADAL" clId="{1DA39157-D83E-47B9-952B-1EC17591DAC4}" dt="2024-07-15T20:07:17.487" v="1123" actId="207"/>
          <ac:spMkLst>
            <pc:docMk/>
            <pc:sldMk cId="1273690028" sldId="480"/>
            <ac:spMk id="7" creationId="{E3B88604-D5C1-DD5C-0309-B0D54367BCA1}"/>
          </ac:spMkLst>
        </pc:spChg>
      </pc:sldChg>
      <pc:sldChg chg="modSp add mod">
        <pc:chgData name="Jessica Aloi Rodriguez" userId="1fdb1b46-f6a3-4e1f-970c-8ca1e3dce219" providerId="ADAL" clId="{1DA39157-D83E-47B9-952B-1EC17591DAC4}" dt="2024-07-15T20:03:00.141" v="1064" actId="255"/>
        <pc:sldMkLst>
          <pc:docMk/>
          <pc:sldMk cId="4110639606" sldId="481"/>
        </pc:sldMkLst>
        <pc:spChg chg="mod">
          <ac:chgData name="Jessica Aloi Rodriguez" userId="1fdb1b46-f6a3-4e1f-970c-8ca1e3dce219" providerId="ADAL" clId="{1DA39157-D83E-47B9-952B-1EC17591DAC4}" dt="2024-07-15T20:03:00.141" v="1064" actId="255"/>
          <ac:spMkLst>
            <pc:docMk/>
            <pc:sldMk cId="4110639606" sldId="481"/>
            <ac:spMk id="2" creationId="{AE545717-1E68-644D-327B-804C14E49689}"/>
          </ac:spMkLst>
        </pc:spChg>
        <pc:spChg chg="mod">
          <ac:chgData name="Jessica Aloi Rodriguez" userId="1fdb1b46-f6a3-4e1f-970c-8ca1e3dce219" providerId="ADAL" clId="{1DA39157-D83E-47B9-952B-1EC17591DAC4}" dt="2024-07-15T19:59:54.705" v="962"/>
          <ac:spMkLst>
            <pc:docMk/>
            <pc:sldMk cId="4110639606" sldId="481"/>
            <ac:spMk id="7" creationId="{E3B88604-D5C1-DD5C-0309-B0D54367BCA1}"/>
          </ac:spMkLst>
        </pc:spChg>
      </pc:sldChg>
      <pc:sldChg chg="addSp delSp modSp add mod">
        <pc:chgData name="Jessica Aloi Rodriguez" userId="1fdb1b46-f6a3-4e1f-970c-8ca1e3dce219" providerId="ADAL" clId="{1DA39157-D83E-47B9-952B-1EC17591DAC4}" dt="2024-07-15T19:59:24.547" v="960" actId="114"/>
        <pc:sldMkLst>
          <pc:docMk/>
          <pc:sldMk cId="1797124860" sldId="482"/>
        </pc:sldMkLst>
        <pc:spChg chg="mod">
          <ac:chgData name="Jessica Aloi Rodriguez" userId="1fdb1b46-f6a3-4e1f-970c-8ca1e3dce219" providerId="ADAL" clId="{1DA39157-D83E-47B9-952B-1EC17591DAC4}" dt="2024-07-15T19:59:24.547" v="960" actId="114"/>
          <ac:spMkLst>
            <pc:docMk/>
            <pc:sldMk cId="1797124860" sldId="482"/>
            <ac:spMk id="2" creationId="{AE545717-1E68-644D-327B-804C14E49689}"/>
          </ac:spMkLst>
        </pc:spChg>
        <pc:spChg chg="mod">
          <ac:chgData name="Jessica Aloi Rodriguez" userId="1fdb1b46-f6a3-4e1f-970c-8ca1e3dce219" providerId="ADAL" clId="{1DA39157-D83E-47B9-952B-1EC17591DAC4}" dt="2024-07-15T19:56:33.006" v="898" actId="20577"/>
          <ac:spMkLst>
            <pc:docMk/>
            <pc:sldMk cId="1797124860" sldId="482"/>
            <ac:spMk id="7" creationId="{E3B88604-D5C1-DD5C-0309-B0D54367BCA1}"/>
          </ac:spMkLst>
        </pc:spChg>
        <pc:picChg chg="add del mod">
          <ac:chgData name="Jessica Aloi Rodriguez" userId="1fdb1b46-f6a3-4e1f-970c-8ca1e3dce219" providerId="ADAL" clId="{1DA39157-D83E-47B9-952B-1EC17591DAC4}" dt="2024-07-15T19:56:04.351" v="855" actId="478"/>
          <ac:picMkLst>
            <pc:docMk/>
            <pc:sldMk cId="1797124860" sldId="482"/>
            <ac:picMk id="3" creationId="{C3E9A17A-CA7D-BE3C-934E-A4CB318BE523}"/>
          </ac:picMkLst>
        </pc:picChg>
      </pc:sldChg>
      <pc:sldChg chg="modSp add mod">
        <pc:chgData name="Jessica Aloi Rodriguez" userId="1fdb1b46-f6a3-4e1f-970c-8ca1e3dce219" providerId="ADAL" clId="{1DA39157-D83E-47B9-952B-1EC17591DAC4}" dt="2024-07-15T20:30:14.829" v="1461" actId="20577"/>
        <pc:sldMkLst>
          <pc:docMk/>
          <pc:sldMk cId="1851658947" sldId="483"/>
        </pc:sldMkLst>
        <pc:spChg chg="mod">
          <ac:chgData name="Jessica Aloi Rodriguez" userId="1fdb1b46-f6a3-4e1f-970c-8ca1e3dce219" providerId="ADAL" clId="{1DA39157-D83E-47B9-952B-1EC17591DAC4}" dt="2024-07-15T20:30:14.829" v="1461" actId="20577"/>
          <ac:spMkLst>
            <pc:docMk/>
            <pc:sldMk cId="1851658947" sldId="483"/>
            <ac:spMk id="2" creationId="{AE545717-1E68-644D-327B-804C14E49689}"/>
          </ac:spMkLst>
        </pc:spChg>
        <pc:spChg chg="mod">
          <ac:chgData name="Jessica Aloi Rodriguez" userId="1fdb1b46-f6a3-4e1f-970c-8ca1e3dce219" providerId="ADAL" clId="{1DA39157-D83E-47B9-952B-1EC17591DAC4}" dt="2024-07-15T20:27:59.075" v="1421" actId="20577"/>
          <ac:spMkLst>
            <pc:docMk/>
            <pc:sldMk cId="1851658947" sldId="483"/>
            <ac:spMk id="7" creationId="{E3B88604-D5C1-DD5C-0309-B0D54367BCA1}"/>
          </ac:spMkLst>
        </pc:spChg>
      </pc:sldChg>
      <pc:sldChg chg="addSp modSp add mod">
        <pc:chgData name="Jessica Aloi Rodriguez" userId="1fdb1b46-f6a3-4e1f-970c-8ca1e3dce219" providerId="ADAL" clId="{1DA39157-D83E-47B9-952B-1EC17591DAC4}" dt="2024-07-15T20:26:15.801" v="1369" actId="1076"/>
        <pc:sldMkLst>
          <pc:docMk/>
          <pc:sldMk cId="3865554287" sldId="484"/>
        </pc:sldMkLst>
        <pc:spChg chg="mod">
          <ac:chgData name="Jessica Aloi Rodriguez" userId="1fdb1b46-f6a3-4e1f-970c-8ca1e3dce219" providerId="ADAL" clId="{1DA39157-D83E-47B9-952B-1EC17591DAC4}" dt="2024-07-15T20:26:15.801" v="1369" actId="1076"/>
          <ac:spMkLst>
            <pc:docMk/>
            <pc:sldMk cId="3865554287" sldId="484"/>
            <ac:spMk id="2" creationId="{AE545717-1E68-644D-327B-804C14E49689}"/>
          </ac:spMkLst>
        </pc:spChg>
        <pc:spChg chg="mod">
          <ac:chgData name="Jessica Aloi Rodriguez" userId="1fdb1b46-f6a3-4e1f-970c-8ca1e3dce219" providerId="ADAL" clId="{1DA39157-D83E-47B9-952B-1EC17591DAC4}" dt="2024-07-15T20:20:01.161" v="1304" actId="20577"/>
          <ac:spMkLst>
            <pc:docMk/>
            <pc:sldMk cId="3865554287" sldId="484"/>
            <ac:spMk id="7" creationId="{E3B88604-D5C1-DD5C-0309-B0D54367BCA1}"/>
          </ac:spMkLst>
        </pc:spChg>
        <pc:picChg chg="add mod">
          <ac:chgData name="Jessica Aloi Rodriguez" userId="1fdb1b46-f6a3-4e1f-970c-8ca1e3dce219" providerId="ADAL" clId="{1DA39157-D83E-47B9-952B-1EC17591DAC4}" dt="2024-07-15T20:22:40.922" v="1340" actId="1076"/>
          <ac:picMkLst>
            <pc:docMk/>
            <pc:sldMk cId="3865554287" sldId="484"/>
            <ac:picMk id="4" creationId="{222E95F6-D540-A6FC-7F89-C41555064715}"/>
          </ac:picMkLst>
        </pc:picChg>
        <pc:picChg chg="add mod">
          <ac:chgData name="Jessica Aloi Rodriguez" userId="1fdb1b46-f6a3-4e1f-970c-8ca1e3dce219" providerId="ADAL" clId="{1DA39157-D83E-47B9-952B-1EC17591DAC4}" dt="2024-07-15T20:25:13.385" v="1360" actId="1076"/>
          <ac:picMkLst>
            <pc:docMk/>
            <pc:sldMk cId="3865554287" sldId="484"/>
            <ac:picMk id="9" creationId="{1F9AFF07-EA50-7B34-263B-BC9537160884}"/>
          </ac:picMkLst>
        </pc:picChg>
        <pc:picChg chg="add mod">
          <ac:chgData name="Jessica Aloi Rodriguez" userId="1fdb1b46-f6a3-4e1f-970c-8ca1e3dce219" providerId="ADAL" clId="{1DA39157-D83E-47B9-952B-1EC17591DAC4}" dt="2024-07-15T20:25:36.909" v="1362" actId="1076"/>
          <ac:picMkLst>
            <pc:docMk/>
            <pc:sldMk cId="3865554287" sldId="484"/>
            <ac:picMk id="13" creationId="{B2723BB6-61D9-2377-0617-8F1E40CA93EA}"/>
          </ac:picMkLst>
        </pc:picChg>
      </pc:sldChg>
      <pc:sldChg chg="addSp modSp add mod">
        <pc:chgData name="Jessica Aloi Rodriguez" userId="1fdb1b46-f6a3-4e1f-970c-8ca1e3dce219" providerId="ADAL" clId="{1DA39157-D83E-47B9-952B-1EC17591DAC4}" dt="2024-07-15T20:27:11.730" v="1389" actId="1076"/>
        <pc:sldMkLst>
          <pc:docMk/>
          <pc:sldMk cId="1585025682" sldId="485"/>
        </pc:sldMkLst>
        <pc:spChg chg="mod">
          <ac:chgData name="Jessica Aloi Rodriguez" userId="1fdb1b46-f6a3-4e1f-970c-8ca1e3dce219" providerId="ADAL" clId="{1DA39157-D83E-47B9-952B-1EC17591DAC4}" dt="2024-07-15T20:26:50.883" v="1387" actId="20577"/>
          <ac:spMkLst>
            <pc:docMk/>
            <pc:sldMk cId="1585025682" sldId="485"/>
            <ac:spMk id="2" creationId="{AE545717-1E68-644D-327B-804C14E49689}"/>
          </ac:spMkLst>
        </pc:spChg>
        <pc:spChg chg="mod">
          <ac:chgData name="Jessica Aloi Rodriguez" userId="1fdb1b46-f6a3-4e1f-970c-8ca1e3dce219" providerId="ADAL" clId="{1DA39157-D83E-47B9-952B-1EC17591DAC4}" dt="2024-07-15T20:11:14.514" v="1193" actId="20577"/>
          <ac:spMkLst>
            <pc:docMk/>
            <pc:sldMk cId="1585025682" sldId="485"/>
            <ac:spMk id="7" creationId="{E3B88604-D5C1-DD5C-0309-B0D54367BCA1}"/>
          </ac:spMkLst>
        </pc:spChg>
        <pc:picChg chg="add mod">
          <ac:chgData name="Jessica Aloi Rodriguez" userId="1fdb1b46-f6a3-4e1f-970c-8ca1e3dce219" providerId="ADAL" clId="{1DA39157-D83E-47B9-952B-1EC17591DAC4}" dt="2024-07-15T20:25:50.462" v="1364" actId="1076"/>
          <ac:picMkLst>
            <pc:docMk/>
            <pc:sldMk cId="1585025682" sldId="485"/>
            <ac:picMk id="4" creationId="{3CBCB12C-768E-1419-41A9-8AFF4FF2D97F}"/>
          </ac:picMkLst>
        </pc:picChg>
        <pc:picChg chg="add mod modCrop">
          <ac:chgData name="Jessica Aloi Rodriguez" userId="1fdb1b46-f6a3-4e1f-970c-8ca1e3dce219" providerId="ADAL" clId="{1DA39157-D83E-47B9-952B-1EC17591DAC4}" dt="2024-07-15T20:26:38.461" v="1373" actId="732"/>
          <ac:picMkLst>
            <pc:docMk/>
            <pc:sldMk cId="1585025682" sldId="485"/>
            <ac:picMk id="9" creationId="{27EC0D8F-CF98-24FE-930F-08229BC1307B}"/>
          </ac:picMkLst>
        </pc:picChg>
        <pc:picChg chg="add mod">
          <ac:chgData name="Jessica Aloi Rodriguez" userId="1fdb1b46-f6a3-4e1f-970c-8ca1e3dce219" providerId="ADAL" clId="{1DA39157-D83E-47B9-952B-1EC17591DAC4}" dt="2024-07-15T20:27:11.730" v="1389" actId="1076"/>
          <ac:picMkLst>
            <pc:docMk/>
            <pc:sldMk cId="1585025682" sldId="485"/>
            <ac:picMk id="13" creationId="{C54D5BEF-E90E-31AB-ABFC-7405AC93CFB4}"/>
          </ac:picMkLst>
        </pc:picChg>
      </pc:sldChg>
      <pc:sldChg chg="modSp add del mod">
        <pc:chgData name="Jessica Aloi Rodriguez" userId="1fdb1b46-f6a3-4e1f-970c-8ca1e3dce219" providerId="ADAL" clId="{1DA39157-D83E-47B9-952B-1EC17591DAC4}" dt="2024-07-17T17:34:35.084" v="3115" actId="47"/>
        <pc:sldMkLst>
          <pc:docMk/>
          <pc:sldMk cId="3563696043" sldId="486"/>
        </pc:sldMkLst>
        <pc:spChg chg="mod">
          <ac:chgData name="Jessica Aloi Rodriguez" userId="1fdb1b46-f6a3-4e1f-970c-8ca1e3dce219" providerId="ADAL" clId="{1DA39157-D83E-47B9-952B-1EC17591DAC4}" dt="2024-07-15T20:30:54.728" v="1477" actId="20577"/>
          <ac:spMkLst>
            <pc:docMk/>
            <pc:sldMk cId="3563696043" sldId="486"/>
            <ac:spMk id="7" creationId="{E3B88604-D5C1-DD5C-0309-B0D54367BCA1}"/>
          </ac:spMkLst>
        </pc:spChg>
      </pc:sldChg>
      <pc:sldChg chg="addSp delSp modSp add mod ord modAnim">
        <pc:chgData name="Jessica Aloi Rodriguez" userId="1fdb1b46-f6a3-4e1f-970c-8ca1e3dce219" providerId="ADAL" clId="{1DA39157-D83E-47B9-952B-1EC17591DAC4}" dt="2024-07-17T16:04:45.196" v="2642" actId="164"/>
        <pc:sldMkLst>
          <pc:docMk/>
          <pc:sldMk cId="4248507869" sldId="487"/>
        </pc:sldMkLst>
        <pc:spChg chg="del">
          <ac:chgData name="Jessica Aloi Rodriguez" userId="1fdb1b46-f6a3-4e1f-970c-8ca1e3dce219" providerId="ADAL" clId="{1DA39157-D83E-47B9-952B-1EC17591DAC4}" dt="2024-07-16T20:35:53.903" v="2115" actId="478"/>
          <ac:spMkLst>
            <pc:docMk/>
            <pc:sldMk cId="4248507869" sldId="487"/>
            <ac:spMk id="2" creationId="{AE545717-1E68-644D-327B-804C14E49689}"/>
          </ac:spMkLst>
        </pc:spChg>
        <pc:spChg chg="add mod">
          <ac:chgData name="Jessica Aloi Rodriguez" userId="1fdb1b46-f6a3-4e1f-970c-8ca1e3dce219" providerId="ADAL" clId="{1DA39157-D83E-47B9-952B-1EC17591DAC4}" dt="2024-07-17T16:04:45.196" v="2642" actId="164"/>
          <ac:spMkLst>
            <pc:docMk/>
            <pc:sldMk cId="4248507869" sldId="487"/>
            <ac:spMk id="2" creationId="{EAE81561-E6FA-560C-1639-6149982A0FF8}"/>
          </ac:spMkLst>
        </pc:spChg>
        <pc:spChg chg="add mod">
          <ac:chgData name="Jessica Aloi Rodriguez" userId="1fdb1b46-f6a3-4e1f-970c-8ca1e3dce219" providerId="ADAL" clId="{1DA39157-D83E-47B9-952B-1EC17591DAC4}" dt="2024-07-17T16:04:45.196" v="2642" actId="164"/>
          <ac:spMkLst>
            <pc:docMk/>
            <pc:sldMk cId="4248507869" sldId="487"/>
            <ac:spMk id="3" creationId="{9335B2EC-32AF-47DF-1CCC-97EC1935A9C7}"/>
          </ac:spMkLst>
        </pc:spChg>
        <pc:spChg chg="add mod">
          <ac:chgData name="Jessica Aloi Rodriguez" userId="1fdb1b46-f6a3-4e1f-970c-8ca1e3dce219" providerId="ADAL" clId="{1DA39157-D83E-47B9-952B-1EC17591DAC4}" dt="2024-07-16T20:37:17.127" v="2153" actId="20577"/>
          <ac:spMkLst>
            <pc:docMk/>
            <pc:sldMk cId="4248507869" sldId="487"/>
            <ac:spMk id="4" creationId="{F7A729C9-D054-02AB-DE8E-0E97D67907A8}"/>
          </ac:spMkLst>
        </pc:spChg>
        <pc:spChg chg="add mod">
          <ac:chgData name="Jessica Aloi Rodriguez" userId="1fdb1b46-f6a3-4e1f-970c-8ca1e3dce219" providerId="ADAL" clId="{1DA39157-D83E-47B9-952B-1EC17591DAC4}" dt="2024-07-17T16:04:45.196" v="2642" actId="164"/>
          <ac:spMkLst>
            <pc:docMk/>
            <pc:sldMk cId="4248507869" sldId="487"/>
            <ac:spMk id="5" creationId="{C32FD14A-4595-1D04-895B-1236EE97D54A}"/>
          </ac:spMkLst>
        </pc:spChg>
        <pc:spChg chg="mod">
          <ac:chgData name="Jessica Aloi Rodriguez" userId="1fdb1b46-f6a3-4e1f-970c-8ca1e3dce219" providerId="ADAL" clId="{1DA39157-D83E-47B9-952B-1EC17591DAC4}" dt="2024-07-15T20:07:13.037" v="1122" actId="207"/>
          <ac:spMkLst>
            <pc:docMk/>
            <pc:sldMk cId="4248507869" sldId="487"/>
            <ac:spMk id="7" creationId="{E3B88604-D5C1-DD5C-0309-B0D54367BCA1}"/>
          </ac:spMkLst>
        </pc:spChg>
        <pc:spChg chg="add mod">
          <ac:chgData name="Jessica Aloi Rodriguez" userId="1fdb1b46-f6a3-4e1f-970c-8ca1e3dce219" providerId="ADAL" clId="{1DA39157-D83E-47B9-952B-1EC17591DAC4}" dt="2024-07-17T16:04:45.196" v="2642" actId="164"/>
          <ac:spMkLst>
            <pc:docMk/>
            <pc:sldMk cId="4248507869" sldId="487"/>
            <ac:spMk id="9" creationId="{B6D072C6-D0F1-5C6F-FBD1-821AE1292E7A}"/>
          </ac:spMkLst>
        </pc:spChg>
        <pc:grpChg chg="add mod">
          <ac:chgData name="Jessica Aloi Rodriguez" userId="1fdb1b46-f6a3-4e1f-970c-8ca1e3dce219" providerId="ADAL" clId="{1DA39157-D83E-47B9-952B-1EC17591DAC4}" dt="2024-07-17T16:04:45.196" v="2642" actId="164"/>
          <ac:grpSpMkLst>
            <pc:docMk/>
            <pc:sldMk cId="4248507869" sldId="487"/>
            <ac:grpSpMk id="11" creationId="{A6AA38C3-B620-62CC-A028-B7CE778D5415}"/>
          </ac:grpSpMkLst>
        </pc:grpChg>
      </pc:sldChg>
      <pc:sldChg chg="addSp modSp add del mod ord modAnim modShow">
        <pc:chgData name="Jessica Aloi Rodriguez" userId="1fdb1b46-f6a3-4e1f-970c-8ca1e3dce219" providerId="ADAL" clId="{1DA39157-D83E-47B9-952B-1EC17591DAC4}" dt="2024-07-17T17:33:09.033" v="3113" actId="47"/>
        <pc:sldMkLst>
          <pc:docMk/>
          <pc:sldMk cId="347533407" sldId="488"/>
        </pc:sldMkLst>
        <pc:spChg chg="mod">
          <ac:chgData name="Jessica Aloi Rodriguez" userId="1fdb1b46-f6a3-4e1f-970c-8ca1e3dce219" providerId="ADAL" clId="{1DA39157-D83E-47B9-952B-1EC17591DAC4}" dt="2024-07-16T20:40:43.152" v="2245" actId="113"/>
          <ac:spMkLst>
            <pc:docMk/>
            <pc:sldMk cId="347533407" sldId="488"/>
            <ac:spMk id="2" creationId="{AE545717-1E68-644D-327B-804C14E49689}"/>
          </ac:spMkLst>
        </pc:spChg>
        <pc:spChg chg="add mod">
          <ac:chgData name="Jessica Aloi Rodriguez" userId="1fdb1b46-f6a3-4e1f-970c-8ca1e3dce219" providerId="ADAL" clId="{1DA39157-D83E-47B9-952B-1EC17591DAC4}" dt="2024-07-16T21:14:04.011" v="2334" actId="20577"/>
          <ac:spMkLst>
            <pc:docMk/>
            <pc:sldMk cId="347533407" sldId="488"/>
            <ac:spMk id="3" creationId="{8DF07043-E42B-AFC6-D648-B6C536E6FEEE}"/>
          </ac:spMkLst>
        </pc:spChg>
        <pc:spChg chg="mod">
          <ac:chgData name="Jessica Aloi Rodriguez" userId="1fdb1b46-f6a3-4e1f-970c-8ca1e3dce219" providerId="ADAL" clId="{1DA39157-D83E-47B9-952B-1EC17591DAC4}" dt="2024-07-15T20:07:43.206" v="1137" actId="20577"/>
          <ac:spMkLst>
            <pc:docMk/>
            <pc:sldMk cId="347533407" sldId="488"/>
            <ac:spMk id="7" creationId="{E3B88604-D5C1-DD5C-0309-B0D54367BCA1}"/>
          </ac:spMkLst>
        </pc:spChg>
      </pc:sldChg>
      <pc:sldChg chg="modSp add del mod">
        <pc:chgData name="Jessica Aloi Rodriguez" userId="1fdb1b46-f6a3-4e1f-970c-8ca1e3dce219" providerId="ADAL" clId="{1DA39157-D83E-47B9-952B-1EC17591DAC4}" dt="2024-07-17T17:33:17.285" v="3114" actId="47"/>
        <pc:sldMkLst>
          <pc:docMk/>
          <pc:sldMk cId="1591537105" sldId="489"/>
        </pc:sldMkLst>
        <pc:spChg chg="mod">
          <ac:chgData name="Jessica Aloi Rodriguez" userId="1fdb1b46-f6a3-4e1f-970c-8ca1e3dce219" providerId="ADAL" clId="{1DA39157-D83E-47B9-952B-1EC17591DAC4}" dt="2024-07-17T17:25:50.952" v="3107" actId="21"/>
          <ac:spMkLst>
            <pc:docMk/>
            <pc:sldMk cId="1591537105" sldId="489"/>
            <ac:spMk id="2" creationId="{AE545717-1E68-644D-327B-804C14E49689}"/>
          </ac:spMkLst>
        </pc:spChg>
        <pc:spChg chg="mod">
          <ac:chgData name="Jessica Aloi Rodriguez" userId="1fdb1b46-f6a3-4e1f-970c-8ca1e3dce219" providerId="ADAL" clId="{1DA39157-D83E-47B9-952B-1EC17591DAC4}" dt="2024-07-16T20:05:09.327" v="1573" actId="20577"/>
          <ac:spMkLst>
            <pc:docMk/>
            <pc:sldMk cId="1591537105" sldId="489"/>
            <ac:spMk id="7" creationId="{E3B88604-D5C1-DD5C-0309-B0D54367BCA1}"/>
          </ac:spMkLst>
        </pc:spChg>
      </pc:sldChg>
      <pc:sldChg chg="addSp modSp add mod ord modAnim">
        <pc:chgData name="Jessica Aloi Rodriguez" userId="1fdb1b46-f6a3-4e1f-970c-8ca1e3dce219" providerId="ADAL" clId="{1DA39157-D83E-47B9-952B-1EC17591DAC4}" dt="2024-07-16T20:38:59.745" v="2174"/>
        <pc:sldMkLst>
          <pc:docMk/>
          <pc:sldMk cId="519912390" sldId="490"/>
        </pc:sldMkLst>
        <pc:spChg chg="mod">
          <ac:chgData name="Jessica Aloi Rodriguez" userId="1fdb1b46-f6a3-4e1f-970c-8ca1e3dce219" providerId="ADAL" clId="{1DA39157-D83E-47B9-952B-1EC17591DAC4}" dt="2024-07-16T20:36:57.780" v="2139" actId="20577"/>
          <ac:spMkLst>
            <pc:docMk/>
            <pc:sldMk cId="519912390" sldId="490"/>
            <ac:spMk id="2" creationId="{AE545717-1E68-644D-327B-804C14E49689}"/>
          </ac:spMkLst>
        </pc:spChg>
        <pc:spChg chg="add mod">
          <ac:chgData name="Jessica Aloi Rodriguez" userId="1fdb1b46-f6a3-4e1f-970c-8ca1e3dce219" providerId="ADAL" clId="{1DA39157-D83E-47B9-952B-1EC17591DAC4}" dt="2024-07-16T20:33:16.276" v="2069" actId="404"/>
          <ac:spMkLst>
            <pc:docMk/>
            <pc:sldMk cId="519912390" sldId="490"/>
            <ac:spMk id="4" creationId="{F03F4FD0-F737-5F87-4635-47D141DA3639}"/>
          </ac:spMkLst>
        </pc:spChg>
        <pc:spChg chg="add mod">
          <ac:chgData name="Jessica Aloi Rodriguez" userId="1fdb1b46-f6a3-4e1f-970c-8ca1e3dce219" providerId="ADAL" clId="{1DA39157-D83E-47B9-952B-1EC17591DAC4}" dt="2024-07-16T20:34:19.348" v="2101" actId="113"/>
          <ac:spMkLst>
            <pc:docMk/>
            <pc:sldMk cId="519912390" sldId="490"/>
            <ac:spMk id="9" creationId="{D8E7D7BD-BBC4-D67C-0ECA-29556BB8A5C0}"/>
          </ac:spMkLst>
        </pc:spChg>
        <pc:spChg chg="add mod">
          <ac:chgData name="Jessica Aloi Rodriguez" userId="1fdb1b46-f6a3-4e1f-970c-8ca1e3dce219" providerId="ADAL" clId="{1DA39157-D83E-47B9-952B-1EC17591DAC4}" dt="2024-07-16T20:34:45.494" v="2110" actId="1036"/>
          <ac:spMkLst>
            <pc:docMk/>
            <pc:sldMk cId="519912390" sldId="490"/>
            <ac:spMk id="11" creationId="{6C4724C9-4B7D-C777-B6EE-4D94024569D3}"/>
          </ac:spMkLst>
        </pc:spChg>
      </pc:sldChg>
      <pc:sldChg chg="modSp add mod ord">
        <pc:chgData name="Jessica Aloi Rodriguez" userId="1fdb1b46-f6a3-4e1f-970c-8ca1e3dce219" providerId="ADAL" clId="{1DA39157-D83E-47B9-952B-1EC17591DAC4}" dt="2024-07-17T16:57:23.760" v="2938" actId="20577"/>
        <pc:sldMkLst>
          <pc:docMk/>
          <pc:sldMk cId="447928617" sldId="491"/>
        </pc:sldMkLst>
        <pc:spChg chg="mod">
          <ac:chgData name="Jessica Aloi Rodriguez" userId="1fdb1b46-f6a3-4e1f-970c-8ca1e3dce219" providerId="ADAL" clId="{1DA39157-D83E-47B9-952B-1EC17591DAC4}" dt="2024-07-17T16:57:23.760" v="2938" actId="20577"/>
          <ac:spMkLst>
            <pc:docMk/>
            <pc:sldMk cId="447928617" sldId="491"/>
            <ac:spMk id="2" creationId="{AE545717-1E68-644D-327B-804C14E49689}"/>
          </ac:spMkLst>
        </pc:spChg>
      </pc:sldChg>
      <pc:sldChg chg="delSp modSp add del mod modShow">
        <pc:chgData name="Jessica Aloi Rodriguez" userId="1fdb1b46-f6a3-4e1f-970c-8ca1e3dce219" providerId="ADAL" clId="{1DA39157-D83E-47B9-952B-1EC17591DAC4}" dt="2024-07-17T17:26:43.104" v="3112" actId="47"/>
        <pc:sldMkLst>
          <pc:docMk/>
          <pc:sldMk cId="2004814462" sldId="492"/>
        </pc:sldMkLst>
        <pc:spChg chg="del mod">
          <ac:chgData name="Jessica Aloi Rodriguez" userId="1fdb1b46-f6a3-4e1f-970c-8ca1e3dce219" providerId="ADAL" clId="{1DA39157-D83E-47B9-952B-1EC17591DAC4}" dt="2024-07-17T17:26:42.013" v="3111"/>
          <ac:spMkLst>
            <pc:docMk/>
            <pc:sldMk cId="2004814462" sldId="492"/>
            <ac:spMk id="2" creationId="{AE545717-1E68-644D-327B-804C14E49689}"/>
          </ac:spMkLst>
        </pc:spChg>
      </pc:sldChg>
    </pc:docChg>
  </pc:docChgLst>
  <pc:docChgLst>
    <pc:chgData name="Jessica Aloi Rodriguez" userId="1fdb1b46-f6a3-4e1f-970c-8ca1e3dce219" providerId="ADAL" clId="{24EA7552-D390-4A09-BB13-D094F1D12AB6}"/>
    <pc:docChg chg="undo custSel modSld">
      <pc:chgData name="Jessica Aloi Rodriguez" userId="1fdb1b46-f6a3-4e1f-970c-8ca1e3dce219" providerId="ADAL" clId="{24EA7552-D390-4A09-BB13-D094F1D12AB6}" dt="2024-07-15T13:46:34.535" v="29" actId="113"/>
      <pc:docMkLst>
        <pc:docMk/>
      </pc:docMkLst>
      <pc:sldChg chg="modSp">
        <pc:chgData name="Jessica Aloi Rodriguez" userId="1fdb1b46-f6a3-4e1f-970c-8ca1e3dce219" providerId="ADAL" clId="{24EA7552-D390-4A09-BB13-D094F1D12AB6}" dt="2024-07-15T13:45:39.384" v="28" actId="404"/>
        <pc:sldMkLst>
          <pc:docMk/>
          <pc:sldMk cId="1184709136" sldId="465"/>
        </pc:sldMkLst>
        <pc:spChg chg="mod">
          <ac:chgData name="Jessica Aloi Rodriguez" userId="1fdb1b46-f6a3-4e1f-970c-8ca1e3dce219" providerId="ADAL" clId="{24EA7552-D390-4A09-BB13-D094F1D12AB6}" dt="2024-07-15T13:45:39.384" v="28" actId="404"/>
          <ac:spMkLst>
            <pc:docMk/>
            <pc:sldMk cId="1184709136" sldId="465"/>
            <ac:spMk id="15" creationId="{C6AE06AE-77EE-9846-9339-E88EB5FD5ACD}"/>
          </ac:spMkLst>
        </pc:spChg>
      </pc:sldChg>
      <pc:sldChg chg="modSp mod">
        <pc:chgData name="Jessica Aloi Rodriguez" userId="1fdb1b46-f6a3-4e1f-970c-8ca1e3dce219" providerId="ADAL" clId="{24EA7552-D390-4A09-BB13-D094F1D12AB6}" dt="2024-07-15T13:45:04.124" v="25" actId="404"/>
        <pc:sldMkLst>
          <pc:docMk/>
          <pc:sldMk cId="2605126667" sldId="467"/>
        </pc:sldMkLst>
        <pc:spChg chg="mod">
          <ac:chgData name="Jessica Aloi Rodriguez" userId="1fdb1b46-f6a3-4e1f-970c-8ca1e3dce219" providerId="ADAL" clId="{24EA7552-D390-4A09-BB13-D094F1D12AB6}" dt="2024-07-15T13:45:04.124" v="25" actId="404"/>
          <ac:spMkLst>
            <pc:docMk/>
            <pc:sldMk cId="2605126667" sldId="467"/>
            <ac:spMk id="2" creationId="{AE545717-1E68-644D-327B-804C14E49689}"/>
          </ac:spMkLst>
        </pc:spChg>
      </pc:sldChg>
      <pc:sldChg chg="modSp mod">
        <pc:chgData name="Jessica Aloi Rodriguez" userId="1fdb1b46-f6a3-4e1f-970c-8ca1e3dce219" providerId="ADAL" clId="{24EA7552-D390-4A09-BB13-D094F1D12AB6}" dt="2024-07-15T13:41:58.789" v="19" actId="1076"/>
        <pc:sldMkLst>
          <pc:docMk/>
          <pc:sldMk cId="2961830716" sldId="470"/>
        </pc:sldMkLst>
        <pc:spChg chg="mod">
          <ac:chgData name="Jessica Aloi Rodriguez" userId="1fdb1b46-f6a3-4e1f-970c-8ca1e3dce219" providerId="ADAL" clId="{24EA7552-D390-4A09-BB13-D094F1D12AB6}" dt="2024-07-15T13:41:53.567" v="17" actId="20577"/>
          <ac:spMkLst>
            <pc:docMk/>
            <pc:sldMk cId="2961830716" sldId="470"/>
            <ac:spMk id="2" creationId="{AE545717-1E68-644D-327B-804C14E49689}"/>
          </ac:spMkLst>
        </pc:spChg>
        <pc:picChg chg="mod">
          <ac:chgData name="Jessica Aloi Rodriguez" userId="1fdb1b46-f6a3-4e1f-970c-8ca1e3dce219" providerId="ADAL" clId="{24EA7552-D390-4A09-BB13-D094F1D12AB6}" dt="2024-07-15T13:41:58.789" v="19" actId="1076"/>
          <ac:picMkLst>
            <pc:docMk/>
            <pc:sldMk cId="2961830716" sldId="470"/>
            <ac:picMk id="4" creationId="{FB839DB6-D770-8A41-BD90-80D7A68584C5}"/>
          </ac:picMkLst>
        </pc:picChg>
      </pc:sldChg>
      <pc:sldChg chg="modSp mod">
        <pc:chgData name="Jessica Aloi Rodriguez" userId="1fdb1b46-f6a3-4e1f-970c-8ca1e3dce219" providerId="ADAL" clId="{24EA7552-D390-4A09-BB13-D094F1D12AB6}" dt="2024-07-15T13:41:36.710" v="15" actId="20577"/>
        <pc:sldMkLst>
          <pc:docMk/>
          <pc:sldMk cId="2444069030" sldId="471"/>
        </pc:sldMkLst>
        <pc:spChg chg="mod">
          <ac:chgData name="Jessica Aloi Rodriguez" userId="1fdb1b46-f6a3-4e1f-970c-8ca1e3dce219" providerId="ADAL" clId="{24EA7552-D390-4A09-BB13-D094F1D12AB6}" dt="2024-07-15T13:41:36.710" v="15" actId="20577"/>
          <ac:spMkLst>
            <pc:docMk/>
            <pc:sldMk cId="2444069030" sldId="471"/>
            <ac:spMk id="2" creationId="{AE545717-1E68-644D-327B-804C14E49689}"/>
          </ac:spMkLst>
        </pc:spChg>
      </pc:sldChg>
      <pc:sldChg chg="modSp mod">
        <pc:chgData name="Jessica Aloi Rodriguez" userId="1fdb1b46-f6a3-4e1f-970c-8ca1e3dce219" providerId="ADAL" clId="{24EA7552-D390-4A09-BB13-D094F1D12AB6}" dt="2024-07-15T13:46:34.535" v="29" actId="113"/>
        <pc:sldMkLst>
          <pc:docMk/>
          <pc:sldMk cId="716603183" sldId="477"/>
        </pc:sldMkLst>
        <pc:spChg chg="mod">
          <ac:chgData name="Jessica Aloi Rodriguez" userId="1fdb1b46-f6a3-4e1f-970c-8ca1e3dce219" providerId="ADAL" clId="{24EA7552-D390-4A09-BB13-D094F1D12AB6}" dt="2024-07-15T13:46:34.535" v="29" actId="113"/>
          <ac:spMkLst>
            <pc:docMk/>
            <pc:sldMk cId="716603183" sldId="477"/>
            <ac:spMk id="2" creationId="{AE545717-1E68-644D-327B-804C14E496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007D2-08F4-418F-AE90-44D2A7AE0C3F}" type="datetimeFigureOut">
              <a:rPr lang="en-US" smtClean="0"/>
              <a:t>7/17/2024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FD7468-75B3-41AE-9C4E-22CC7ACBD47F}" type="slidenum">
              <a:rPr lang="en-US" smtClean="0"/>
              <a:t>‹#›</a:t>
            </a:fld>
            <a:endParaRPr lang="en-US"/>
          </a:p>
        </p:txBody>
      </p:sp>
    </p:spTree>
    <p:extLst>
      <p:ext uri="{BB962C8B-B14F-4D97-AF65-F5344CB8AC3E}">
        <p14:creationId xmlns:p14="http://schemas.microsoft.com/office/powerpoint/2010/main" val="2058625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CDCFD5A-D2D4-4773-84E0-1B3A3DE46CF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6675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4160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3838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034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9820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3781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0506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59425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2827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3172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54823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6353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5740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6227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583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3042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9617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82245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113187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741298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73A21B78-CDDB-4C02-B6D4-357E78AB9B2D}" type="datetimeFigureOut">
              <a:rPr lang="en-US" smtClean="0"/>
              <a:t>7/17/2024</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3287EF7-B5A1-443B-B80B-AE5D3D638BC5}" type="slidenum">
              <a:rPr lang="en-US" smtClean="0"/>
              <a:t>‹#›</a:t>
            </a:fld>
            <a:endParaRPr lang="en-US"/>
          </a:p>
        </p:txBody>
      </p:sp>
    </p:spTree>
    <p:extLst>
      <p:ext uri="{BB962C8B-B14F-4D97-AF65-F5344CB8AC3E}">
        <p14:creationId xmlns:p14="http://schemas.microsoft.com/office/powerpoint/2010/main" val="302442491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A21B78-CDDB-4C02-B6D4-357E78AB9B2D}" type="datetimeFigureOut">
              <a:rPr lang="en-US" smtClean="0"/>
              <a:t>7/17/2024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4236970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21B78-CDDB-4C02-B6D4-357E78AB9B2D}" type="datetimeFigureOut">
              <a:rPr lang="en-US" smtClean="0"/>
              <a:t>7/17/2024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606865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A21B78-CDDB-4C02-B6D4-357E78AB9B2D}" type="datetimeFigureOut">
              <a:rPr lang="en-US" smtClean="0"/>
              <a:t>7/17/2024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809924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21B78-CDDB-4C02-B6D4-357E78AB9B2D}" type="datetimeFigureOut">
              <a:rPr lang="en-US" smtClean="0"/>
              <a:t>7/17/2024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4269889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21B78-CDDB-4C02-B6D4-357E78AB9B2D}" type="datetimeFigureOut">
              <a:rPr lang="en-US" smtClean="0"/>
              <a:t>7/17/2024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3135937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21B78-CDDB-4C02-B6D4-357E78AB9B2D}" type="datetimeFigureOut">
              <a:rPr lang="en-US" smtClean="0"/>
              <a:t>7/17/2024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89652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840128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73A21B78-CDDB-4C02-B6D4-357E78AB9B2D}" type="datetimeFigureOut">
              <a:rPr lang="en-US" smtClean="0"/>
              <a:t>7/17/2024</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6955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73A21B78-CDDB-4C02-B6D4-357E78AB9B2D}" type="datetimeFigureOut">
              <a:rPr lang="en-US" smtClean="0"/>
              <a:t>7/17/2024</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73287EF7-B5A1-443B-B80B-AE5D3D638BC5}" type="slidenum">
              <a:rPr lang="en-US" smtClean="0"/>
              <a:t>‹#›</a:t>
            </a:fld>
            <a:endParaRPr lang="en-US"/>
          </a:p>
        </p:txBody>
      </p:sp>
    </p:spTree>
    <p:extLst>
      <p:ext uri="{BB962C8B-B14F-4D97-AF65-F5344CB8AC3E}">
        <p14:creationId xmlns:p14="http://schemas.microsoft.com/office/powerpoint/2010/main" val="1044439968"/>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618-1E64-4BB6-1FBB-D5F8F1F99936}"/>
              </a:ext>
            </a:extLst>
          </p:cNvPr>
          <p:cNvSpPr>
            <a:spLocks noGrp="1"/>
          </p:cNvSpPr>
          <p:nvPr>
            <p:ph type="ctrTitle"/>
          </p:nvPr>
        </p:nvSpPr>
        <p:spPr/>
        <p:txBody>
          <a:bodyPr>
            <a:normAutofit/>
          </a:bodyPr>
          <a:lstStyle/>
          <a:p>
            <a:r>
              <a:rPr lang="en-US" sz="5400" b="1" dirty="0"/>
              <a:t>La </a:t>
            </a:r>
            <a:r>
              <a:rPr lang="en-US" sz="5400" b="1" dirty="0" err="1"/>
              <a:t>minimización</a:t>
            </a:r>
            <a:r>
              <a:rPr lang="en-US" sz="5400" b="1" dirty="0"/>
              <a:t> de </a:t>
            </a:r>
            <a:r>
              <a:rPr lang="en-US" sz="5400" b="1" dirty="0" err="1"/>
              <a:t>costos</a:t>
            </a:r>
            <a:endParaRPr lang="en-US" sz="5400" b="1" dirty="0"/>
          </a:p>
        </p:txBody>
      </p:sp>
    </p:spTree>
    <p:extLst>
      <p:ext uri="{BB962C8B-B14F-4D97-AF65-F5344CB8AC3E}">
        <p14:creationId xmlns:p14="http://schemas.microsoft.com/office/powerpoint/2010/main" val="2549507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1203960" y="495240"/>
            <a:ext cx="9784080" cy="988627"/>
          </a:xfrm>
        </p:spPr>
        <p:txBody>
          <a:bodyPr>
            <a:normAutofit/>
          </a:bodyPr>
          <a:lstStyle/>
          <a:p>
            <a:r>
              <a:rPr lang="en-US" b="1" dirty="0" err="1">
                <a:solidFill>
                  <a:srgbClr val="1F497D"/>
                </a:solidFill>
              </a:rPr>
              <a:t>Clase</a:t>
            </a:r>
            <a:r>
              <a:rPr lang="en-US" b="1" dirty="0">
                <a:solidFill>
                  <a:srgbClr val="1F497D"/>
                </a:solidFill>
              </a:rPr>
              <a:t> </a:t>
            </a:r>
            <a:r>
              <a:rPr lang="en-US" b="1" dirty="0" err="1">
                <a:solidFill>
                  <a:srgbClr val="1F497D"/>
                </a:solidFill>
              </a:rPr>
              <a:t>pasada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3" name="TextBox 2">
            <a:extLst>
              <a:ext uri="{FF2B5EF4-FFF2-40B4-BE49-F238E27FC236}">
                <a16:creationId xmlns:a16="http://schemas.microsoft.com/office/drawing/2014/main" id="{FC67AAE0-DE31-E221-9028-36CC771882C9}"/>
              </a:ext>
            </a:extLst>
          </p:cNvPr>
          <p:cNvSpPr txBox="1"/>
          <p:nvPr/>
        </p:nvSpPr>
        <p:spPr>
          <a:xfrm>
            <a:off x="657226" y="1477983"/>
            <a:ext cx="10624668" cy="5078313"/>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Los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beneficios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Factores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fijos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y variables</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err="1">
                <a:solidFill>
                  <a:prstClr val="black"/>
                </a:solidFill>
                <a:latin typeface="Corbel" panose="020B0503020204020204"/>
              </a:rPr>
              <a:t>Maximización</a:t>
            </a:r>
            <a:r>
              <a:rPr lang="en-US" sz="3600" dirty="0">
                <a:solidFill>
                  <a:prstClr val="black"/>
                </a:solidFill>
                <a:latin typeface="Corbel" panose="020B0503020204020204"/>
              </a:rPr>
              <a:t> de </a:t>
            </a:r>
            <a:r>
              <a:rPr lang="en-US" sz="3600" dirty="0" err="1">
                <a:solidFill>
                  <a:prstClr val="black"/>
                </a:solidFill>
                <a:latin typeface="Corbel" panose="020B0503020204020204"/>
              </a:rPr>
              <a:t>beneficio</a:t>
            </a:r>
            <a:r>
              <a:rPr lang="en-US" sz="3600" dirty="0">
                <a:solidFill>
                  <a:prstClr val="black"/>
                </a:solidFill>
                <a:latin typeface="Corbel" panose="020B0503020204020204"/>
              </a:rPr>
              <a:t> </a:t>
            </a:r>
            <a:r>
              <a:rPr lang="en-US" sz="3600" dirty="0" err="1">
                <a:solidFill>
                  <a:prstClr val="black"/>
                </a:solidFill>
                <a:latin typeface="Corbel" panose="020B0503020204020204"/>
              </a:rPr>
              <a:t>en</a:t>
            </a:r>
            <a:r>
              <a:rPr lang="en-US" sz="3600" dirty="0">
                <a:solidFill>
                  <a:prstClr val="black"/>
                </a:solidFill>
                <a:latin typeface="Corbel" panose="020B0503020204020204"/>
              </a:rPr>
              <a:t> el </a:t>
            </a:r>
            <a:r>
              <a:rPr lang="en-US" sz="3600" dirty="0" err="1">
                <a:solidFill>
                  <a:prstClr val="black"/>
                </a:solidFill>
                <a:latin typeface="Corbel" panose="020B0503020204020204"/>
              </a:rPr>
              <a:t>corto</a:t>
            </a:r>
            <a:r>
              <a:rPr lang="en-US" sz="3600" dirty="0">
                <a:solidFill>
                  <a:prstClr val="black"/>
                </a:solidFill>
                <a:latin typeface="Corbel" panose="020B0503020204020204"/>
              </a:rPr>
              <a:t> </a:t>
            </a:r>
            <a:r>
              <a:rPr lang="en-US" sz="3600" dirty="0" err="1">
                <a:solidFill>
                  <a:prstClr val="black"/>
                </a:solidFill>
                <a:latin typeface="Corbel" panose="020B0503020204020204"/>
              </a:rPr>
              <a:t>plazo</a:t>
            </a:r>
            <a:endParaRPr lang="en-US" sz="3600" dirty="0">
              <a:solidFill>
                <a:prstClr val="black"/>
              </a:solidFill>
              <a:latin typeface="Corbel" panose="020B0503020204020204"/>
            </a:endParaRPr>
          </a:p>
          <a:p>
            <a:pPr marL="457200" indent="-457200" algn="just" defTabSz="457200">
              <a:buFont typeface="Arial" panose="020B0604020202020204" pitchFamily="34" charset="0"/>
              <a:buChar char="•"/>
              <a:defRPr/>
            </a:pPr>
            <a:r>
              <a:rPr lang="en-US" sz="3600" dirty="0" err="1">
                <a:solidFill>
                  <a:prstClr val="black"/>
                </a:solidFill>
                <a:latin typeface="Corbel" panose="020B0503020204020204"/>
              </a:rPr>
              <a:t>Maximización</a:t>
            </a:r>
            <a:r>
              <a:rPr lang="en-US" sz="3600" dirty="0">
                <a:solidFill>
                  <a:prstClr val="black"/>
                </a:solidFill>
                <a:latin typeface="Corbel" panose="020B0503020204020204"/>
              </a:rPr>
              <a:t> de </a:t>
            </a:r>
            <a:r>
              <a:rPr lang="en-US" sz="3600" dirty="0" err="1">
                <a:solidFill>
                  <a:prstClr val="black"/>
                </a:solidFill>
                <a:latin typeface="Corbel" panose="020B0503020204020204"/>
              </a:rPr>
              <a:t>beneficio</a:t>
            </a:r>
            <a:r>
              <a:rPr lang="en-US" sz="3600" dirty="0">
                <a:solidFill>
                  <a:prstClr val="black"/>
                </a:solidFill>
                <a:latin typeface="Corbel" panose="020B0503020204020204"/>
              </a:rPr>
              <a:t> </a:t>
            </a:r>
            <a:r>
              <a:rPr lang="en-US" sz="3600" dirty="0" err="1">
                <a:solidFill>
                  <a:prstClr val="black"/>
                </a:solidFill>
                <a:latin typeface="Corbel" panose="020B0503020204020204"/>
              </a:rPr>
              <a:t>en</a:t>
            </a:r>
            <a:r>
              <a:rPr lang="en-US" sz="3600" dirty="0">
                <a:solidFill>
                  <a:prstClr val="black"/>
                </a:solidFill>
                <a:latin typeface="Corbel" panose="020B0503020204020204"/>
              </a:rPr>
              <a:t> el largo </a:t>
            </a:r>
            <a:r>
              <a:rPr lang="en-US" sz="3600" dirty="0" err="1">
                <a:solidFill>
                  <a:prstClr val="black"/>
                </a:solidFill>
                <a:latin typeface="Corbel" panose="020B0503020204020204"/>
              </a:rPr>
              <a:t>plazo</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40845339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1203960" y="495240"/>
            <a:ext cx="9784080" cy="988627"/>
          </a:xfrm>
        </p:spPr>
        <p:txBody>
          <a:bodyPr>
            <a:normAutofit/>
          </a:bodyPr>
          <a:lstStyle/>
          <a:p>
            <a:r>
              <a:rPr lang="en-US" b="1" dirty="0" err="1">
                <a:solidFill>
                  <a:srgbClr val="1F497D"/>
                </a:solidFill>
              </a:rPr>
              <a:t>Temas</a:t>
            </a:r>
            <a:r>
              <a:rPr lang="en-US" b="1" dirty="0">
                <a:solidFill>
                  <a:srgbClr val="1F497D"/>
                </a:solidFill>
              </a:rPr>
              <a:t> a </a:t>
            </a:r>
            <a:r>
              <a:rPr lang="en-US" b="1" dirty="0" err="1">
                <a:solidFill>
                  <a:srgbClr val="1F497D"/>
                </a:solidFill>
              </a:rPr>
              <a:t>desarrollar</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477983"/>
            <a:ext cx="10624668" cy="5632311"/>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La </a:t>
            </a:r>
            <a:r>
              <a:rPr lang="en-US" sz="3600" dirty="0" err="1">
                <a:solidFill>
                  <a:prstClr val="black"/>
                </a:solidFill>
                <a:latin typeface="Corbel" panose="020B0503020204020204"/>
              </a:rPr>
              <a:t>minimización</a:t>
            </a:r>
            <a:r>
              <a:rPr lang="en-US" sz="3600" dirty="0">
                <a:solidFill>
                  <a:prstClr val="black"/>
                </a:solidFill>
                <a:latin typeface="Corbel" panose="020B0503020204020204"/>
              </a:rPr>
              <a:t> de </a:t>
            </a:r>
            <a:r>
              <a:rPr lang="en-US" sz="3600" dirty="0" err="1">
                <a:solidFill>
                  <a:prstClr val="black"/>
                </a:solidFill>
                <a:latin typeface="Corbel" panose="020B0503020204020204"/>
              </a:rPr>
              <a:t>costos</a:t>
            </a:r>
            <a:endParaRPr lang="en-US" sz="3600" dirty="0">
              <a:solidFill>
                <a:prstClr val="black"/>
              </a:solidFill>
              <a:latin typeface="Corbel" panose="020B050302020402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Función</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demanda</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condicionada</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los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factores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Costos a </a:t>
            </a:r>
            <a:r>
              <a:rPr lang="en-US" sz="3600" dirty="0" err="1">
                <a:solidFill>
                  <a:prstClr val="black"/>
                </a:solidFill>
                <a:latin typeface="Corbel" panose="020B0503020204020204"/>
              </a:rPr>
              <a:t>corto</a:t>
            </a:r>
            <a:r>
              <a:rPr lang="en-US" sz="3600" dirty="0">
                <a:solidFill>
                  <a:prstClr val="black"/>
                </a:solidFill>
                <a:latin typeface="Corbel" panose="020B0503020204020204"/>
              </a:rPr>
              <a:t> y largo </a:t>
            </a:r>
            <a:r>
              <a:rPr lang="en-US" sz="3600" dirty="0" err="1">
                <a:solidFill>
                  <a:prstClr val="black"/>
                </a:solidFill>
                <a:latin typeface="Corbel" panose="020B0503020204020204"/>
              </a:rPr>
              <a:t>plazo</a:t>
            </a:r>
            <a:endParaRPr lang="en-US" sz="3600" dirty="0">
              <a:solidFill>
                <a:prstClr val="black"/>
              </a:solidFill>
              <a:latin typeface="Corbel" panose="020B050302020402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Costos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fijos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y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cuasifijos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Costos </a:t>
            </a:r>
            <a:r>
              <a:rPr lang="en-US" sz="3600" dirty="0" err="1">
                <a:solidFill>
                  <a:prstClr val="black"/>
                </a:solidFill>
                <a:latin typeface="Corbel" panose="020B0503020204020204"/>
              </a:rPr>
              <a:t>hundidos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4252641500"/>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Introducción</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1077218"/>
          </a:xfrm>
          <a:prstGeom prst="rect">
            <a:avLst/>
          </a:prstGeom>
          <a:noFill/>
        </p:spPr>
        <p:txBody>
          <a:bodyPr wrap="square">
            <a:spAutoFit/>
          </a:bodyPr>
          <a:lstStyle/>
          <a:p>
            <a:pPr marL="457200" indent="-457200" algn="just">
              <a:buFont typeface="Arial" panose="020B0604020202020204" pitchFamily="34" charset="0"/>
              <a:buChar char="•"/>
            </a:pPr>
            <a:r>
              <a:rPr lang="es-ES" sz="3200" dirty="0">
                <a:solidFill>
                  <a:prstClr val="black"/>
                </a:solidFill>
                <a:latin typeface="Corbel" panose="020B0503020204020204"/>
              </a:rPr>
              <a:t>Analizaremos el problema de la minimización de los costes de un nivel dado de producción</a:t>
            </a:r>
            <a:endParaRPr lang="en-US" sz="3600" dirty="0">
              <a:solidFill>
                <a:prstClr val="black"/>
              </a:solidFill>
              <a:latin typeface="Corbel" panose="020B0503020204020204"/>
            </a:endParaRPr>
          </a:p>
        </p:txBody>
      </p:sp>
    </p:spTree>
    <p:extLst>
      <p:ext uri="{BB962C8B-B14F-4D97-AF65-F5344CB8AC3E}">
        <p14:creationId xmlns:p14="http://schemas.microsoft.com/office/powerpoint/2010/main" val="19164236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mINIMIZACIóN</a:t>
            </a:r>
            <a:r>
              <a:rPr lang="en-US" b="1" dirty="0">
                <a:solidFill>
                  <a:srgbClr val="1F497D"/>
                </a:solidFill>
              </a:rPr>
              <a:t> DE LOS COSTOS</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4893647"/>
              </a:xfrm>
              <a:prstGeom prst="rect">
                <a:avLst/>
              </a:prstGeom>
              <a:noFill/>
            </p:spPr>
            <p:txBody>
              <a:bodyPr wrap="square">
                <a:spAutoFit/>
              </a:bodyPr>
              <a:lstStyle/>
              <a:p>
                <a:pPr marL="457200" indent="-457200" algn="just">
                  <a:buFont typeface="Arial" panose="020B0604020202020204" pitchFamily="34" charset="0"/>
                  <a:buChar char="•"/>
                </a:pPr>
                <a:r>
                  <a:rPr lang="es-ES" sz="2400" dirty="0">
                    <a:solidFill>
                      <a:prstClr val="black"/>
                    </a:solidFill>
                    <a:latin typeface="Corbel" panose="020B0503020204020204"/>
                  </a:rPr>
                  <a:t>Supongamos que tenemos </a:t>
                </a:r>
                <a:r>
                  <a:rPr lang="es-ES" sz="2400" u="sng" dirty="0">
                    <a:solidFill>
                      <a:prstClr val="black"/>
                    </a:solidFill>
                    <a:latin typeface="Corbel" panose="020B0503020204020204"/>
                  </a:rPr>
                  <a:t>dos factores de producción</a:t>
                </a:r>
                <a:r>
                  <a:rPr lang="es-ES" sz="2400" dirty="0">
                    <a:solidFill>
                      <a:prstClr val="black"/>
                    </a:solidFill>
                    <a:latin typeface="Corbel" panose="020B0503020204020204"/>
                  </a:rPr>
                  <a:t>, </a:t>
                </a:r>
                <a14:m>
                  <m:oMath xmlns:m="http://schemas.openxmlformats.org/officeDocument/2006/math">
                    <m:sSub>
                      <m:sSubPr>
                        <m:ctrlPr>
                          <a:rPr lang="es-ES" sz="2400" b="1" i="1" smtClean="0">
                            <a:solidFill>
                              <a:prstClr val="black"/>
                            </a:solidFill>
                            <a:latin typeface="Cambria Math" panose="02040503050406030204" pitchFamily="18" charset="0"/>
                          </a:rPr>
                        </m:ctrlPr>
                      </m:sSubPr>
                      <m:e>
                        <m:r>
                          <a:rPr lang="en-US" sz="2400" b="1" i="1" smtClean="0">
                            <a:solidFill>
                              <a:prstClr val="black"/>
                            </a:solidFill>
                            <a:latin typeface="Cambria Math" panose="02040503050406030204" pitchFamily="18" charset="0"/>
                          </a:rPr>
                          <m:t>(</m:t>
                        </m:r>
                        <m:r>
                          <a:rPr lang="en-US" sz="2400" b="1" i="1" smtClean="0">
                            <a:solidFill>
                              <a:prstClr val="black"/>
                            </a:solidFill>
                            <a:latin typeface="Cambria Math" panose="02040503050406030204" pitchFamily="18" charset="0"/>
                          </a:rPr>
                          <m:t>𝒙</m:t>
                        </m:r>
                      </m:e>
                      <m:sub>
                        <m:r>
                          <a:rPr lang="en-US" sz="2400" b="1" i="1" smtClean="0">
                            <a:solidFill>
                              <a:prstClr val="black"/>
                            </a:solidFill>
                            <a:latin typeface="Cambria Math" panose="02040503050406030204" pitchFamily="18" charset="0"/>
                          </a:rPr>
                          <m:t>𝟏</m:t>
                        </m:r>
                      </m:sub>
                    </m:sSub>
                    <m:r>
                      <a:rPr lang="en-US" sz="2400" b="1" i="0" smtClean="0">
                        <a:solidFill>
                          <a:prstClr val="black"/>
                        </a:solidFill>
                        <a:latin typeface="Cambria Math" panose="02040503050406030204" pitchFamily="18" charset="0"/>
                      </a:rPr>
                      <m:t>,</m:t>
                    </m:r>
                  </m:oMath>
                </a14:m>
                <a:r>
                  <a:rPr lang="es-ES" sz="2400" b="1" dirty="0">
                    <a:solidFill>
                      <a:prstClr val="black"/>
                    </a:solidFill>
                    <a:latin typeface="Corbel" panose="020B0503020204020204"/>
                  </a:rPr>
                  <a:t> </a:t>
                </a:r>
                <a14:m>
                  <m:oMath xmlns:m="http://schemas.openxmlformats.org/officeDocument/2006/math">
                    <m:sSub>
                      <m:sSubPr>
                        <m:ctrlPr>
                          <a:rPr lang="es-ES" sz="2400" b="1" i="1">
                            <a:solidFill>
                              <a:prstClr val="black"/>
                            </a:solidFill>
                            <a:latin typeface="Cambria Math" panose="02040503050406030204" pitchFamily="18" charset="0"/>
                          </a:rPr>
                        </m:ctrlPr>
                      </m:sSubPr>
                      <m:e>
                        <m:r>
                          <a:rPr lang="en-US" sz="2400" b="1" i="1" smtClean="0">
                            <a:solidFill>
                              <a:prstClr val="black"/>
                            </a:solidFill>
                            <a:latin typeface="Cambria Math" panose="02040503050406030204" pitchFamily="18" charset="0"/>
                          </a:rPr>
                          <m:t>𝒙</m:t>
                        </m:r>
                      </m:e>
                      <m:sub>
                        <m:r>
                          <a:rPr lang="en-US" sz="2400" b="1" i="1" smtClean="0">
                            <a:solidFill>
                              <a:prstClr val="black"/>
                            </a:solidFill>
                            <a:latin typeface="Cambria Math" panose="02040503050406030204" pitchFamily="18" charset="0"/>
                          </a:rPr>
                          <m:t>𝟐</m:t>
                        </m:r>
                      </m:sub>
                    </m:sSub>
                  </m:oMath>
                </a14:m>
                <a:r>
                  <a:rPr lang="es-ES" sz="2400" b="1" dirty="0">
                    <a:solidFill>
                      <a:prstClr val="black"/>
                    </a:solidFill>
                    <a:latin typeface="Corbel" panose="020B0503020204020204"/>
                  </a:rPr>
                  <a:t>), </a:t>
                </a:r>
                <a:r>
                  <a:rPr lang="es-ES" sz="2400" dirty="0">
                    <a:solidFill>
                      <a:prstClr val="black"/>
                    </a:solidFill>
                    <a:latin typeface="Corbel" panose="020B0503020204020204"/>
                  </a:rPr>
                  <a:t>cuyos </a:t>
                </a:r>
                <a:r>
                  <a:rPr lang="es-ES" sz="2400" u="sng" dirty="0">
                    <a:solidFill>
                      <a:prstClr val="black"/>
                    </a:solidFill>
                    <a:latin typeface="Corbel" panose="020B0503020204020204"/>
                  </a:rPr>
                  <a:t>precios</a:t>
                </a:r>
                <a:r>
                  <a:rPr lang="es-ES" sz="2400" dirty="0">
                    <a:solidFill>
                      <a:prstClr val="black"/>
                    </a:solidFill>
                    <a:latin typeface="Corbel" panose="020B0503020204020204"/>
                  </a:rPr>
                  <a:t> son </a:t>
                </a:r>
                <a14:m>
                  <m:oMath xmlns:m="http://schemas.openxmlformats.org/officeDocument/2006/math">
                    <m:sSub>
                      <m:sSubPr>
                        <m:ctrlPr>
                          <a:rPr lang="es-ES" sz="2400" b="1" i="1">
                            <a:solidFill>
                              <a:prstClr val="black"/>
                            </a:solidFill>
                            <a:latin typeface="Cambria Math" panose="02040503050406030204" pitchFamily="18" charset="0"/>
                          </a:rPr>
                        </m:ctrlPr>
                      </m:sSubPr>
                      <m:e>
                        <m:r>
                          <a:rPr lang="en-US" sz="2400" b="1" i="1" smtClean="0">
                            <a:solidFill>
                              <a:prstClr val="black"/>
                            </a:solidFill>
                            <a:latin typeface="Cambria Math" panose="02040503050406030204" pitchFamily="18" charset="0"/>
                          </a:rPr>
                          <m:t>𝒘</m:t>
                        </m:r>
                      </m:e>
                      <m:sub>
                        <m:r>
                          <a:rPr lang="en-US" sz="2400" b="1" i="1">
                            <a:solidFill>
                              <a:prstClr val="black"/>
                            </a:solidFill>
                            <a:latin typeface="Cambria Math" panose="02040503050406030204" pitchFamily="18" charset="0"/>
                          </a:rPr>
                          <m:t>𝟏</m:t>
                        </m:r>
                      </m:sub>
                    </m:sSub>
                    <m:r>
                      <a:rPr lang="en-US" sz="2400" b="1" i="0" smtClean="0">
                        <a:solidFill>
                          <a:prstClr val="black"/>
                        </a:solidFill>
                        <a:latin typeface="Cambria Math" panose="02040503050406030204" pitchFamily="18" charset="0"/>
                      </a:rPr>
                      <m:t> </m:t>
                    </m:r>
                    <m:r>
                      <m:rPr>
                        <m:sty m:val="p"/>
                      </m:rPr>
                      <a:rPr lang="en-US" sz="2400" b="0" i="0" smtClean="0">
                        <a:solidFill>
                          <a:prstClr val="black"/>
                        </a:solidFill>
                        <a:latin typeface="Cambria Math" panose="02040503050406030204" pitchFamily="18" charset="0"/>
                      </a:rPr>
                      <m:t>y</m:t>
                    </m:r>
                  </m:oMath>
                </a14:m>
                <a:r>
                  <a:rPr lang="es-ES" sz="2400" b="1" dirty="0">
                    <a:solidFill>
                      <a:prstClr val="black"/>
                    </a:solidFill>
                  </a:rPr>
                  <a:t> </a:t>
                </a:r>
                <a14:m>
                  <m:oMath xmlns:m="http://schemas.openxmlformats.org/officeDocument/2006/math">
                    <m:sSub>
                      <m:sSubPr>
                        <m:ctrlPr>
                          <a:rPr lang="es-ES" sz="2400" b="1" i="1">
                            <a:solidFill>
                              <a:prstClr val="black"/>
                            </a:solidFill>
                            <a:latin typeface="Cambria Math" panose="02040503050406030204" pitchFamily="18" charset="0"/>
                          </a:rPr>
                        </m:ctrlPr>
                      </m:sSubPr>
                      <m:e>
                        <m:r>
                          <a:rPr lang="en-US" sz="2400" b="1" i="1" smtClean="0">
                            <a:solidFill>
                              <a:prstClr val="black"/>
                            </a:solidFill>
                            <a:latin typeface="Cambria Math" panose="02040503050406030204" pitchFamily="18" charset="0"/>
                          </a:rPr>
                          <m:t>𝒘</m:t>
                        </m:r>
                      </m:e>
                      <m:sub>
                        <m:r>
                          <a:rPr lang="en-US" sz="2400" b="1" i="1">
                            <a:solidFill>
                              <a:prstClr val="black"/>
                            </a:solidFill>
                            <a:latin typeface="Cambria Math" panose="02040503050406030204" pitchFamily="18" charset="0"/>
                          </a:rPr>
                          <m:t>𝟐</m:t>
                        </m:r>
                      </m:sub>
                    </m:sSub>
                  </m:oMath>
                </a14:m>
                <a:r>
                  <a:rPr lang="es-ES" sz="2400" dirty="0">
                    <a:solidFill>
                      <a:prstClr val="black"/>
                    </a:solidFill>
                    <a:latin typeface="Corbel" panose="020B0503020204020204"/>
                  </a:rPr>
                  <a:t>, y que queremos averiguar la forma más barata de producir una determinada cantidad </a:t>
                </a:r>
                <a:r>
                  <a:rPr lang="es-ES" sz="2400" i="1" dirty="0">
                    <a:solidFill>
                      <a:prstClr val="black"/>
                    </a:solidFill>
                    <a:latin typeface="Corbel" panose="020B0503020204020204"/>
                  </a:rPr>
                  <a:t>y</a:t>
                </a:r>
                <a:r>
                  <a:rPr lang="es-ES" sz="2400" dirty="0">
                    <a:solidFill>
                      <a:prstClr val="black"/>
                    </a:solidFill>
                    <a:latin typeface="Corbel" panose="020B0503020204020204"/>
                  </a:rPr>
                  <a:t>. Si </a:t>
                </a:r>
                <a14:m>
                  <m:oMath xmlns:m="http://schemas.openxmlformats.org/officeDocument/2006/math">
                    <m:sSub>
                      <m:sSubPr>
                        <m:ctrlPr>
                          <a:rPr lang="es-ES" sz="2400" b="1" i="1">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m:t>
                        </m:r>
                        <m:r>
                          <a:rPr lang="en-US" sz="2400" b="1" i="1" smtClean="0">
                            <a:solidFill>
                              <a:prstClr val="black"/>
                            </a:solidFill>
                            <a:latin typeface="Cambria Math" panose="02040503050406030204" pitchFamily="18" charset="0"/>
                          </a:rPr>
                          <m:t>𝒙</m:t>
                        </m:r>
                      </m:e>
                      <m:sub>
                        <m:r>
                          <a:rPr lang="en-US" sz="2400" b="1" i="1">
                            <a:solidFill>
                              <a:prstClr val="black"/>
                            </a:solidFill>
                            <a:latin typeface="Cambria Math" panose="02040503050406030204" pitchFamily="18" charset="0"/>
                          </a:rPr>
                          <m:t>𝟏</m:t>
                        </m:r>
                      </m:sub>
                    </m:sSub>
                    <m:r>
                      <a:rPr lang="en-US" sz="2400" b="1">
                        <a:solidFill>
                          <a:prstClr val="black"/>
                        </a:solidFill>
                        <a:latin typeface="Cambria Math" panose="02040503050406030204" pitchFamily="18" charset="0"/>
                      </a:rPr>
                      <m:t>,</m:t>
                    </m:r>
                  </m:oMath>
                </a14:m>
                <a:r>
                  <a:rPr lang="es-ES" sz="2400" b="1" dirty="0">
                    <a:solidFill>
                      <a:prstClr val="black"/>
                    </a:solidFill>
                  </a:rPr>
                  <a:t> </a:t>
                </a:r>
                <a14:m>
                  <m:oMath xmlns:m="http://schemas.openxmlformats.org/officeDocument/2006/math">
                    <m:sSub>
                      <m:sSubPr>
                        <m:ctrlPr>
                          <a:rPr lang="es-ES" sz="2400" b="1" i="1" smtClean="0">
                            <a:solidFill>
                              <a:prstClr val="black"/>
                            </a:solidFill>
                            <a:latin typeface="Cambria Math" panose="02040503050406030204" pitchFamily="18" charset="0"/>
                          </a:rPr>
                        </m:ctrlPr>
                      </m:sSubPr>
                      <m:e>
                        <m:r>
                          <a:rPr lang="en-US" sz="2400" b="1" i="1" smtClean="0">
                            <a:solidFill>
                              <a:prstClr val="black"/>
                            </a:solidFill>
                            <a:latin typeface="Cambria Math" panose="02040503050406030204" pitchFamily="18" charset="0"/>
                          </a:rPr>
                          <m:t>𝒙</m:t>
                        </m:r>
                      </m:e>
                      <m:sub>
                        <m:r>
                          <a:rPr lang="en-US" sz="2400" b="1" i="1">
                            <a:solidFill>
                              <a:prstClr val="black"/>
                            </a:solidFill>
                            <a:latin typeface="Cambria Math" panose="02040503050406030204" pitchFamily="18" charset="0"/>
                          </a:rPr>
                          <m:t>𝟐</m:t>
                        </m:r>
                      </m:sub>
                    </m:sSub>
                  </m:oMath>
                </a14:m>
                <a:r>
                  <a:rPr lang="es-ES" sz="2400" b="1" dirty="0">
                    <a:solidFill>
                      <a:prstClr val="black"/>
                    </a:solidFill>
                  </a:rPr>
                  <a:t>),</a:t>
                </a:r>
                <a:r>
                  <a:rPr lang="es-ES" sz="2400" dirty="0">
                    <a:solidFill>
                      <a:prstClr val="black"/>
                    </a:solidFill>
                    <a:latin typeface="Corbel" panose="020B0503020204020204"/>
                  </a:rPr>
                  <a:t>miden las cantidades utilizadas de los dos factores y f</a:t>
                </a:r>
                <a:r>
                  <a:rPr lang="es-ES" sz="2400" dirty="0">
                    <a:solidFill>
                      <a:prstClr val="black"/>
                    </a:solidFill>
                  </a:rPr>
                  <a:t>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b="0" i="1">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𝑥</m:t>
                        </m:r>
                      </m:e>
                      <m:sub>
                        <m:r>
                          <a:rPr lang="en-US" sz="2400" b="0" i="1">
                            <a:solidFill>
                              <a:prstClr val="black"/>
                            </a:solidFill>
                            <a:latin typeface="Cambria Math" panose="02040503050406030204" pitchFamily="18" charset="0"/>
                          </a:rPr>
                          <m:t>1</m:t>
                        </m:r>
                      </m:sub>
                    </m:sSub>
                    <m:r>
                      <a:rPr lang="en-US" sz="2400" b="0">
                        <a:solidFill>
                          <a:prstClr val="black"/>
                        </a:solidFill>
                        <a:latin typeface="Cambria Math" panose="02040503050406030204" pitchFamily="18" charset="0"/>
                      </a:rPr>
                      <m:t>,</m:t>
                    </m:r>
                  </m:oMath>
                </a14:m>
                <a:r>
                  <a:rPr lang="es-ES" sz="2400" dirty="0">
                    <a:solidFill>
                      <a:prstClr val="black"/>
                    </a:solidFill>
                  </a:rPr>
                  <a:t>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𝑥</m:t>
                        </m:r>
                      </m:e>
                      <m:sub>
                        <m:r>
                          <a:rPr lang="en-US" sz="2400" b="0" i="1">
                            <a:solidFill>
                              <a:prstClr val="black"/>
                            </a:solidFill>
                            <a:latin typeface="Cambria Math" panose="02040503050406030204" pitchFamily="18" charset="0"/>
                          </a:rPr>
                          <m:t>2</m:t>
                        </m:r>
                      </m:sub>
                    </m:sSub>
                  </m:oMath>
                </a14:m>
                <a:r>
                  <a:rPr lang="es-ES" sz="2400" dirty="0">
                    <a:solidFill>
                      <a:prstClr val="black"/>
                    </a:solidFill>
                    <a:latin typeface="Corbel" panose="020B0503020204020204"/>
                  </a:rPr>
                  <a:t>) es la función de producción de la empresa, este problema puede expresarse de la forma siguiente:</a:t>
                </a:r>
                <a:endParaRPr lang="en-US" sz="2400" dirty="0">
                  <a:solidFill>
                    <a:prstClr val="black"/>
                  </a:solidFill>
                  <a:latin typeface="Corbel" panose="020B0503020204020204"/>
                </a:endParaRPr>
              </a:p>
              <a:p>
                <a:pPr algn="just"/>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r>
                  <a:rPr lang="es-ES" sz="2400" dirty="0">
                    <a:solidFill>
                      <a:prstClr val="black"/>
                    </a:solidFill>
                    <a:latin typeface="Corbel" panose="020B0503020204020204"/>
                  </a:rPr>
                  <a:t>La solución de este problema de minimización de los costes depende de </a:t>
                </a:r>
                <a14:m>
                  <m:oMath xmlns:m="http://schemas.openxmlformats.org/officeDocument/2006/math">
                    <m:sSub>
                      <m:sSubPr>
                        <m:ctrlPr>
                          <a:rPr lang="es-ES" sz="240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𝑤</m:t>
                        </m:r>
                      </m:e>
                      <m:sub>
                        <m:r>
                          <a:rPr lang="en-US" sz="2400" b="0" i="1">
                            <a:solidFill>
                              <a:prstClr val="black"/>
                            </a:solidFill>
                            <a:latin typeface="Cambria Math" panose="02040503050406030204" pitchFamily="18" charset="0"/>
                          </a:rPr>
                          <m:t>1</m:t>
                        </m:r>
                      </m:sub>
                    </m:sSub>
                    <m:r>
                      <a:rPr lang="en-US" sz="2400" b="0" i="0" smtClean="0">
                        <a:solidFill>
                          <a:prstClr val="black"/>
                        </a:solidFill>
                        <a:latin typeface="Cambria Math" panose="02040503050406030204" pitchFamily="18" charset="0"/>
                      </a:rPr>
                      <m:t> ,</m:t>
                    </m:r>
                  </m:oMath>
                </a14:m>
                <a:r>
                  <a:rPr lang="es-ES" sz="2400" dirty="0">
                    <a:solidFill>
                      <a:prstClr val="black"/>
                    </a:solidFill>
                  </a:rPr>
                  <a:t>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𝑤</m:t>
                        </m:r>
                      </m:e>
                      <m:sub>
                        <m:r>
                          <a:rPr lang="en-US" sz="2400" b="0" i="1">
                            <a:solidFill>
                              <a:prstClr val="black"/>
                            </a:solidFill>
                            <a:latin typeface="Cambria Math" panose="02040503050406030204" pitchFamily="18" charset="0"/>
                          </a:rPr>
                          <m:t>2</m:t>
                        </m:r>
                      </m:sub>
                    </m:sSub>
                  </m:oMath>
                </a14:m>
                <a:r>
                  <a:rPr lang="es-ES" sz="2400" dirty="0">
                    <a:solidFill>
                      <a:prstClr val="black"/>
                    </a:solidFill>
                    <a:latin typeface="Corbel" panose="020B0503020204020204"/>
                  </a:rPr>
                  <a:t>, e y, por lo que lo expresamos de la forma siguiente: c(</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𝑤</m:t>
                        </m:r>
                      </m:e>
                      <m:sub>
                        <m:r>
                          <a:rPr lang="en-US" sz="2400" i="1">
                            <a:solidFill>
                              <a:prstClr val="black"/>
                            </a:solidFill>
                            <a:latin typeface="Cambria Math" panose="02040503050406030204" pitchFamily="18" charset="0"/>
                          </a:rPr>
                          <m:t>1</m:t>
                        </m:r>
                      </m:sub>
                    </m:sSub>
                    <m:r>
                      <a:rPr lang="en-US" sz="2400">
                        <a:solidFill>
                          <a:prstClr val="black"/>
                        </a:solidFill>
                        <a:latin typeface="Cambria Math" panose="02040503050406030204" pitchFamily="18" charset="0"/>
                      </a:rPr>
                      <m:t> ,</m:t>
                    </m:r>
                  </m:oMath>
                </a14:m>
                <a:r>
                  <a:rPr lang="es-ES" sz="2400" dirty="0">
                    <a:solidFill>
                      <a:prstClr val="black"/>
                    </a:solidFill>
                  </a:rPr>
                  <a:t>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𝑤</m:t>
                        </m:r>
                      </m:e>
                      <m:sub>
                        <m:r>
                          <a:rPr lang="en-US" sz="2400" i="1">
                            <a:solidFill>
                              <a:prstClr val="black"/>
                            </a:solidFill>
                            <a:latin typeface="Cambria Math" panose="02040503050406030204" pitchFamily="18" charset="0"/>
                          </a:rPr>
                          <m:t>2</m:t>
                        </m:r>
                      </m:sub>
                    </m:sSub>
                  </m:oMath>
                </a14:m>
                <a:r>
                  <a:rPr lang="es-ES" sz="2400" dirty="0">
                    <a:solidFill>
                      <a:prstClr val="black"/>
                    </a:solidFill>
                    <a:latin typeface="Corbel" panose="020B0503020204020204"/>
                  </a:rPr>
                  <a:t>, y). Esta función, denominada </a:t>
                </a:r>
                <a:r>
                  <a:rPr lang="es-ES" sz="2400" b="1" dirty="0">
                    <a:solidFill>
                      <a:prstClr val="black"/>
                    </a:solidFill>
                    <a:latin typeface="Corbel" panose="020B0503020204020204"/>
                  </a:rPr>
                  <a:t>función de costes</a:t>
                </a:r>
                <a:r>
                  <a:rPr lang="es-ES" sz="2400" dirty="0">
                    <a:solidFill>
                      <a:prstClr val="black"/>
                    </a:solidFill>
                    <a:latin typeface="Corbel" panose="020B0503020204020204"/>
                  </a:rPr>
                  <a:t>, mide los costes mínimos necesarios para producir </a:t>
                </a:r>
                <a:r>
                  <a:rPr lang="es-ES" sz="2400" i="1" dirty="0">
                    <a:solidFill>
                      <a:prstClr val="black"/>
                    </a:solidFill>
                    <a:latin typeface="Corbel" panose="020B0503020204020204"/>
                  </a:rPr>
                  <a:t>y</a:t>
                </a:r>
                <a:r>
                  <a:rPr lang="es-ES" sz="2400" dirty="0">
                    <a:solidFill>
                      <a:prstClr val="black"/>
                    </a:solidFill>
                    <a:latin typeface="Corbel" panose="020B0503020204020204"/>
                  </a:rPr>
                  <a:t> unidades cuando los precios de los factores son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𝑤</m:t>
                        </m:r>
                      </m:e>
                      <m:sub>
                        <m:r>
                          <a:rPr lang="en-US" sz="2400" i="1">
                            <a:solidFill>
                              <a:prstClr val="black"/>
                            </a:solidFill>
                            <a:latin typeface="Cambria Math" panose="02040503050406030204" pitchFamily="18" charset="0"/>
                          </a:rPr>
                          <m:t>1</m:t>
                        </m:r>
                      </m:sub>
                    </m:sSub>
                    <m:r>
                      <a:rPr lang="en-US" sz="2400">
                        <a:solidFill>
                          <a:prstClr val="black"/>
                        </a:solidFill>
                        <a:latin typeface="Cambria Math" panose="02040503050406030204" pitchFamily="18" charset="0"/>
                      </a:rPr>
                      <m:t> ,</m:t>
                    </m:r>
                  </m:oMath>
                </a14:m>
                <a:r>
                  <a:rPr lang="es-ES" sz="2400" dirty="0">
                    <a:solidFill>
                      <a:prstClr val="black"/>
                    </a:solidFill>
                  </a:rPr>
                  <a:t>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𝑤</m:t>
                        </m:r>
                      </m:e>
                      <m:sub>
                        <m:r>
                          <a:rPr lang="en-US" sz="2400" i="1">
                            <a:solidFill>
                              <a:prstClr val="black"/>
                            </a:solidFill>
                            <a:latin typeface="Cambria Math" panose="02040503050406030204" pitchFamily="18" charset="0"/>
                          </a:rPr>
                          <m:t>2</m:t>
                        </m:r>
                      </m:sub>
                    </m:sSub>
                  </m:oMath>
                </a14:m>
                <a:r>
                  <a:rPr lang="es-ES" sz="2400" dirty="0">
                    <a:solidFill>
                      <a:prstClr val="black"/>
                    </a:solidFill>
                    <a:latin typeface="Corbel" panose="020B0503020204020204"/>
                  </a:rPr>
                  <a:t>).</a:t>
                </a:r>
                <a:endParaRPr lang="en-US" sz="2400" dirty="0">
                  <a:solidFill>
                    <a:prstClr val="black"/>
                  </a:solidFill>
                  <a:latin typeface="Corbel" panose="020B0503020204020204"/>
                </a:endParaRPr>
              </a:p>
            </p:txBody>
          </p:sp>
        </mc:Choice>
        <mc:Fallback xmlns="">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657225" y="1289993"/>
                <a:ext cx="11056057" cy="4893647"/>
              </a:xfrm>
              <a:prstGeom prst="rect">
                <a:avLst/>
              </a:prstGeom>
              <a:blipFill>
                <a:blip r:embed="rId3"/>
                <a:stretch>
                  <a:fillRect l="-883" t="-998" r="-1434" b="-199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832BB240-7709-AE7A-6E85-B4D4065D2681}"/>
              </a:ext>
            </a:extLst>
          </p:cNvPr>
          <p:cNvPicPr>
            <a:picLocks noChangeAspect="1"/>
          </p:cNvPicPr>
          <p:nvPr/>
        </p:nvPicPr>
        <p:blipFill>
          <a:blip r:embed="rId4"/>
          <a:stretch>
            <a:fillRect/>
          </a:stretch>
        </p:blipFill>
        <p:spPr>
          <a:xfrm>
            <a:off x="4538454" y="3309805"/>
            <a:ext cx="2981741" cy="1047896"/>
          </a:xfrm>
          <a:prstGeom prst="rect">
            <a:avLst/>
          </a:prstGeom>
        </p:spPr>
      </p:pic>
    </p:spTree>
    <p:extLst>
      <p:ext uri="{BB962C8B-B14F-4D97-AF65-F5344CB8AC3E}">
        <p14:creationId xmlns:p14="http://schemas.microsoft.com/office/powerpoint/2010/main" val="107778158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mINIMIZACIóN</a:t>
            </a:r>
            <a:r>
              <a:rPr lang="en-US" b="1" dirty="0">
                <a:solidFill>
                  <a:srgbClr val="1F497D"/>
                </a:solidFill>
              </a:rPr>
              <a:t> DE LOS COSTOS</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545717-1E68-644D-327B-804C14E49689}"/>
                  </a:ext>
                </a:extLst>
              </p:cNvPr>
              <p:cNvSpPr txBox="1"/>
              <p:nvPr/>
            </p:nvSpPr>
            <p:spPr>
              <a:xfrm>
                <a:off x="657226" y="1289993"/>
                <a:ext cx="6629400" cy="5286512"/>
              </a:xfrm>
              <a:prstGeom prst="rect">
                <a:avLst/>
              </a:prstGeom>
              <a:noFill/>
            </p:spPr>
            <p:txBody>
              <a:bodyPr wrap="square">
                <a:spAutoFit/>
              </a:bodyPr>
              <a:lstStyle/>
              <a:p>
                <a:pPr algn="just"/>
                <a:r>
                  <a:rPr lang="es-ES" sz="2400" dirty="0">
                    <a:solidFill>
                      <a:prstClr val="black"/>
                    </a:solidFill>
                  </a:rPr>
                  <a:t>Representamos el costo de las combinaciones de factores:</a:t>
                </a:r>
              </a:p>
              <a:p>
                <a:pPr algn="ctr"/>
                <a:r>
                  <a:rPr lang="en-US" sz="2400" b="1" dirty="0">
                    <a:solidFill>
                      <a:prstClr val="black"/>
                    </a:solidFill>
                  </a:rPr>
                  <a:t>C</a:t>
                </a:r>
                <a:r>
                  <a:rPr lang="es-ES" sz="2400" b="1" dirty="0">
                    <a:solidFill>
                      <a:prstClr val="black"/>
                    </a:solidFill>
                  </a:rPr>
                  <a:t>= </a:t>
                </a:r>
                <a14:m>
                  <m:oMath xmlns:m="http://schemas.openxmlformats.org/officeDocument/2006/math">
                    <m:sSub>
                      <m:sSubPr>
                        <m:ctrlPr>
                          <a:rPr lang="es-ES" sz="2400" b="1" i="1">
                            <a:solidFill>
                              <a:prstClr val="black"/>
                            </a:solidFill>
                            <a:latin typeface="Cambria Math" panose="02040503050406030204" pitchFamily="18" charset="0"/>
                          </a:rPr>
                        </m:ctrlPr>
                      </m:sSubPr>
                      <m:e>
                        <m:r>
                          <a:rPr lang="en-US" sz="2400" b="1" i="1" smtClean="0">
                            <a:solidFill>
                              <a:prstClr val="black"/>
                            </a:solidFill>
                            <a:latin typeface="Cambria Math" panose="02040503050406030204" pitchFamily="18" charset="0"/>
                          </a:rPr>
                          <m:t>𝒘</m:t>
                        </m:r>
                      </m:e>
                      <m:sub>
                        <m:r>
                          <a:rPr lang="en-US" sz="2400" b="1" i="1">
                            <a:solidFill>
                              <a:prstClr val="black"/>
                            </a:solidFill>
                            <a:latin typeface="Cambria Math" panose="02040503050406030204" pitchFamily="18" charset="0"/>
                          </a:rPr>
                          <m:t>𝟏</m:t>
                        </m:r>
                      </m:sub>
                    </m:sSub>
                    <m:sSub>
                      <m:sSubPr>
                        <m:ctrlPr>
                          <a:rPr lang="es-ES" sz="2400" b="1" i="1">
                            <a:solidFill>
                              <a:prstClr val="black"/>
                            </a:solidFill>
                            <a:latin typeface="Cambria Math" panose="02040503050406030204" pitchFamily="18" charset="0"/>
                          </a:rPr>
                        </m:ctrlPr>
                      </m:sSubPr>
                      <m:e>
                        <m:r>
                          <a:rPr lang="en-US" sz="2400" b="1" i="1" smtClean="0">
                            <a:solidFill>
                              <a:prstClr val="black"/>
                            </a:solidFill>
                            <a:latin typeface="Cambria Math" panose="02040503050406030204" pitchFamily="18" charset="0"/>
                          </a:rPr>
                          <m:t>𝒙</m:t>
                        </m:r>
                      </m:e>
                      <m:sub>
                        <m:r>
                          <a:rPr lang="en-US" sz="2400" b="1" i="1">
                            <a:solidFill>
                              <a:prstClr val="black"/>
                            </a:solidFill>
                            <a:latin typeface="Cambria Math" panose="02040503050406030204" pitchFamily="18" charset="0"/>
                          </a:rPr>
                          <m:t>𝟏</m:t>
                        </m:r>
                      </m:sub>
                    </m:sSub>
                  </m:oMath>
                </a14:m>
                <a:r>
                  <a:rPr lang="en-US" sz="2400" b="1" dirty="0">
                    <a:solidFill>
                      <a:prstClr val="black"/>
                    </a:solidFill>
                  </a:rPr>
                  <a:t>+ </a:t>
                </a:r>
                <a14:m>
                  <m:oMath xmlns:m="http://schemas.openxmlformats.org/officeDocument/2006/math">
                    <m:sSub>
                      <m:sSubPr>
                        <m:ctrlPr>
                          <a:rPr lang="es-ES" sz="2400" b="1" i="1">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𝒘</m:t>
                        </m:r>
                      </m:e>
                      <m:sub>
                        <m:r>
                          <a:rPr lang="en-US" sz="2400" b="1" i="1" smtClean="0">
                            <a:solidFill>
                              <a:prstClr val="black"/>
                            </a:solidFill>
                            <a:latin typeface="Cambria Math" panose="02040503050406030204" pitchFamily="18" charset="0"/>
                          </a:rPr>
                          <m:t>𝟐</m:t>
                        </m:r>
                      </m:sub>
                    </m:sSub>
                    <m:sSub>
                      <m:sSubPr>
                        <m:ctrlPr>
                          <a:rPr lang="es-ES" sz="2400" b="1" i="1">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𝒙</m:t>
                        </m:r>
                      </m:e>
                      <m:sub>
                        <m:r>
                          <a:rPr lang="en-US" sz="2400" b="1" i="1" smtClean="0">
                            <a:solidFill>
                              <a:prstClr val="black"/>
                            </a:solidFill>
                            <a:latin typeface="Cambria Math" panose="02040503050406030204" pitchFamily="18" charset="0"/>
                          </a:rPr>
                          <m:t>𝟐</m:t>
                        </m:r>
                      </m:sub>
                    </m:sSub>
                    <m:r>
                      <a:rPr lang="en-US" sz="2400" b="1" i="1">
                        <a:solidFill>
                          <a:prstClr val="black"/>
                        </a:solidFill>
                        <a:latin typeface="Cambria Math" panose="02040503050406030204" pitchFamily="18" charset="0"/>
                      </a:rPr>
                      <m:t> </m:t>
                    </m:r>
                  </m:oMath>
                </a14:m>
                <a:endParaRPr lang="en-US" sz="2400" b="1" dirty="0">
                  <a:solidFill>
                    <a:prstClr val="black"/>
                  </a:solidFill>
                </a:endParaRPr>
              </a:p>
              <a:p>
                <a:pPr algn="ctr"/>
                <a:endParaRPr lang="en-US" sz="2400" b="1" dirty="0">
                  <a:solidFill>
                    <a:prstClr val="black"/>
                  </a:solidFill>
                </a:endParaRPr>
              </a:p>
              <a:p>
                <a:pPr algn="just"/>
                <a:r>
                  <a:rPr lang="es-ES" sz="2400" dirty="0">
                    <a:solidFill>
                      <a:prstClr val="black"/>
                    </a:solidFill>
                  </a:rPr>
                  <a:t>de la que se deduce que</a:t>
                </a:r>
              </a:p>
              <a:p>
                <a:pPr algn="ctr"/>
                <a14:m>
                  <m:oMath xmlns:m="http://schemas.openxmlformats.org/officeDocument/2006/math">
                    <m:sSub>
                      <m:sSubPr>
                        <m:ctrlPr>
                          <a:rPr lang="es-ES" sz="2400" b="1" i="1" smtClean="0">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𝒙</m:t>
                        </m:r>
                      </m:e>
                      <m:sub>
                        <m:r>
                          <a:rPr lang="en-US" sz="2400" b="1" i="1" smtClean="0">
                            <a:solidFill>
                              <a:prstClr val="black"/>
                            </a:solidFill>
                            <a:latin typeface="Cambria Math" panose="02040503050406030204" pitchFamily="18" charset="0"/>
                          </a:rPr>
                          <m:t>𝟐</m:t>
                        </m:r>
                      </m:sub>
                    </m:sSub>
                    <m:r>
                      <a:rPr lang="en-US" sz="2400" b="1" i="1" smtClean="0">
                        <a:solidFill>
                          <a:prstClr val="black"/>
                        </a:solidFill>
                        <a:latin typeface="Cambria Math" panose="02040503050406030204" pitchFamily="18" charset="0"/>
                      </a:rPr>
                      <m:t>=</m:t>
                    </m:r>
                    <m:f>
                      <m:fPr>
                        <m:ctrlPr>
                          <a:rPr lang="en-US" sz="2400" b="1" i="1" smtClean="0">
                            <a:solidFill>
                              <a:prstClr val="black"/>
                            </a:solidFill>
                            <a:latin typeface="Cambria Math" panose="02040503050406030204" pitchFamily="18" charset="0"/>
                          </a:rPr>
                        </m:ctrlPr>
                      </m:fPr>
                      <m:num>
                        <m:r>
                          <a:rPr lang="en-US" sz="2400" b="1" i="1" smtClean="0">
                            <a:solidFill>
                              <a:prstClr val="black"/>
                            </a:solidFill>
                            <a:latin typeface="Cambria Math" panose="02040503050406030204" pitchFamily="18" charset="0"/>
                          </a:rPr>
                          <m:t>𝑪</m:t>
                        </m:r>
                      </m:num>
                      <m:den>
                        <m:sSub>
                          <m:sSubPr>
                            <m:ctrlPr>
                              <a:rPr lang="es-ES" sz="2400" b="1" i="1">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𝒘</m:t>
                            </m:r>
                          </m:e>
                          <m:sub>
                            <m:r>
                              <a:rPr lang="en-US" sz="2400" b="1" i="1">
                                <a:solidFill>
                                  <a:prstClr val="black"/>
                                </a:solidFill>
                                <a:latin typeface="Cambria Math" panose="02040503050406030204" pitchFamily="18" charset="0"/>
                              </a:rPr>
                              <m:t>𝟐</m:t>
                            </m:r>
                          </m:sub>
                        </m:sSub>
                      </m:den>
                    </m:f>
                    <m:r>
                      <a:rPr lang="en-US" sz="2400" b="1" i="1" smtClean="0">
                        <a:solidFill>
                          <a:prstClr val="black"/>
                        </a:solidFill>
                        <a:latin typeface="Cambria Math" panose="02040503050406030204" pitchFamily="18" charset="0"/>
                      </a:rPr>
                      <m:t> </m:t>
                    </m:r>
                  </m:oMath>
                </a14:m>
                <a:r>
                  <a:rPr lang="en-US" sz="2400" b="1" dirty="0">
                    <a:solidFill>
                      <a:prstClr val="black"/>
                    </a:solidFill>
                  </a:rPr>
                  <a:t>- </a:t>
                </a:r>
                <a14:m>
                  <m:oMath xmlns:m="http://schemas.openxmlformats.org/officeDocument/2006/math">
                    <m:f>
                      <m:fPr>
                        <m:ctrlPr>
                          <a:rPr lang="en-US" sz="2400" b="1" i="1">
                            <a:solidFill>
                              <a:prstClr val="black"/>
                            </a:solidFill>
                            <a:latin typeface="Cambria Math" panose="02040503050406030204" pitchFamily="18" charset="0"/>
                          </a:rPr>
                        </m:ctrlPr>
                      </m:fPr>
                      <m:num>
                        <m:sSub>
                          <m:sSubPr>
                            <m:ctrlPr>
                              <a:rPr lang="es-ES" sz="2400" b="1" i="1">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𝒘</m:t>
                            </m:r>
                          </m:e>
                          <m:sub>
                            <m:r>
                              <a:rPr lang="en-US" sz="2400" b="1" i="1" smtClean="0">
                                <a:solidFill>
                                  <a:prstClr val="black"/>
                                </a:solidFill>
                                <a:latin typeface="Cambria Math" panose="02040503050406030204" pitchFamily="18" charset="0"/>
                              </a:rPr>
                              <m:t>𝟏</m:t>
                            </m:r>
                          </m:sub>
                        </m:sSub>
                      </m:num>
                      <m:den>
                        <m:sSub>
                          <m:sSubPr>
                            <m:ctrlPr>
                              <a:rPr lang="es-ES" sz="2400" b="1" i="1">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𝒘</m:t>
                            </m:r>
                          </m:e>
                          <m:sub>
                            <m:r>
                              <a:rPr lang="en-US" sz="2400" b="1" i="1">
                                <a:solidFill>
                                  <a:prstClr val="black"/>
                                </a:solidFill>
                                <a:latin typeface="Cambria Math" panose="02040503050406030204" pitchFamily="18" charset="0"/>
                              </a:rPr>
                              <m:t>𝟐</m:t>
                            </m:r>
                          </m:sub>
                        </m:sSub>
                      </m:den>
                    </m:f>
                  </m:oMath>
                </a14:m>
                <a:r>
                  <a:rPr lang="es-ES" sz="2400" b="1" dirty="0">
                    <a:solidFill>
                      <a:prstClr val="black"/>
                    </a:solidFill>
                  </a:rPr>
                  <a:t> </a:t>
                </a:r>
                <a14:m>
                  <m:oMath xmlns:m="http://schemas.openxmlformats.org/officeDocument/2006/math">
                    <m:sSub>
                      <m:sSubPr>
                        <m:ctrlPr>
                          <a:rPr lang="es-ES" sz="2400" b="1" i="1">
                            <a:solidFill>
                              <a:prstClr val="black"/>
                            </a:solidFill>
                            <a:latin typeface="Cambria Math" panose="02040503050406030204" pitchFamily="18" charset="0"/>
                          </a:rPr>
                        </m:ctrlPr>
                      </m:sSubPr>
                      <m:e>
                        <m:r>
                          <a:rPr lang="en-US" sz="2400" b="1" i="1">
                            <a:solidFill>
                              <a:prstClr val="black"/>
                            </a:solidFill>
                            <a:latin typeface="Cambria Math" panose="02040503050406030204" pitchFamily="18" charset="0"/>
                          </a:rPr>
                          <m:t>𝒙</m:t>
                        </m:r>
                      </m:e>
                      <m:sub>
                        <m:r>
                          <a:rPr lang="en-US" sz="2400" b="1" i="1" smtClean="0">
                            <a:solidFill>
                              <a:prstClr val="black"/>
                            </a:solidFill>
                            <a:latin typeface="Cambria Math" panose="02040503050406030204" pitchFamily="18" charset="0"/>
                          </a:rPr>
                          <m:t>𝟏</m:t>
                        </m:r>
                      </m:sub>
                    </m:sSub>
                    <m:r>
                      <a:rPr lang="en-US" sz="2400" b="1" i="1">
                        <a:solidFill>
                          <a:prstClr val="black"/>
                        </a:solidFill>
                        <a:latin typeface="Cambria Math" panose="02040503050406030204" pitchFamily="18" charset="0"/>
                      </a:rPr>
                      <m:t> </m:t>
                    </m:r>
                  </m:oMath>
                </a14:m>
                <a:endParaRPr lang="en-US" sz="2400" b="1" dirty="0">
                  <a:solidFill>
                    <a:prstClr val="black"/>
                  </a:solidFill>
                </a:endParaRPr>
              </a:p>
              <a:p>
                <a:pPr algn="just"/>
                <a:r>
                  <a:rPr lang="es-ES" sz="2400" dirty="0">
                    <a:solidFill>
                      <a:prstClr val="black"/>
                    </a:solidFill>
                  </a:rPr>
                  <a:t>Es fácil ver que se trata de una recta cuya pendiente es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b="0" i="1">
                            <a:solidFill>
                              <a:prstClr val="black"/>
                            </a:solidFill>
                            <a:latin typeface="Cambria Math" panose="02040503050406030204" pitchFamily="18" charset="0"/>
                          </a:rPr>
                          <m:t>𝑤</m:t>
                        </m:r>
                      </m:e>
                      <m:sub>
                        <m:r>
                          <a:rPr lang="en-US" sz="2400" b="0" i="1">
                            <a:solidFill>
                              <a:prstClr val="black"/>
                            </a:solidFill>
                            <a:latin typeface="Cambria Math" panose="02040503050406030204" pitchFamily="18" charset="0"/>
                          </a:rPr>
                          <m:t>1</m:t>
                        </m:r>
                      </m:sub>
                    </m:sSub>
                  </m:oMath>
                </a14:m>
                <a:r>
                  <a:rPr lang="es-ES" sz="2400" dirty="0">
                    <a:solidFill>
                      <a:prstClr val="black"/>
                    </a:solidFill>
                  </a:rPr>
                  <a:t>/ </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b="0" i="1">
                            <a:solidFill>
                              <a:prstClr val="black"/>
                            </a:solidFill>
                            <a:latin typeface="Cambria Math" panose="02040503050406030204" pitchFamily="18" charset="0"/>
                          </a:rPr>
                          <m:t>𝑤</m:t>
                        </m:r>
                      </m:e>
                      <m:sub>
                        <m:r>
                          <a:rPr lang="en-US" sz="2400" b="0" i="1" smtClean="0">
                            <a:solidFill>
                              <a:prstClr val="black"/>
                            </a:solidFill>
                            <a:latin typeface="Cambria Math" panose="02040503050406030204" pitchFamily="18" charset="0"/>
                          </a:rPr>
                          <m:t>2</m:t>
                        </m:r>
                      </m:sub>
                    </m:sSub>
                    <m:r>
                      <a:rPr lang="en-US" sz="2400" b="0" i="1">
                        <a:solidFill>
                          <a:prstClr val="black"/>
                        </a:solidFill>
                        <a:latin typeface="Cambria Math" panose="02040503050406030204" pitchFamily="18" charset="0"/>
                      </a:rPr>
                      <m:t> </m:t>
                    </m:r>
                  </m:oMath>
                </a14:m>
                <a:r>
                  <a:rPr lang="es-ES" sz="2400" dirty="0">
                    <a:solidFill>
                      <a:prstClr val="black"/>
                    </a:solidFill>
                  </a:rPr>
                  <a:t>y cuya ordenada en el origen es C/</a:t>
                </a:r>
                <a14:m>
                  <m:oMath xmlns:m="http://schemas.openxmlformats.org/officeDocument/2006/math">
                    <m:sSub>
                      <m:sSubPr>
                        <m:ctrlPr>
                          <a:rPr lang="es-ES" sz="2400" i="1">
                            <a:solidFill>
                              <a:prstClr val="black"/>
                            </a:solidFill>
                            <a:latin typeface="Cambria Math" panose="02040503050406030204" pitchFamily="18" charset="0"/>
                          </a:rPr>
                        </m:ctrlPr>
                      </m:sSubPr>
                      <m:e>
                        <m:r>
                          <a:rPr lang="en-US" sz="2400" b="0" i="1">
                            <a:solidFill>
                              <a:prstClr val="black"/>
                            </a:solidFill>
                            <a:latin typeface="Cambria Math" panose="02040503050406030204" pitchFamily="18" charset="0"/>
                          </a:rPr>
                          <m:t>𝑤</m:t>
                        </m:r>
                      </m:e>
                      <m:sub>
                        <m:r>
                          <a:rPr lang="en-US" sz="2400" b="0" i="1" smtClean="0">
                            <a:solidFill>
                              <a:prstClr val="black"/>
                            </a:solidFill>
                            <a:latin typeface="Cambria Math" panose="02040503050406030204" pitchFamily="18" charset="0"/>
                          </a:rPr>
                          <m:t>2</m:t>
                        </m:r>
                      </m:sub>
                    </m:sSub>
                  </m:oMath>
                </a14:m>
                <a:r>
                  <a:rPr lang="es-ES" sz="2400" dirty="0">
                    <a:solidFill>
                      <a:prstClr val="black"/>
                    </a:solidFill>
                  </a:rPr>
                  <a:t>. Variando C obtenemos una familia de rectas isocoste. Todos los puntos de una misma recta tienen el mismo coste, C, y cuanto más arriba estén las rectas, mayor será éste.</a:t>
                </a:r>
                <a:endParaRPr lang="en-US" sz="2400" dirty="0">
                  <a:solidFill>
                    <a:prstClr val="black"/>
                  </a:solidFill>
                </a:endParaRPr>
              </a:p>
              <a:p>
                <a:pPr algn="just"/>
                <a:endParaRPr lang="en-US" sz="3600" dirty="0">
                  <a:solidFill>
                    <a:prstClr val="black"/>
                  </a:solidFill>
                  <a:latin typeface="Corbel" panose="020B0503020204020204"/>
                </a:endParaRPr>
              </a:p>
            </p:txBody>
          </p:sp>
        </mc:Choice>
        <mc:Fallback xmlns="">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657226" y="1289993"/>
                <a:ext cx="6629400" cy="5286512"/>
              </a:xfrm>
              <a:prstGeom prst="rect">
                <a:avLst/>
              </a:prstGeom>
              <a:blipFill>
                <a:blip r:embed="rId3"/>
                <a:stretch>
                  <a:fillRect l="-1472" t="-923" r="-138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A12603F-E079-CDC0-CCE5-A49D8D405803}"/>
              </a:ext>
            </a:extLst>
          </p:cNvPr>
          <p:cNvPicPr>
            <a:picLocks noChangeAspect="1"/>
          </p:cNvPicPr>
          <p:nvPr/>
        </p:nvPicPr>
        <p:blipFill rotWithShape="1">
          <a:blip r:embed="rId4"/>
          <a:srcRect l="3355" r="2907"/>
          <a:stretch/>
        </p:blipFill>
        <p:spPr>
          <a:xfrm>
            <a:off x="7563120" y="1760267"/>
            <a:ext cx="4543154" cy="4247796"/>
          </a:xfrm>
          <a:prstGeom prst="rect">
            <a:avLst/>
          </a:prstGeom>
        </p:spPr>
      </p:pic>
    </p:spTree>
    <p:extLst>
      <p:ext uri="{BB962C8B-B14F-4D97-AF65-F5344CB8AC3E}">
        <p14:creationId xmlns:p14="http://schemas.microsoft.com/office/powerpoint/2010/main" val="319705982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mINIMIZACIóN</a:t>
            </a:r>
            <a:r>
              <a:rPr lang="en-US" b="1" dirty="0">
                <a:solidFill>
                  <a:srgbClr val="1F497D"/>
                </a:solidFill>
              </a:rPr>
              <a:t> DE LOS COSTOS</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6902227" cy="4708981"/>
          </a:xfrm>
          <a:prstGeom prst="rect">
            <a:avLst/>
          </a:prstGeom>
          <a:noFill/>
        </p:spPr>
        <p:txBody>
          <a:bodyPr wrap="square">
            <a:spAutoFit/>
          </a:bodyPr>
          <a:lstStyle/>
          <a:p>
            <a:pPr algn="just"/>
            <a:r>
              <a:rPr lang="es-ES" sz="2400" dirty="0">
                <a:solidFill>
                  <a:prstClr val="black"/>
                </a:solidFill>
              </a:rPr>
              <a:t>Si la solución óptima exige utilizar ambos factores, el punto de minimización de los costes se caracteriza por una condición de tangencia: </a:t>
            </a:r>
            <a:r>
              <a:rPr lang="es-ES" sz="2400" b="1" i="1" dirty="0">
                <a:solidFill>
                  <a:prstClr val="black"/>
                </a:solidFill>
              </a:rPr>
              <a:t>la pendiente de la isocuanta debe ser igual a la pendiente de la curva isocoste.</a:t>
            </a:r>
            <a:r>
              <a:rPr lang="es-ES" sz="2400" dirty="0">
                <a:solidFill>
                  <a:prstClr val="black"/>
                </a:solidFill>
              </a:rPr>
              <a:t> O utilizando la terminología que conocemos, </a:t>
            </a:r>
            <a:r>
              <a:rPr lang="es-ES" sz="2400" b="1" i="1" dirty="0">
                <a:solidFill>
                  <a:prstClr val="black"/>
                </a:solidFill>
              </a:rPr>
              <a:t>la relación técnica de sustitución debe ser igual a la relación de precios de los factores:</a:t>
            </a:r>
            <a:endParaRPr lang="en-US" sz="2400" b="1" i="1" dirty="0">
              <a:solidFill>
                <a:prstClr val="black"/>
              </a:solidFill>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600" dirty="0">
              <a:solidFill>
                <a:prstClr val="black"/>
              </a:solidFill>
              <a:latin typeface="Corbel" panose="020B0503020204020204"/>
            </a:endParaRPr>
          </a:p>
        </p:txBody>
      </p:sp>
      <p:pic>
        <p:nvPicPr>
          <p:cNvPr id="3" name="Picture 2">
            <a:extLst>
              <a:ext uri="{FF2B5EF4-FFF2-40B4-BE49-F238E27FC236}">
                <a16:creationId xmlns:a16="http://schemas.microsoft.com/office/drawing/2014/main" id="{1331E683-4B89-C3B1-D287-DD9087C38793}"/>
              </a:ext>
            </a:extLst>
          </p:cNvPr>
          <p:cNvPicPr>
            <a:picLocks noChangeAspect="1"/>
          </p:cNvPicPr>
          <p:nvPr/>
        </p:nvPicPr>
        <p:blipFill rotWithShape="1">
          <a:blip r:embed="rId3"/>
          <a:srcRect l="3355" r="2907"/>
          <a:stretch/>
        </p:blipFill>
        <p:spPr>
          <a:xfrm>
            <a:off x="7563120" y="1760267"/>
            <a:ext cx="4543154" cy="4247796"/>
          </a:xfrm>
          <a:prstGeom prst="rect">
            <a:avLst/>
          </a:prstGeom>
        </p:spPr>
      </p:pic>
      <p:pic>
        <p:nvPicPr>
          <p:cNvPr id="5" name="Picture 4">
            <a:extLst>
              <a:ext uri="{FF2B5EF4-FFF2-40B4-BE49-F238E27FC236}">
                <a16:creationId xmlns:a16="http://schemas.microsoft.com/office/drawing/2014/main" id="{0375AD5A-F938-97CA-9071-703A0DB0C7CD}"/>
              </a:ext>
            </a:extLst>
          </p:cNvPr>
          <p:cNvPicPr>
            <a:picLocks noChangeAspect="1"/>
          </p:cNvPicPr>
          <p:nvPr/>
        </p:nvPicPr>
        <p:blipFill>
          <a:blip r:embed="rId4"/>
          <a:stretch>
            <a:fillRect/>
          </a:stretch>
        </p:blipFill>
        <p:spPr>
          <a:xfrm>
            <a:off x="1501335" y="4171536"/>
            <a:ext cx="4887007" cy="990738"/>
          </a:xfrm>
          <a:prstGeom prst="rect">
            <a:avLst/>
          </a:prstGeom>
        </p:spPr>
      </p:pic>
    </p:spTree>
    <p:extLst>
      <p:ext uri="{BB962C8B-B14F-4D97-AF65-F5344CB8AC3E}">
        <p14:creationId xmlns:p14="http://schemas.microsoft.com/office/powerpoint/2010/main" val="1544291911"/>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mINIMIZACIóN</a:t>
            </a:r>
            <a:r>
              <a:rPr lang="en-US" b="1" dirty="0">
                <a:solidFill>
                  <a:srgbClr val="1F497D"/>
                </a:solidFill>
              </a:rPr>
              <a:t> DE LOS COSTOS</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509650"/>
            <a:ext cx="6902227" cy="4278094"/>
          </a:xfrm>
          <a:prstGeom prst="rect">
            <a:avLst/>
          </a:prstGeom>
          <a:noFill/>
        </p:spPr>
        <p:txBody>
          <a:bodyPr wrap="square">
            <a:spAutoFit/>
          </a:bodyPr>
          <a:lstStyle/>
          <a:p>
            <a:pPr algn="just"/>
            <a:r>
              <a:rPr lang="es-ES" sz="2400" dirty="0">
                <a:solidFill>
                  <a:prstClr val="black"/>
                </a:solidFill>
                <a:latin typeface="Corbel" panose="020B0503020204020204"/>
              </a:rPr>
              <a:t>Este gráfico, tiene cierto parecido con la del problema de la elección del consumidor.</a:t>
            </a:r>
          </a:p>
          <a:p>
            <a:pPr algn="just"/>
            <a:endParaRPr lang="es-ES" sz="2400" dirty="0">
              <a:solidFill>
                <a:prstClr val="black"/>
              </a:solidFill>
              <a:latin typeface="Corbel" panose="020B0503020204020204"/>
            </a:endParaRPr>
          </a:p>
          <a:p>
            <a:pPr algn="just"/>
            <a:r>
              <a:rPr lang="es-ES" sz="2400" dirty="0">
                <a:solidFill>
                  <a:prstClr val="black"/>
                </a:solidFill>
                <a:latin typeface="Corbel" panose="020B0503020204020204"/>
              </a:rPr>
              <a:t>En el </a:t>
            </a:r>
            <a:r>
              <a:rPr lang="es-ES" sz="2400" b="1" dirty="0">
                <a:solidFill>
                  <a:prstClr val="black"/>
                </a:solidFill>
                <a:latin typeface="Corbel" panose="020B0503020204020204"/>
              </a:rPr>
              <a:t>del consumidor</a:t>
            </a:r>
            <a:r>
              <a:rPr lang="es-ES" sz="2400" dirty="0">
                <a:solidFill>
                  <a:prstClr val="black"/>
                </a:solidFill>
                <a:latin typeface="Corbel" panose="020B0503020204020204"/>
              </a:rPr>
              <a:t>, la recta representaba la </a:t>
            </a:r>
            <a:r>
              <a:rPr lang="es-ES" sz="2400" u="sng" dirty="0">
                <a:solidFill>
                  <a:prstClr val="black"/>
                </a:solidFill>
                <a:latin typeface="Corbel" panose="020B0503020204020204"/>
              </a:rPr>
              <a:t>restricción presupuestaria y el consumidor se desplazaba a lo largo de ella para hallar la posición que prefería. </a:t>
            </a:r>
            <a:r>
              <a:rPr lang="es-ES" sz="2400" dirty="0">
                <a:solidFill>
                  <a:prstClr val="black"/>
                </a:solidFill>
                <a:latin typeface="Corbel" panose="020B0503020204020204"/>
              </a:rPr>
              <a:t>En el problema </a:t>
            </a:r>
            <a:r>
              <a:rPr lang="es-ES" sz="2400" b="1" dirty="0">
                <a:solidFill>
                  <a:prstClr val="black"/>
                </a:solidFill>
                <a:latin typeface="Corbel" panose="020B0503020204020204"/>
              </a:rPr>
              <a:t>del productor</a:t>
            </a:r>
            <a:r>
              <a:rPr lang="es-ES" sz="2400" dirty="0">
                <a:solidFill>
                  <a:prstClr val="black"/>
                </a:solidFill>
                <a:latin typeface="Corbel" panose="020B0503020204020204"/>
              </a:rPr>
              <a:t>, la </a:t>
            </a:r>
            <a:r>
              <a:rPr lang="es-ES" sz="2400" b="1" dirty="0">
                <a:solidFill>
                  <a:prstClr val="black"/>
                </a:solidFill>
                <a:latin typeface="Corbel" panose="020B0503020204020204"/>
              </a:rPr>
              <a:t>isocuanta</a:t>
            </a:r>
            <a:r>
              <a:rPr lang="es-ES" sz="2400" dirty="0">
                <a:solidFill>
                  <a:prstClr val="black"/>
                </a:solidFill>
                <a:latin typeface="Corbel" panose="020B0503020204020204"/>
              </a:rPr>
              <a:t> </a:t>
            </a:r>
            <a:r>
              <a:rPr lang="es-ES" sz="2400" b="1" dirty="0">
                <a:solidFill>
                  <a:prstClr val="black"/>
                </a:solidFill>
                <a:latin typeface="Corbel" panose="020B0503020204020204"/>
              </a:rPr>
              <a:t>representa la restricción tecnológica y el productor se desplaza a lo largo de ella para hallar la posición óptima.</a:t>
            </a:r>
            <a:endParaRPr lang="en-US" sz="2400" b="1" dirty="0">
              <a:solidFill>
                <a:prstClr val="black"/>
              </a:solidFill>
              <a:latin typeface="Corbel" panose="020B0503020204020204"/>
            </a:endParaRPr>
          </a:p>
          <a:p>
            <a:pPr algn="just"/>
            <a:endParaRPr lang="en-US" sz="3200" dirty="0">
              <a:solidFill>
                <a:prstClr val="black"/>
              </a:solidFill>
              <a:latin typeface="Corbel" panose="020B0503020204020204"/>
            </a:endParaRPr>
          </a:p>
        </p:txBody>
      </p:sp>
      <p:pic>
        <p:nvPicPr>
          <p:cNvPr id="3" name="Picture 2">
            <a:extLst>
              <a:ext uri="{FF2B5EF4-FFF2-40B4-BE49-F238E27FC236}">
                <a16:creationId xmlns:a16="http://schemas.microsoft.com/office/drawing/2014/main" id="{1FA77880-5965-22CF-595F-DC355ADB4DFD}"/>
              </a:ext>
            </a:extLst>
          </p:cNvPr>
          <p:cNvPicPr>
            <a:picLocks noChangeAspect="1"/>
          </p:cNvPicPr>
          <p:nvPr/>
        </p:nvPicPr>
        <p:blipFill rotWithShape="1">
          <a:blip r:embed="rId3"/>
          <a:srcRect l="3355" r="2907"/>
          <a:stretch/>
        </p:blipFill>
        <p:spPr>
          <a:xfrm>
            <a:off x="7563120" y="1760267"/>
            <a:ext cx="4543154" cy="4247796"/>
          </a:xfrm>
          <a:prstGeom prst="rect">
            <a:avLst/>
          </a:prstGeom>
        </p:spPr>
      </p:pic>
    </p:spTree>
    <p:extLst>
      <p:ext uri="{BB962C8B-B14F-4D97-AF65-F5344CB8AC3E}">
        <p14:creationId xmlns:p14="http://schemas.microsoft.com/office/powerpoint/2010/main" val="538709233"/>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Funciones</a:t>
            </a:r>
            <a:r>
              <a:rPr lang="en-US" b="1" dirty="0">
                <a:solidFill>
                  <a:srgbClr val="1F497D"/>
                </a:solidFill>
              </a:rPr>
              <a:t> de </a:t>
            </a:r>
            <a:r>
              <a:rPr lang="en-US" b="1" dirty="0" err="1">
                <a:solidFill>
                  <a:srgbClr val="1F497D"/>
                </a:solidFill>
              </a:rPr>
              <a:t>demanda</a:t>
            </a:r>
            <a:r>
              <a:rPr lang="en-US" b="1" dirty="0">
                <a:solidFill>
                  <a:srgbClr val="1F497D"/>
                </a:solidFill>
              </a:rPr>
              <a:t> </a:t>
            </a:r>
            <a:r>
              <a:rPr lang="en-US" b="1" dirty="0" err="1">
                <a:solidFill>
                  <a:srgbClr val="1F497D"/>
                </a:solidFill>
              </a:rPr>
              <a:t>condicionadas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4401205"/>
              </a:xfrm>
              <a:prstGeom prst="rect">
                <a:avLst/>
              </a:prstGeom>
              <a:noFill/>
            </p:spPr>
            <p:txBody>
              <a:bodyPr wrap="square">
                <a:spAutoFit/>
              </a:bodyPr>
              <a:lstStyle/>
              <a:p>
                <a:pPr algn="just"/>
                <a:r>
                  <a:rPr lang="es-ES" sz="2800" dirty="0">
                    <a:solidFill>
                      <a:prstClr val="black"/>
                    </a:solidFill>
                    <a:latin typeface="Corbel" panose="020B0503020204020204"/>
                  </a:rPr>
                  <a:t>La elección de aquellos factores que generan costes mínimos a la empresa depende, en general, de los precios y del nivel de producción deseado, por lo que las expresamos de la siguiente manera:</a:t>
                </a:r>
              </a:p>
              <a:p>
                <a:pPr algn="ctr"/>
                <a:r>
                  <a:rPr lang="es-ES" sz="2800" dirty="0">
                    <a:solidFill>
                      <a:prstClr val="black"/>
                    </a:solidFill>
                    <a:latin typeface="Corbel" panose="020B0503020204020204"/>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a:solidFill>
                              <a:prstClr val="black"/>
                            </a:solidFill>
                            <a:latin typeface="Cambria Math" panose="02040503050406030204" pitchFamily="18" charset="0"/>
                          </a:rPr>
                          <m:t>𝑥</m:t>
                        </m:r>
                      </m:e>
                      <m:sub>
                        <m:r>
                          <a:rPr lang="en-US" sz="2800" b="0" i="1" smtClean="0">
                            <a:solidFill>
                              <a:prstClr val="black"/>
                            </a:solidFill>
                            <a:latin typeface="Cambria Math" panose="02040503050406030204" pitchFamily="18" charset="0"/>
                          </a:rPr>
                          <m:t>1</m:t>
                        </m:r>
                      </m:sub>
                    </m:sSub>
                  </m:oMath>
                </a14:m>
                <a:r>
                  <a:rPr lang="es-ES" sz="2800" i="1" dirty="0">
                    <a:solidFill>
                      <a:prstClr val="black"/>
                    </a:solidFill>
                    <a:latin typeface="Corbel" panose="020B0503020204020204"/>
                  </a:rPr>
                  <a:t>(</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1</m:t>
                        </m:r>
                      </m:sub>
                    </m:sSub>
                  </m:oMath>
                </a14:m>
                <a:r>
                  <a:rPr lang="es-ES" sz="2800" i="1" dirty="0">
                    <a:solidFill>
                      <a:prstClr val="black"/>
                    </a:solidFill>
                    <a:latin typeface="Corbel" panose="020B0503020204020204"/>
                  </a:rPr>
                  <a:t>,</a:t>
                </a:r>
                <a:r>
                  <a:rPr lang="es-ES" sz="2800" i="1"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2</m:t>
                        </m:r>
                      </m:sub>
                    </m:sSub>
                    <m:r>
                      <a:rPr lang="en-US" sz="2800" b="0" i="1" smtClean="0">
                        <a:solidFill>
                          <a:prstClr val="black"/>
                        </a:solidFill>
                        <a:latin typeface="Cambria Math" panose="02040503050406030204" pitchFamily="18" charset="0"/>
                      </a:rPr>
                      <m:t>,</m:t>
                    </m:r>
                  </m:oMath>
                </a14:m>
                <a:r>
                  <a:rPr lang="es-ES" sz="2800" i="1" dirty="0">
                    <a:solidFill>
                      <a:prstClr val="black"/>
                    </a:solidFill>
                    <a:latin typeface="Corbel" panose="020B0503020204020204"/>
                  </a:rPr>
                  <a:t> y) </a:t>
                </a:r>
                <a:r>
                  <a:rPr lang="es-ES" sz="2800" dirty="0">
                    <a:solidFill>
                      <a:prstClr val="black"/>
                    </a:solidFill>
                    <a:latin typeface="Corbel" panose="020B0503020204020204"/>
                  </a:rPr>
                  <a:t>y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𝑥</m:t>
                        </m:r>
                      </m:e>
                      <m:sub>
                        <m:r>
                          <a:rPr lang="en-US" sz="2800" b="0" i="1" smtClean="0">
                            <a:solidFill>
                              <a:prstClr val="black"/>
                            </a:solidFill>
                            <a:latin typeface="Cambria Math" panose="02040503050406030204" pitchFamily="18" charset="0"/>
                          </a:rPr>
                          <m:t>2</m:t>
                        </m:r>
                      </m:sub>
                    </m:sSub>
                  </m:oMath>
                </a14:m>
                <a:r>
                  <a:rPr lang="es-ES" sz="2800" i="1"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1</m:t>
                        </m:r>
                      </m:sub>
                    </m:sSub>
                  </m:oMath>
                </a14:m>
                <a:r>
                  <a:rPr lang="es-ES" sz="2800" i="1"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2</m:t>
                        </m:r>
                      </m:sub>
                    </m:sSub>
                    <m:r>
                      <a:rPr lang="en-US" sz="2800" i="1">
                        <a:solidFill>
                          <a:prstClr val="black"/>
                        </a:solidFill>
                        <a:latin typeface="Cambria Math" panose="02040503050406030204" pitchFamily="18" charset="0"/>
                      </a:rPr>
                      <m:t>,</m:t>
                    </m:r>
                  </m:oMath>
                </a14:m>
                <a:r>
                  <a:rPr lang="es-ES" sz="2800" i="1" dirty="0">
                    <a:solidFill>
                      <a:prstClr val="black"/>
                    </a:solidFill>
                  </a:rPr>
                  <a:t> y) </a:t>
                </a:r>
              </a:p>
              <a:p>
                <a:pPr algn="just"/>
                <a:endParaRPr lang="es-ES" sz="2800" dirty="0">
                  <a:solidFill>
                    <a:prstClr val="black"/>
                  </a:solidFill>
                  <a:latin typeface="Corbel" panose="020B0503020204020204"/>
                </a:endParaRPr>
              </a:p>
              <a:p>
                <a:pPr algn="just"/>
                <a:r>
                  <a:rPr lang="es-ES" sz="2800" dirty="0">
                    <a:solidFill>
                      <a:prstClr val="black"/>
                    </a:solidFill>
                    <a:latin typeface="Corbel" panose="020B0503020204020204"/>
                  </a:rPr>
                  <a:t>Estas funciones se denominan </a:t>
                </a:r>
                <a:r>
                  <a:rPr lang="es-ES" sz="2800" b="1" dirty="0">
                    <a:solidFill>
                      <a:prstClr val="black"/>
                    </a:solidFill>
                    <a:latin typeface="Corbel" panose="020B0503020204020204"/>
                  </a:rPr>
                  <a:t>funciones de demanda condicionadas de los factores o demandas derivadas de los factores </a:t>
                </a:r>
                <a:r>
                  <a:rPr lang="es-ES" sz="2800" dirty="0">
                    <a:solidFill>
                      <a:prstClr val="black"/>
                    </a:solidFill>
                    <a:latin typeface="Corbel" panose="020B0503020204020204"/>
                  </a:rPr>
                  <a:t>y </a:t>
                </a:r>
                <a:r>
                  <a:rPr lang="es-ES" sz="2800" u="sng" dirty="0">
                    <a:solidFill>
                      <a:prstClr val="black"/>
                    </a:solidFill>
                    <a:latin typeface="Corbel" panose="020B0503020204020204"/>
                  </a:rPr>
                  <a:t>miden la relación entre los precios y la producción y la elección óptima de los factores por parte de la empresa, condicionada a que ésta produzca una cantidad dada, y.</a:t>
                </a:r>
                <a:endParaRPr lang="en-US" sz="2800" u="sng" dirty="0">
                  <a:solidFill>
                    <a:prstClr val="black"/>
                  </a:solidFill>
                  <a:latin typeface="Corbel" panose="020B0503020204020204"/>
                </a:endParaRPr>
              </a:p>
            </p:txBody>
          </p:sp>
        </mc:Choice>
        <mc:Fallback xmlns="">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657225" y="1289993"/>
                <a:ext cx="11056057" cy="4401205"/>
              </a:xfrm>
              <a:prstGeom prst="rect">
                <a:avLst/>
              </a:prstGeom>
              <a:blipFill>
                <a:blip r:embed="rId3"/>
                <a:stretch>
                  <a:fillRect l="-1158" t="-1385" r="-1158" b="-3047"/>
                </a:stretch>
              </a:blipFill>
            </p:spPr>
            <p:txBody>
              <a:bodyPr/>
              <a:lstStyle/>
              <a:p>
                <a:r>
                  <a:rPr lang="en-US">
                    <a:noFill/>
                  </a:rPr>
                  <a:t> </a:t>
                </a:r>
              </a:p>
            </p:txBody>
          </p:sp>
        </mc:Fallback>
      </mc:AlternateContent>
    </p:spTree>
    <p:extLst>
      <p:ext uri="{BB962C8B-B14F-4D97-AF65-F5344CB8AC3E}">
        <p14:creationId xmlns:p14="http://schemas.microsoft.com/office/powerpoint/2010/main" val="179712486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Funciones</a:t>
            </a:r>
            <a:r>
              <a:rPr lang="en-US" b="1" dirty="0">
                <a:solidFill>
                  <a:srgbClr val="1F497D"/>
                </a:solidFill>
              </a:rPr>
              <a:t> de </a:t>
            </a:r>
            <a:r>
              <a:rPr lang="en-US" b="1" dirty="0" err="1">
                <a:solidFill>
                  <a:srgbClr val="1F497D"/>
                </a:solidFill>
              </a:rPr>
              <a:t>demanda</a:t>
            </a:r>
            <a:r>
              <a:rPr lang="en-US" b="1" dirty="0">
                <a:solidFill>
                  <a:srgbClr val="1F497D"/>
                </a:solidFill>
              </a:rPr>
              <a:t> </a:t>
            </a:r>
            <a:r>
              <a:rPr lang="en-US" b="1" dirty="0" err="1">
                <a:solidFill>
                  <a:srgbClr val="1F497D"/>
                </a:solidFill>
              </a:rPr>
              <a:t>condicionadas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4893647"/>
          </a:xfrm>
          <a:prstGeom prst="rect">
            <a:avLst/>
          </a:prstGeom>
          <a:noFill/>
        </p:spPr>
        <p:txBody>
          <a:bodyPr wrap="square">
            <a:spAutoFit/>
          </a:bodyPr>
          <a:lstStyle/>
          <a:p>
            <a:pPr algn="just"/>
            <a:r>
              <a:rPr lang="es-ES" sz="2400" dirty="0">
                <a:solidFill>
                  <a:prstClr val="black"/>
                </a:solidFill>
                <a:latin typeface="Corbel" panose="020B0503020204020204"/>
              </a:rPr>
              <a:t>Es necesario diferenciar claramente </a:t>
            </a:r>
            <a:r>
              <a:rPr lang="es-ES" sz="2400" i="1" dirty="0">
                <a:solidFill>
                  <a:prstClr val="black"/>
                </a:solidFill>
                <a:latin typeface="Corbel" panose="020B0503020204020204"/>
              </a:rPr>
              <a:t>las demandas condicionadas y las demandas de los factores </a:t>
            </a:r>
            <a:r>
              <a:rPr lang="es-ES" sz="2400" i="1" dirty="0" err="1">
                <a:solidFill>
                  <a:prstClr val="black"/>
                </a:solidFill>
                <a:latin typeface="Corbel" panose="020B0503020204020204"/>
              </a:rPr>
              <a:t>maximizadoras</a:t>
            </a:r>
            <a:r>
              <a:rPr lang="es-ES" sz="2400" i="1" dirty="0">
                <a:solidFill>
                  <a:prstClr val="black"/>
                </a:solidFill>
                <a:latin typeface="Corbel" panose="020B0503020204020204"/>
              </a:rPr>
              <a:t> </a:t>
            </a:r>
            <a:r>
              <a:rPr lang="es-ES" sz="2400" dirty="0">
                <a:solidFill>
                  <a:prstClr val="black"/>
                </a:solidFill>
                <a:latin typeface="Corbel" panose="020B0503020204020204"/>
              </a:rPr>
              <a:t>del beneficio.</a:t>
            </a:r>
          </a:p>
          <a:p>
            <a:pPr algn="just"/>
            <a:endParaRPr lang="es-ES" sz="2400" dirty="0">
              <a:solidFill>
                <a:prstClr val="black"/>
              </a:solidFill>
              <a:latin typeface="Corbel" panose="020B0503020204020204"/>
            </a:endParaRPr>
          </a:p>
          <a:p>
            <a:pPr marL="457200" indent="-457200" algn="just">
              <a:buFont typeface="Arial" panose="020B0604020202020204" pitchFamily="34" charset="0"/>
              <a:buChar char="•"/>
            </a:pPr>
            <a:r>
              <a:rPr lang="es-ES" sz="2400" b="1" dirty="0">
                <a:solidFill>
                  <a:schemeClr val="accent6">
                    <a:lumMod val="75000"/>
                  </a:schemeClr>
                </a:solidFill>
                <a:latin typeface="Corbel" panose="020B0503020204020204"/>
              </a:rPr>
              <a:t>Las demandas condicionadas </a:t>
            </a:r>
            <a:r>
              <a:rPr lang="es-ES" sz="2400" dirty="0">
                <a:solidFill>
                  <a:prstClr val="black"/>
                </a:solidFill>
                <a:latin typeface="Corbel" panose="020B0503020204020204"/>
              </a:rPr>
              <a:t>muestran las elecciones minimizadoras del coste correspondiente a un nivel dado de producción. Es decir, nos indica qué cantidad de cada factor se utilizaría si se quisiera obtener un determinado nivel de producción de la manera más barata posible.</a:t>
            </a:r>
          </a:p>
          <a:p>
            <a:pPr marL="457200" indent="-457200" algn="just">
              <a:buFont typeface="Arial" panose="020B0604020202020204" pitchFamily="34" charset="0"/>
              <a:buChar char="•"/>
            </a:pPr>
            <a:endParaRPr lang="es-ES" sz="2400" dirty="0">
              <a:solidFill>
                <a:prstClr val="black"/>
              </a:solidFill>
              <a:latin typeface="Corbel" panose="020B0503020204020204"/>
            </a:endParaRPr>
          </a:p>
          <a:p>
            <a:pPr marL="457200" indent="-457200" algn="just">
              <a:buFont typeface="Arial" panose="020B0604020202020204" pitchFamily="34" charset="0"/>
              <a:buChar char="•"/>
            </a:pPr>
            <a:r>
              <a:rPr lang="es-ES" sz="2400" b="1" dirty="0">
                <a:solidFill>
                  <a:schemeClr val="tx2">
                    <a:lumMod val="50000"/>
                  </a:schemeClr>
                </a:solidFill>
                <a:latin typeface="Corbel" panose="020B0503020204020204"/>
              </a:rPr>
              <a:t>Las demandas de factores </a:t>
            </a:r>
            <a:r>
              <a:rPr lang="es-ES" sz="2400" b="1" dirty="0" err="1">
                <a:solidFill>
                  <a:schemeClr val="tx2">
                    <a:lumMod val="50000"/>
                  </a:schemeClr>
                </a:solidFill>
                <a:latin typeface="Corbel" panose="020B0503020204020204"/>
              </a:rPr>
              <a:t>maximizadoras</a:t>
            </a:r>
            <a:r>
              <a:rPr lang="es-ES" sz="2400" b="1" dirty="0">
                <a:solidFill>
                  <a:schemeClr val="tx2">
                    <a:lumMod val="50000"/>
                  </a:schemeClr>
                </a:solidFill>
                <a:latin typeface="Corbel" panose="020B0503020204020204"/>
              </a:rPr>
              <a:t> del beneficio </a:t>
            </a:r>
            <a:r>
              <a:rPr lang="es-ES" sz="2400" dirty="0">
                <a:solidFill>
                  <a:prstClr val="black"/>
                </a:solidFill>
                <a:latin typeface="Corbel" panose="020B0503020204020204"/>
              </a:rPr>
              <a:t>muestran las elecciones </a:t>
            </a:r>
            <a:r>
              <a:rPr lang="es-ES" sz="2400" dirty="0" err="1">
                <a:solidFill>
                  <a:prstClr val="black"/>
                </a:solidFill>
                <a:latin typeface="Corbel" panose="020B0503020204020204"/>
              </a:rPr>
              <a:t>maximizadoras</a:t>
            </a:r>
            <a:r>
              <a:rPr lang="es-ES" sz="2400" dirty="0">
                <a:solidFill>
                  <a:prstClr val="black"/>
                </a:solidFill>
                <a:latin typeface="Corbel" panose="020B0503020204020204"/>
              </a:rPr>
              <a:t> del beneficio correspondiente a un precio dado del producto. Estas son útiles para distinguir el problema de la determinación del nivel óptimo de producción del problema de la determinación del método de producción más eficaz desde el punto de vista de los costes.</a:t>
            </a:r>
            <a:endParaRPr lang="en-US" sz="2400" dirty="0">
              <a:solidFill>
                <a:prstClr val="black"/>
              </a:solidFill>
              <a:latin typeface="Corbel" panose="020B0503020204020204"/>
            </a:endParaRPr>
          </a:p>
        </p:txBody>
      </p:sp>
    </p:spTree>
    <p:extLst>
      <p:ext uri="{BB962C8B-B14F-4D97-AF65-F5344CB8AC3E}">
        <p14:creationId xmlns:p14="http://schemas.microsoft.com/office/powerpoint/2010/main" val="4110639606"/>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Costos a </a:t>
            </a:r>
            <a:r>
              <a:rPr lang="en-US" b="1" dirty="0" err="1">
                <a:solidFill>
                  <a:srgbClr val="1F497D"/>
                </a:solidFill>
              </a:rPr>
              <a:t>corto</a:t>
            </a:r>
            <a:r>
              <a:rPr lang="en-US" b="1" dirty="0">
                <a:solidFill>
                  <a:srgbClr val="1F497D"/>
                </a:solidFill>
              </a:rPr>
              <a:t> y largo </a:t>
            </a:r>
            <a:r>
              <a:rPr lang="en-US" b="1" dirty="0" err="1">
                <a:solidFill>
                  <a:srgbClr val="1F497D"/>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4278094"/>
          </a:xfrm>
          <a:prstGeom prst="rect">
            <a:avLst/>
          </a:prstGeom>
          <a:noFill/>
        </p:spPr>
        <p:txBody>
          <a:bodyPr wrap="square">
            <a:spAutoFit/>
          </a:bodyPr>
          <a:lstStyle/>
          <a:p>
            <a:pPr marL="457200" indent="-457200" algn="just">
              <a:buFont typeface="Arial" panose="020B0604020202020204" pitchFamily="34" charset="0"/>
              <a:buChar char="•"/>
            </a:pPr>
            <a:r>
              <a:rPr lang="es-ES" sz="2800" dirty="0">
                <a:solidFill>
                  <a:prstClr val="black"/>
                </a:solidFill>
                <a:latin typeface="Corbel" panose="020B0503020204020204"/>
              </a:rPr>
              <a:t>La </a:t>
            </a:r>
            <a:r>
              <a:rPr lang="es-ES" sz="2800" b="1" dirty="0">
                <a:solidFill>
                  <a:prstClr val="black"/>
                </a:solidFill>
                <a:latin typeface="Corbel" panose="020B0503020204020204"/>
              </a:rPr>
              <a:t>función de costos a corto plazo </a:t>
            </a:r>
            <a:r>
              <a:rPr lang="es-ES" sz="2800" dirty="0">
                <a:solidFill>
                  <a:prstClr val="black"/>
                </a:solidFill>
                <a:latin typeface="Corbel" panose="020B0503020204020204"/>
              </a:rPr>
              <a:t>se define como el coste mínimo necesario para conseguir un nivel dado de producción, ajustando únicamente los factores variables; y la </a:t>
            </a:r>
            <a:r>
              <a:rPr lang="es-ES" sz="2800" b="1" dirty="0">
                <a:solidFill>
                  <a:prstClr val="black"/>
                </a:solidFill>
                <a:latin typeface="Corbel" panose="020B0503020204020204"/>
              </a:rPr>
              <a:t>función de costes a largo plazo, </a:t>
            </a:r>
            <a:r>
              <a:rPr lang="es-ES" sz="2800" dirty="0">
                <a:solidFill>
                  <a:prstClr val="black"/>
                </a:solidFill>
                <a:latin typeface="Corbel" panose="020B0503020204020204"/>
              </a:rPr>
              <a:t>como el coste mínimo necesario para conseguir un nivel dado de producción, ajustando todos los factores.</a:t>
            </a:r>
            <a:endParaRPr lang="en-US" sz="28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600" dirty="0">
              <a:solidFill>
                <a:prstClr val="black"/>
              </a:solidFill>
              <a:latin typeface="Corbel" panose="020B0503020204020204"/>
            </a:endParaRPr>
          </a:p>
        </p:txBody>
      </p:sp>
    </p:spTree>
    <p:extLst>
      <p:ext uri="{BB962C8B-B14F-4D97-AF65-F5344CB8AC3E}">
        <p14:creationId xmlns:p14="http://schemas.microsoft.com/office/powerpoint/2010/main" val="37055381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Costos a </a:t>
            </a:r>
            <a:r>
              <a:rPr lang="en-US" b="1" dirty="0" err="1">
                <a:solidFill>
                  <a:srgbClr val="1F497D"/>
                </a:solidFill>
              </a:rPr>
              <a:t>corto</a:t>
            </a:r>
            <a:r>
              <a:rPr lang="en-US" b="1" dirty="0">
                <a:solidFill>
                  <a:srgbClr val="1F497D"/>
                </a:solidFill>
              </a:rPr>
              <a:t> </a:t>
            </a:r>
            <a:r>
              <a:rPr lang="en-US" b="1" dirty="0" err="1">
                <a:solidFill>
                  <a:srgbClr val="1F497D"/>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5147563"/>
          </a:xfrm>
          <a:prstGeom prst="rect">
            <a:avLst/>
          </a:prstGeom>
          <a:noFill/>
        </p:spPr>
        <p:txBody>
          <a:bodyPr wrap="square">
            <a:spAutoFit/>
          </a:bodyPr>
          <a:lstStyle/>
          <a:p>
            <a:pPr algn="just"/>
            <a:r>
              <a:rPr lang="es-ES" sz="2400" dirty="0">
                <a:solidFill>
                  <a:prstClr val="black"/>
                </a:solidFill>
                <a:latin typeface="Corbel" panose="020B0503020204020204"/>
              </a:rPr>
              <a:t>Supongamos que, a corto plazo, el factor 2 es fijo y tiene un nivel predeterminado </a:t>
            </a:r>
            <a:r>
              <a:rPr lang="en-US" sz="2400" i="0" dirty="0">
                <a:solidFill>
                  <a:srgbClr val="4D5156"/>
                </a:solidFill>
                <a:effectLst/>
                <a:highlight>
                  <a:srgbClr val="FFFFFF"/>
                </a:highlight>
                <a:latin typeface="Google Sans"/>
              </a:rPr>
              <a:t> </a:t>
            </a:r>
            <a:r>
              <a:rPr lang="en-US" sz="2400" i="0" dirty="0">
                <a:effectLst/>
                <a:highlight>
                  <a:srgbClr val="FFFFFF"/>
                </a:highlight>
              </a:rPr>
              <a:t>x̅2</a:t>
            </a:r>
            <a:r>
              <a:rPr lang="es-ES" sz="2400" dirty="0"/>
              <a:t> </a:t>
            </a:r>
            <a:r>
              <a:rPr lang="es-ES" sz="2400" dirty="0">
                <a:solidFill>
                  <a:prstClr val="black"/>
                </a:solidFill>
                <a:latin typeface="Corbel" panose="020B0503020204020204"/>
              </a:rPr>
              <a:t>pero que, a largo plazo, puede variar. En este caso, la función de costes a corto plazo se define de la forma siguiente:</a:t>
            </a:r>
            <a:endParaRPr lang="en-US" sz="2400" dirty="0">
              <a:solidFill>
                <a:prstClr val="black"/>
              </a:solidFill>
              <a:latin typeface="Corbel" panose="020B0503020204020204"/>
            </a:endParaRPr>
          </a:p>
          <a:p>
            <a:pPr marL="457200" indent="-457200" algn="just">
              <a:buFont typeface="Arial" panose="020B0604020202020204" pitchFamily="34" charset="0"/>
              <a:buChar char="•"/>
            </a:pPr>
            <a:endParaRPr lang="en-US" sz="2600" dirty="0">
              <a:solidFill>
                <a:prstClr val="black"/>
              </a:solidFill>
              <a:latin typeface="Corbel" panose="020B0503020204020204"/>
            </a:endParaRPr>
          </a:p>
          <a:p>
            <a:pPr algn="just"/>
            <a:endParaRPr lang="en-US" sz="2600" dirty="0">
              <a:solidFill>
                <a:prstClr val="black"/>
              </a:solidFill>
              <a:latin typeface="Corbel" panose="020B0503020204020204"/>
            </a:endParaRPr>
          </a:p>
          <a:p>
            <a:pPr marL="457200" indent="-457200" algn="just">
              <a:buFont typeface="Arial" panose="020B0604020202020204" pitchFamily="34" charset="0"/>
              <a:buChar char="•"/>
            </a:pPr>
            <a:endParaRPr lang="en-US" sz="2600" dirty="0">
              <a:solidFill>
                <a:prstClr val="black"/>
              </a:solidFill>
              <a:latin typeface="Corbel" panose="020B0503020204020204"/>
            </a:endParaRPr>
          </a:p>
          <a:p>
            <a:pPr algn="just"/>
            <a:r>
              <a:rPr lang="es-ES" sz="2400" dirty="0">
                <a:solidFill>
                  <a:prstClr val="black"/>
                </a:solidFill>
                <a:latin typeface="Corbel" panose="020B0503020204020204"/>
              </a:rPr>
              <a:t>La función de demanda a corto plazo del factor 1 es la cantidad de dicho factor que minimiza los costes. Depende, normalmente, tanto de los precios de los factores como de los niveles de los factores fijos, por lo que las demandas de los factores a </a:t>
            </a:r>
            <a:r>
              <a:rPr lang="en-US" sz="2400" dirty="0" err="1">
                <a:solidFill>
                  <a:prstClr val="black"/>
                </a:solidFill>
                <a:latin typeface="Corbel" panose="020B0503020204020204"/>
              </a:rPr>
              <a:t>corto</a:t>
            </a:r>
            <a:r>
              <a:rPr lang="en-US" sz="2400" dirty="0">
                <a:solidFill>
                  <a:prstClr val="black"/>
                </a:solidFill>
                <a:latin typeface="Corbel" panose="020B0503020204020204"/>
              </a:rPr>
              <a:t> </a:t>
            </a:r>
            <a:r>
              <a:rPr lang="en-US" sz="2400" dirty="0" err="1">
                <a:solidFill>
                  <a:prstClr val="black"/>
                </a:solidFill>
                <a:latin typeface="Corbel" panose="020B0503020204020204"/>
              </a:rPr>
              <a:t>plazo</a:t>
            </a:r>
            <a:r>
              <a:rPr lang="en-US" sz="2400" dirty="0">
                <a:solidFill>
                  <a:prstClr val="black"/>
                </a:solidFill>
                <a:latin typeface="Corbel" panose="020B0503020204020204"/>
              </a:rPr>
              <a:t> son:</a:t>
            </a:r>
          </a:p>
          <a:p>
            <a:pPr algn="just"/>
            <a:endParaRPr lang="en-US" sz="2400" dirty="0">
              <a:solidFill>
                <a:prstClr val="black"/>
              </a:solidFill>
              <a:latin typeface="Corbel" panose="020B0503020204020204"/>
            </a:endParaRPr>
          </a:p>
          <a:p>
            <a:pPr algn="just"/>
            <a:endParaRPr lang="es-ES" sz="1000" dirty="0">
              <a:solidFill>
                <a:prstClr val="black"/>
              </a:solidFill>
              <a:latin typeface="Corbel" panose="020B0503020204020204"/>
            </a:endParaRPr>
          </a:p>
          <a:p>
            <a:pPr algn="just"/>
            <a:r>
              <a:rPr lang="es-ES" sz="2400" dirty="0">
                <a:solidFill>
                  <a:prstClr val="black"/>
                </a:solidFill>
                <a:latin typeface="Corbel" panose="020B0503020204020204"/>
              </a:rPr>
              <a:t>La función de costes a corto plazo también puede expresarse:</a:t>
            </a:r>
            <a:endParaRPr lang="en-US" sz="2400" dirty="0">
              <a:solidFill>
                <a:prstClr val="black"/>
              </a:solidFill>
              <a:latin typeface="Corbel" panose="020B0503020204020204"/>
            </a:endParaRPr>
          </a:p>
          <a:p>
            <a:pPr algn="just"/>
            <a:endParaRPr lang="en-US" sz="2400" dirty="0">
              <a:solidFill>
                <a:prstClr val="black"/>
              </a:solidFill>
              <a:latin typeface="Corbel" panose="020B0503020204020204"/>
            </a:endParaRPr>
          </a:p>
        </p:txBody>
      </p:sp>
      <p:pic>
        <p:nvPicPr>
          <p:cNvPr id="4" name="Picture 3">
            <a:extLst>
              <a:ext uri="{FF2B5EF4-FFF2-40B4-BE49-F238E27FC236}">
                <a16:creationId xmlns:a16="http://schemas.microsoft.com/office/drawing/2014/main" id="{3CBCB12C-768E-1419-41A9-8AFF4FF2D97F}"/>
              </a:ext>
            </a:extLst>
          </p:cNvPr>
          <p:cNvPicPr>
            <a:picLocks noChangeAspect="1"/>
          </p:cNvPicPr>
          <p:nvPr/>
        </p:nvPicPr>
        <p:blipFill>
          <a:blip r:embed="rId3"/>
          <a:stretch>
            <a:fillRect/>
          </a:stretch>
        </p:blipFill>
        <p:spPr>
          <a:xfrm>
            <a:off x="4386023" y="2278620"/>
            <a:ext cx="3419952" cy="1200318"/>
          </a:xfrm>
          <a:prstGeom prst="rect">
            <a:avLst/>
          </a:prstGeom>
        </p:spPr>
      </p:pic>
      <p:pic>
        <p:nvPicPr>
          <p:cNvPr id="9" name="Picture 8">
            <a:extLst>
              <a:ext uri="{FF2B5EF4-FFF2-40B4-BE49-F238E27FC236}">
                <a16:creationId xmlns:a16="http://schemas.microsoft.com/office/drawing/2014/main" id="{27EC0D8F-CF98-24FE-930F-08229BC1307B}"/>
              </a:ext>
            </a:extLst>
          </p:cNvPr>
          <p:cNvPicPr>
            <a:picLocks noChangeAspect="1"/>
          </p:cNvPicPr>
          <p:nvPr/>
        </p:nvPicPr>
        <p:blipFill rotWithShape="1">
          <a:blip r:embed="rId4"/>
          <a:srcRect b="11859"/>
          <a:stretch/>
        </p:blipFill>
        <p:spPr>
          <a:xfrm>
            <a:off x="4600375" y="4686360"/>
            <a:ext cx="2857899" cy="881647"/>
          </a:xfrm>
          <a:prstGeom prst="rect">
            <a:avLst/>
          </a:prstGeom>
        </p:spPr>
      </p:pic>
      <p:pic>
        <p:nvPicPr>
          <p:cNvPr id="13" name="Picture 12">
            <a:extLst>
              <a:ext uri="{FF2B5EF4-FFF2-40B4-BE49-F238E27FC236}">
                <a16:creationId xmlns:a16="http://schemas.microsoft.com/office/drawing/2014/main" id="{C54D5BEF-E90E-31AB-ABFC-7405AC93CFB4}"/>
              </a:ext>
            </a:extLst>
          </p:cNvPr>
          <p:cNvPicPr>
            <a:picLocks noChangeAspect="1"/>
          </p:cNvPicPr>
          <p:nvPr/>
        </p:nvPicPr>
        <p:blipFill>
          <a:blip r:embed="rId5"/>
          <a:stretch>
            <a:fillRect/>
          </a:stretch>
        </p:blipFill>
        <p:spPr>
          <a:xfrm>
            <a:off x="4079148" y="6000863"/>
            <a:ext cx="4496427" cy="466790"/>
          </a:xfrm>
          <a:prstGeom prst="rect">
            <a:avLst/>
          </a:prstGeom>
        </p:spPr>
      </p:pic>
    </p:spTree>
    <p:extLst>
      <p:ext uri="{BB962C8B-B14F-4D97-AF65-F5344CB8AC3E}">
        <p14:creationId xmlns:p14="http://schemas.microsoft.com/office/powerpoint/2010/main" val="158502568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Costos a largo </a:t>
            </a:r>
            <a:r>
              <a:rPr lang="en-US" b="1" dirty="0" err="1">
                <a:solidFill>
                  <a:srgbClr val="1F497D"/>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4770537"/>
          </a:xfrm>
          <a:prstGeom prst="rect">
            <a:avLst/>
          </a:prstGeom>
          <a:noFill/>
        </p:spPr>
        <p:txBody>
          <a:bodyPr wrap="square">
            <a:spAutoFit/>
          </a:bodyPr>
          <a:lstStyle/>
          <a:p>
            <a:pPr algn="just"/>
            <a:r>
              <a:rPr lang="es-ES" sz="2400" dirty="0">
                <a:solidFill>
                  <a:prstClr val="black"/>
                </a:solidFill>
                <a:latin typeface="Corbel" panose="020B0503020204020204"/>
              </a:rPr>
              <a:t>La función de costos a largo plazo se define de la forma siguiente:</a:t>
            </a:r>
          </a:p>
          <a:p>
            <a:pPr algn="just"/>
            <a:endParaRPr lang="es-ES" sz="2800" dirty="0">
              <a:solidFill>
                <a:prstClr val="black"/>
              </a:solidFill>
              <a:latin typeface="Corbel" panose="020B0503020204020204"/>
            </a:endParaRPr>
          </a:p>
          <a:p>
            <a:pPr algn="just"/>
            <a:endParaRPr lang="es-ES" sz="2800" dirty="0">
              <a:solidFill>
                <a:prstClr val="black"/>
              </a:solidFill>
              <a:latin typeface="Corbel" panose="020B0503020204020204"/>
            </a:endParaRPr>
          </a:p>
          <a:p>
            <a:pPr algn="just"/>
            <a:endParaRPr lang="es-ES" sz="2800" dirty="0">
              <a:solidFill>
                <a:prstClr val="black"/>
              </a:solidFill>
              <a:latin typeface="Corbel" panose="020B0503020204020204"/>
            </a:endParaRPr>
          </a:p>
          <a:p>
            <a:pPr algn="just"/>
            <a:endParaRPr lang="es-ES" sz="2800" dirty="0">
              <a:solidFill>
                <a:prstClr val="black"/>
              </a:solidFill>
              <a:latin typeface="Corbel" panose="020B0503020204020204"/>
            </a:endParaRPr>
          </a:p>
          <a:p>
            <a:pPr algn="just"/>
            <a:r>
              <a:rPr lang="es-ES" sz="2400" dirty="0">
                <a:solidFill>
                  <a:prstClr val="black"/>
                </a:solidFill>
                <a:latin typeface="Corbel" panose="020B0503020204020204"/>
              </a:rPr>
              <a:t>En este caso, los factores pueden variar. Los costes a largo plazo solo dependen del nivel de producción que desee obtener la empresa y de los precios de los factores. Sea la función de costes a largo plazo c(y) y expresemos la demanda de los factores a largo plazo de la forma siguiente:</a:t>
            </a:r>
            <a:endParaRPr lang="en-US" sz="2400" dirty="0">
              <a:solidFill>
                <a:prstClr val="black"/>
              </a:solidFill>
              <a:latin typeface="Corbel" panose="020B0503020204020204"/>
            </a:endParaRPr>
          </a:p>
          <a:p>
            <a:pPr algn="just"/>
            <a:endParaRPr lang="en-US" sz="2400" dirty="0">
              <a:solidFill>
                <a:prstClr val="black"/>
              </a:solidFill>
              <a:latin typeface="Corbel" panose="020B0503020204020204"/>
            </a:endParaRPr>
          </a:p>
          <a:p>
            <a:pPr algn="just"/>
            <a:endParaRPr lang="en-US" sz="2000" dirty="0">
              <a:solidFill>
                <a:prstClr val="black"/>
              </a:solidFill>
              <a:latin typeface="Corbel" panose="020B0503020204020204"/>
            </a:endParaRPr>
          </a:p>
          <a:p>
            <a:pPr algn="just"/>
            <a:r>
              <a:rPr lang="es-ES" sz="2400" dirty="0">
                <a:solidFill>
                  <a:prstClr val="black"/>
                </a:solidFill>
                <a:latin typeface="Corbel" panose="020B0503020204020204"/>
              </a:rPr>
              <a:t>La función de costes a largo plazo también puede expresarse:</a:t>
            </a:r>
            <a:endParaRPr lang="en-US" sz="2400" dirty="0">
              <a:solidFill>
                <a:prstClr val="black"/>
              </a:solidFill>
              <a:latin typeface="Corbel" panose="020B0503020204020204"/>
            </a:endParaRPr>
          </a:p>
        </p:txBody>
      </p:sp>
      <p:pic>
        <p:nvPicPr>
          <p:cNvPr id="4" name="Picture 3">
            <a:extLst>
              <a:ext uri="{FF2B5EF4-FFF2-40B4-BE49-F238E27FC236}">
                <a16:creationId xmlns:a16="http://schemas.microsoft.com/office/drawing/2014/main" id="{222E95F6-D540-A6FC-7F89-C41555064715}"/>
              </a:ext>
            </a:extLst>
          </p:cNvPr>
          <p:cNvPicPr>
            <a:picLocks noChangeAspect="1"/>
          </p:cNvPicPr>
          <p:nvPr/>
        </p:nvPicPr>
        <p:blipFill>
          <a:blip r:embed="rId3"/>
          <a:stretch>
            <a:fillRect/>
          </a:stretch>
        </p:blipFill>
        <p:spPr>
          <a:xfrm>
            <a:off x="4641987" y="1857156"/>
            <a:ext cx="3086531" cy="1571844"/>
          </a:xfrm>
          <a:prstGeom prst="rect">
            <a:avLst/>
          </a:prstGeom>
        </p:spPr>
      </p:pic>
      <p:pic>
        <p:nvPicPr>
          <p:cNvPr id="9" name="Picture 8">
            <a:extLst>
              <a:ext uri="{FF2B5EF4-FFF2-40B4-BE49-F238E27FC236}">
                <a16:creationId xmlns:a16="http://schemas.microsoft.com/office/drawing/2014/main" id="{1F9AFF07-EA50-7B34-263B-BC9537160884}"/>
              </a:ext>
            </a:extLst>
          </p:cNvPr>
          <p:cNvPicPr>
            <a:picLocks noChangeAspect="1"/>
          </p:cNvPicPr>
          <p:nvPr/>
        </p:nvPicPr>
        <p:blipFill>
          <a:blip r:embed="rId4"/>
          <a:stretch>
            <a:fillRect/>
          </a:stretch>
        </p:blipFill>
        <p:spPr>
          <a:xfrm>
            <a:off x="5104013" y="4587684"/>
            <a:ext cx="2162477" cy="866896"/>
          </a:xfrm>
          <a:prstGeom prst="rect">
            <a:avLst/>
          </a:prstGeom>
        </p:spPr>
      </p:pic>
      <p:pic>
        <p:nvPicPr>
          <p:cNvPr id="13" name="Picture 12">
            <a:extLst>
              <a:ext uri="{FF2B5EF4-FFF2-40B4-BE49-F238E27FC236}">
                <a16:creationId xmlns:a16="http://schemas.microsoft.com/office/drawing/2014/main" id="{B2723BB6-61D9-2377-0617-8F1E40CA93EA}"/>
              </a:ext>
            </a:extLst>
          </p:cNvPr>
          <p:cNvPicPr>
            <a:picLocks noChangeAspect="1"/>
          </p:cNvPicPr>
          <p:nvPr/>
        </p:nvPicPr>
        <p:blipFill>
          <a:blip r:embed="rId5"/>
          <a:stretch>
            <a:fillRect/>
          </a:stretch>
        </p:blipFill>
        <p:spPr>
          <a:xfrm>
            <a:off x="4059935" y="5932408"/>
            <a:ext cx="4753638" cy="447737"/>
          </a:xfrm>
          <a:prstGeom prst="rect">
            <a:avLst/>
          </a:prstGeom>
        </p:spPr>
      </p:pic>
    </p:spTree>
    <p:extLst>
      <p:ext uri="{BB962C8B-B14F-4D97-AF65-F5344CB8AC3E}">
        <p14:creationId xmlns:p14="http://schemas.microsoft.com/office/powerpoint/2010/main" val="386555428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Costos </a:t>
            </a:r>
            <a:r>
              <a:rPr lang="en-US" b="1" dirty="0" err="1">
                <a:solidFill>
                  <a:srgbClr val="1F497D"/>
                </a:solidFill>
              </a:rPr>
              <a:t>fijos</a:t>
            </a:r>
            <a:r>
              <a:rPr lang="en-US" b="1" dirty="0">
                <a:solidFill>
                  <a:srgbClr val="1F497D"/>
                </a:solidFill>
              </a:rPr>
              <a:t> y </a:t>
            </a:r>
            <a:r>
              <a:rPr lang="en-US" b="1" dirty="0" err="1">
                <a:solidFill>
                  <a:srgbClr val="1F497D"/>
                </a:solidFill>
              </a:rPr>
              <a:t>cuasifijos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567971" y="1289993"/>
            <a:ext cx="11056057" cy="4647426"/>
          </a:xfrm>
          <a:prstGeom prst="rect">
            <a:avLst/>
          </a:prstGeom>
          <a:noFill/>
        </p:spPr>
        <p:txBody>
          <a:bodyPr wrap="square">
            <a:spAutoFit/>
          </a:bodyPr>
          <a:lstStyle/>
          <a:p>
            <a:pPr marL="457200" indent="-457200" algn="just">
              <a:buFont typeface="Arial" panose="020B0604020202020204" pitchFamily="34" charset="0"/>
              <a:buChar char="•"/>
            </a:pPr>
            <a:r>
              <a:rPr lang="es-ES" sz="2600" dirty="0">
                <a:solidFill>
                  <a:prstClr val="black"/>
                </a:solidFill>
                <a:latin typeface="Corbel" panose="020B0503020204020204"/>
              </a:rPr>
              <a:t>Los </a:t>
            </a:r>
            <a:r>
              <a:rPr lang="es-ES" sz="2600" b="1" dirty="0">
                <a:solidFill>
                  <a:prstClr val="black"/>
                </a:solidFill>
                <a:latin typeface="Corbel" panose="020B0503020204020204"/>
              </a:rPr>
              <a:t>costes fijos </a:t>
            </a:r>
            <a:r>
              <a:rPr lang="es-ES" sz="2600" dirty="0">
                <a:solidFill>
                  <a:prstClr val="black"/>
                </a:solidFill>
                <a:latin typeface="Corbel" panose="020B0503020204020204"/>
              </a:rPr>
              <a:t>son los costes de los factores fijos: no dependen del nivel de producción y, en particular, </a:t>
            </a:r>
            <a:r>
              <a:rPr lang="es-ES" sz="2600" u="sng" dirty="0">
                <a:solidFill>
                  <a:prstClr val="black"/>
                </a:solidFill>
                <a:latin typeface="Corbel" panose="020B0503020204020204"/>
              </a:rPr>
              <a:t>deben pagarse produzca o no produzca la empresa</a:t>
            </a:r>
            <a:r>
              <a:rPr lang="es-ES" sz="2600" dirty="0">
                <a:solidFill>
                  <a:prstClr val="black"/>
                </a:solidFill>
                <a:latin typeface="Corbel" panose="020B0503020204020204"/>
              </a:rPr>
              <a:t>.</a:t>
            </a:r>
          </a:p>
          <a:p>
            <a:pPr algn="just"/>
            <a:endParaRPr lang="es-ES" sz="2600" dirty="0">
              <a:solidFill>
                <a:prstClr val="black"/>
              </a:solidFill>
              <a:latin typeface="Corbel" panose="020B0503020204020204"/>
            </a:endParaRPr>
          </a:p>
          <a:p>
            <a:pPr marL="457200" indent="-457200" algn="just">
              <a:buFont typeface="Arial" panose="020B0604020202020204" pitchFamily="34" charset="0"/>
              <a:buChar char="•"/>
            </a:pPr>
            <a:r>
              <a:rPr lang="es-ES" sz="2600" dirty="0">
                <a:solidFill>
                  <a:prstClr val="black"/>
                </a:solidFill>
                <a:latin typeface="Corbel" panose="020B0503020204020204"/>
              </a:rPr>
              <a:t>Los </a:t>
            </a:r>
            <a:r>
              <a:rPr lang="es-ES" sz="2600" b="1" dirty="0">
                <a:solidFill>
                  <a:prstClr val="black"/>
                </a:solidFill>
                <a:latin typeface="Corbel" panose="020B0503020204020204"/>
              </a:rPr>
              <a:t>costes </a:t>
            </a:r>
            <a:r>
              <a:rPr lang="es-ES" sz="2600" b="1" dirty="0" err="1">
                <a:solidFill>
                  <a:prstClr val="black"/>
                </a:solidFill>
                <a:latin typeface="Corbel" panose="020B0503020204020204"/>
              </a:rPr>
              <a:t>cuasifijos</a:t>
            </a:r>
            <a:r>
              <a:rPr lang="es-ES" sz="2600" b="1" dirty="0">
                <a:solidFill>
                  <a:prstClr val="black"/>
                </a:solidFill>
                <a:latin typeface="Corbel" panose="020B0503020204020204"/>
              </a:rPr>
              <a:t> </a:t>
            </a:r>
            <a:r>
              <a:rPr lang="es-ES" sz="2600" dirty="0">
                <a:solidFill>
                  <a:prstClr val="black"/>
                </a:solidFill>
                <a:latin typeface="Corbel" panose="020B0503020204020204"/>
              </a:rPr>
              <a:t>tampoco dependen del nivel de producción, pero solo es necesario pagarlos si la empresa produce una cantidad positiva. </a:t>
            </a:r>
          </a:p>
          <a:p>
            <a:pPr marL="457200" indent="-457200" algn="just">
              <a:buFont typeface="Arial" panose="020B0604020202020204" pitchFamily="34" charset="0"/>
              <a:buChar char="•"/>
            </a:pPr>
            <a:endParaRPr lang="es-ES" sz="2600" dirty="0">
              <a:solidFill>
                <a:prstClr val="black"/>
              </a:solidFill>
              <a:latin typeface="Corbel" panose="020B0503020204020204"/>
            </a:endParaRPr>
          </a:p>
          <a:p>
            <a:pPr algn="just"/>
            <a:r>
              <a:rPr lang="es-ES" sz="2600" dirty="0">
                <a:solidFill>
                  <a:prstClr val="black"/>
                </a:solidFill>
                <a:latin typeface="Corbel" panose="020B0503020204020204"/>
              </a:rPr>
              <a:t>Por definición, </a:t>
            </a:r>
            <a:r>
              <a:rPr lang="es-ES" sz="2600" b="1" dirty="0">
                <a:solidFill>
                  <a:prstClr val="black"/>
                </a:solidFill>
                <a:latin typeface="Corbel" panose="020B0503020204020204"/>
              </a:rPr>
              <a:t>a largo plazo no existen costes fijos. </a:t>
            </a:r>
            <a:r>
              <a:rPr lang="es-ES" sz="2600" dirty="0">
                <a:solidFill>
                  <a:prstClr val="black"/>
                </a:solidFill>
                <a:latin typeface="Corbel" panose="020B0503020204020204"/>
              </a:rPr>
              <a:t>Sin embargo, es fácil que existan costes </a:t>
            </a:r>
            <a:r>
              <a:rPr lang="es-ES" sz="2600" dirty="0" err="1">
                <a:solidFill>
                  <a:prstClr val="black"/>
                </a:solidFill>
                <a:latin typeface="Corbel" panose="020B0503020204020204"/>
              </a:rPr>
              <a:t>cuasifijos</a:t>
            </a:r>
            <a:r>
              <a:rPr lang="es-ES" sz="2600" dirty="0">
                <a:solidFill>
                  <a:prstClr val="black"/>
                </a:solidFill>
                <a:latin typeface="Corbel" panose="020B0503020204020204"/>
              </a:rPr>
              <a:t>. Si es necesario gastar una cantidad fija de dinero antes de poder </a:t>
            </a:r>
            <a:r>
              <a:rPr lang="en-US" sz="2600" dirty="0" err="1">
                <a:solidFill>
                  <a:prstClr val="black"/>
                </a:solidFill>
                <a:latin typeface="Corbel" panose="020B0503020204020204"/>
              </a:rPr>
              <a:t>producir</a:t>
            </a:r>
            <a:r>
              <a:rPr lang="en-US" sz="2600" dirty="0">
                <a:solidFill>
                  <a:prstClr val="black"/>
                </a:solidFill>
                <a:latin typeface="Corbel" panose="020B0503020204020204"/>
              </a:rPr>
              <a:t>, </a:t>
            </a:r>
            <a:r>
              <a:rPr lang="en-US" sz="2600" dirty="0" err="1">
                <a:solidFill>
                  <a:prstClr val="black"/>
                </a:solidFill>
                <a:latin typeface="Corbel" panose="020B0503020204020204"/>
              </a:rPr>
              <a:t>habra</a:t>
            </a:r>
            <a:r>
              <a:rPr lang="en-US" sz="2600" dirty="0">
                <a:solidFill>
                  <a:prstClr val="black"/>
                </a:solidFill>
                <a:latin typeface="Corbel" panose="020B0503020204020204"/>
              </a:rPr>
              <a:t> </a:t>
            </a:r>
            <a:r>
              <a:rPr lang="en-US" sz="2600" dirty="0" err="1">
                <a:solidFill>
                  <a:prstClr val="black"/>
                </a:solidFill>
                <a:latin typeface="Corbel" panose="020B0503020204020204"/>
              </a:rPr>
              <a:t>costes</a:t>
            </a:r>
            <a:r>
              <a:rPr lang="en-US" sz="2600" dirty="0">
                <a:solidFill>
                  <a:prstClr val="black"/>
                </a:solidFill>
                <a:latin typeface="Corbel" panose="020B0503020204020204"/>
              </a:rPr>
              <a:t> </a:t>
            </a:r>
            <a:r>
              <a:rPr lang="en-US" sz="2600" dirty="0" err="1">
                <a:solidFill>
                  <a:prstClr val="black"/>
                </a:solidFill>
                <a:latin typeface="Corbel" panose="020B0503020204020204"/>
              </a:rPr>
              <a:t>cuasifijos</a:t>
            </a:r>
            <a:r>
              <a:rPr lang="en-US" sz="2600" dirty="0">
                <a:solidFill>
                  <a:prstClr val="black"/>
                </a:solidFill>
                <a:latin typeface="Corbel" panose="020B0503020204020204"/>
              </a:rPr>
              <a:t>.</a:t>
            </a:r>
            <a:endParaRPr lang="en-US" sz="3200" dirty="0">
              <a:solidFill>
                <a:prstClr val="black"/>
              </a:solidFill>
              <a:latin typeface="Corbel" panose="020B0503020204020204"/>
            </a:endParaRPr>
          </a:p>
          <a:p>
            <a:pPr algn="just"/>
            <a:endParaRPr lang="en-US" sz="3600" dirty="0">
              <a:solidFill>
                <a:prstClr val="black"/>
              </a:solidFill>
              <a:latin typeface="Corbel" panose="020B0503020204020204"/>
            </a:endParaRPr>
          </a:p>
        </p:txBody>
      </p:sp>
    </p:spTree>
    <p:extLst>
      <p:ext uri="{BB962C8B-B14F-4D97-AF65-F5344CB8AC3E}">
        <p14:creationId xmlns:p14="http://schemas.microsoft.com/office/powerpoint/2010/main" val="185165894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653557" y="495240"/>
            <a:ext cx="10966943" cy="988627"/>
          </a:xfrm>
        </p:spPr>
        <p:txBody>
          <a:bodyPr>
            <a:noAutofit/>
          </a:bodyPr>
          <a:lstStyle/>
          <a:p>
            <a:r>
              <a:rPr lang="en-US" sz="3200" b="1" dirty="0" err="1">
                <a:solidFill>
                  <a:srgbClr val="1F497D"/>
                </a:solidFill>
              </a:rPr>
              <a:t>mINIMIZACIóN</a:t>
            </a:r>
            <a:r>
              <a:rPr lang="en-US" sz="3200" b="1" dirty="0">
                <a:solidFill>
                  <a:srgbClr val="1F497D"/>
                </a:solidFill>
              </a:rPr>
              <a:t> DE LOS COSTOS – </a:t>
            </a:r>
            <a:r>
              <a:rPr lang="en-US" sz="3200" b="1" i="1" dirty="0" err="1">
                <a:solidFill>
                  <a:schemeClr val="accent6">
                    <a:lumMod val="75000"/>
                  </a:schemeClr>
                </a:solidFill>
              </a:rPr>
              <a:t>Sustituto</a:t>
            </a:r>
            <a:r>
              <a:rPr lang="en-US" sz="3200" b="1" i="1" dirty="0">
                <a:solidFill>
                  <a:schemeClr val="accent6">
                    <a:lumMod val="75000"/>
                  </a:schemeClr>
                </a:solidFill>
              </a:rPr>
              <a:t> perfecto</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6826292"/>
              </a:xfrm>
              <a:prstGeom prst="rect">
                <a:avLst/>
              </a:prstGeom>
              <a:noFill/>
            </p:spPr>
            <p:txBody>
              <a:bodyPr wrap="square">
                <a:spAutoFit/>
              </a:bodyPr>
              <a:lstStyle/>
              <a:p>
                <a:pPr marL="457200" indent="-457200" algn="just">
                  <a:buFont typeface="Arial" panose="020B0604020202020204" pitchFamily="34" charset="0"/>
                  <a:buChar char="•"/>
                </a:pPr>
                <a:r>
                  <a:rPr lang="en-US" sz="2800" b="1" dirty="0">
                    <a:solidFill>
                      <a:prstClr val="black"/>
                    </a:solidFill>
                    <a:latin typeface="Corbel" panose="020B0503020204020204"/>
                  </a:rPr>
                  <a:t>Supongamos la </a:t>
                </a:r>
                <a:r>
                  <a:rPr lang="en-US" sz="2800" b="1" dirty="0" err="1">
                    <a:solidFill>
                      <a:prstClr val="black"/>
                    </a:solidFill>
                    <a:latin typeface="Corbel" panose="020B0503020204020204"/>
                  </a:rPr>
                  <a:t>función</a:t>
                </a:r>
                <a:r>
                  <a:rPr lang="en-US" sz="2800" b="1" dirty="0">
                    <a:solidFill>
                      <a:prstClr val="black"/>
                    </a:solidFill>
                    <a:latin typeface="Corbel" panose="020B0503020204020204"/>
                  </a:rPr>
                  <a:t> f</a:t>
                </a:r>
                <a14:m>
                  <m:oMath xmlns:m="http://schemas.openxmlformats.org/officeDocument/2006/math">
                    <m:sSub>
                      <m:sSubPr>
                        <m:ctrlPr>
                          <a:rPr lang="es-ES" sz="2800" b="1" i="1">
                            <a:solidFill>
                              <a:prstClr val="black"/>
                            </a:solidFill>
                            <a:latin typeface="Cambria Math" panose="02040503050406030204" pitchFamily="18" charset="0"/>
                          </a:rPr>
                        </m:ctrlPr>
                      </m:sSubPr>
                      <m:e>
                        <m:r>
                          <a:rPr lang="en-US" sz="2800" b="1" i="1">
                            <a:solidFill>
                              <a:prstClr val="black"/>
                            </a:solidFill>
                            <a:latin typeface="Cambria Math" panose="02040503050406030204" pitchFamily="18" charset="0"/>
                          </a:rPr>
                          <m:t>(</m:t>
                        </m:r>
                        <m:r>
                          <a:rPr lang="en-US" sz="2800" b="1" i="1" smtClean="0">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𝟏</m:t>
                        </m:r>
                      </m:sub>
                    </m:sSub>
                    <m:r>
                      <a:rPr lang="en-US" sz="2800" b="1">
                        <a:solidFill>
                          <a:prstClr val="black"/>
                        </a:solidFill>
                        <a:latin typeface="Cambria Math" panose="02040503050406030204" pitchFamily="18" charset="0"/>
                      </a:rPr>
                      <m:t>,</m:t>
                    </m:r>
                  </m:oMath>
                </a14:m>
                <a:r>
                  <a:rPr lang="es-ES" sz="2800" b="1" dirty="0">
                    <a:solidFill>
                      <a:prstClr val="black"/>
                    </a:solidFill>
                  </a:rPr>
                  <a:t> </a:t>
                </a:r>
                <a14:m>
                  <m:oMath xmlns:m="http://schemas.openxmlformats.org/officeDocument/2006/math">
                    <m:sSub>
                      <m:sSubPr>
                        <m:ctrlPr>
                          <a:rPr lang="es-ES" sz="2800" b="1" i="1" smtClean="0">
                            <a:solidFill>
                              <a:prstClr val="black"/>
                            </a:solidFill>
                            <a:latin typeface="Cambria Math" panose="02040503050406030204" pitchFamily="18" charset="0"/>
                          </a:rPr>
                        </m:ctrlPr>
                      </m:sSubPr>
                      <m:e>
                        <m:r>
                          <a:rPr lang="en-US" sz="2800" b="1" i="1" smtClean="0">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𝟐</m:t>
                        </m:r>
                      </m:sub>
                    </m:sSub>
                  </m:oMath>
                </a14:m>
                <a:r>
                  <a:rPr lang="es-ES" sz="2800" b="1" dirty="0">
                    <a:solidFill>
                      <a:prstClr val="black"/>
                    </a:solidFill>
                  </a:rPr>
                  <a:t>) = </a:t>
                </a:r>
                <a14:m>
                  <m:oMath xmlns:m="http://schemas.openxmlformats.org/officeDocument/2006/math">
                    <m:sSub>
                      <m:sSubPr>
                        <m:ctrlPr>
                          <a:rPr lang="es-ES" sz="2800" b="1" i="1">
                            <a:solidFill>
                              <a:prstClr val="black"/>
                            </a:solidFill>
                            <a:latin typeface="Cambria Math" panose="02040503050406030204" pitchFamily="18" charset="0"/>
                          </a:rPr>
                        </m:ctrlPr>
                      </m:sSubPr>
                      <m:e>
                        <m:r>
                          <a:rPr lang="en-US" sz="2800" b="1" i="1">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𝟏</m:t>
                        </m:r>
                      </m:sub>
                    </m:sSub>
                    <m:r>
                      <a:rPr lang="en-US" sz="2800" b="1" i="0" smtClean="0">
                        <a:solidFill>
                          <a:prstClr val="black"/>
                        </a:solidFill>
                        <a:latin typeface="Cambria Math" panose="02040503050406030204" pitchFamily="18" charset="0"/>
                      </a:rPr>
                      <m:t>+</m:t>
                    </m:r>
                  </m:oMath>
                </a14:m>
                <a:r>
                  <a:rPr lang="es-ES" sz="2800" b="1" dirty="0">
                    <a:solidFill>
                      <a:prstClr val="black"/>
                    </a:solidFill>
                  </a:rPr>
                  <a:t> </a:t>
                </a:r>
                <a14:m>
                  <m:oMath xmlns:m="http://schemas.openxmlformats.org/officeDocument/2006/math">
                    <m:sSub>
                      <m:sSubPr>
                        <m:ctrlPr>
                          <a:rPr lang="es-ES" sz="2800" b="1" i="1">
                            <a:solidFill>
                              <a:prstClr val="black"/>
                            </a:solidFill>
                            <a:latin typeface="Cambria Math" panose="02040503050406030204" pitchFamily="18" charset="0"/>
                          </a:rPr>
                        </m:ctrlPr>
                      </m:sSubPr>
                      <m:e>
                        <m:r>
                          <a:rPr lang="en-US" sz="2800" b="1" i="1">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𝟐</m:t>
                        </m:r>
                      </m:sub>
                    </m:sSub>
                  </m:oMath>
                </a14:m>
                <a:endParaRPr lang="en-US" sz="2800" b="1" dirty="0">
                  <a:solidFill>
                    <a:prstClr val="black"/>
                  </a:solidFill>
                </a:endParaRPr>
              </a:p>
              <a:p>
                <a:pPr algn="just"/>
                <a:r>
                  <a:rPr lang="en-US" sz="2800" dirty="0">
                    <a:solidFill>
                      <a:prstClr val="black"/>
                    </a:solidFill>
                    <a:latin typeface="Corbel" panose="020B0503020204020204"/>
                  </a:rPr>
                  <a:t>C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1</m:t>
                        </m:r>
                      </m:sub>
                    </m:sSub>
                  </m:oMath>
                </a14:m>
                <a:r>
                  <a:rPr lang="es-ES" sz="2800" i="1" dirty="0">
                    <a:solidFill>
                      <a:prstClr val="black"/>
                    </a:solidFill>
                    <a:latin typeface="Corbel" panose="020B0503020204020204"/>
                  </a:rPr>
                  <a:t>,</a:t>
                </a:r>
                <a:r>
                  <a:rPr lang="es-ES" sz="2800" i="1"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2</m:t>
                        </m:r>
                      </m:sub>
                    </m:sSub>
                    <m:r>
                      <a:rPr lang="en-US" sz="2800" b="0" i="1" smtClean="0">
                        <a:solidFill>
                          <a:prstClr val="black"/>
                        </a:solidFill>
                        <a:latin typeface="Cambria Math" panose="02040503050406030204" pitchFamily="18" charset="0"/>
                      </a:rPr>
                      <m:t>,</m:t>
                    </m:r>
                  </m:oMath>
                </a14:m>
                <a:r>
                  <a:rPr lang="es-ES" sz="2800" i="1" dirty="0">
                    <a:solidFill>
                      <a:prstClr val="black"/>
                    </a:solidFill>
                    <a:latin typeface="Corbel" panose="020B0503020204020204"/>
                  </a:rPr>
                  <a:t> y) =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1</m:t>
                        </m:r>
                      </m:sub>
                    </m:sSub>
                  </m:oMath>
                </a14:m>
                <a:r>
                  <a:rPr lang="es-ES" sz="2800" i="1" dirty="0">
                    <a:solidFill>
                      <a:prstClr val="black"/>
                    </a:solidFill>
                    <a:latin typeface="Corbel" panose="020B0503020204020204"/>
                  </a:rPr>
                  <a:t>y+</a:t>
                </a:r>
                <a:r>
                  <a:rPr lang="es-ES" sz="2800"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2</m:t>
                        </m:r>
                      </m:sub>
                    </m:sSub>
                    <m:r>
                      <a:rPr lang="en-US" sz="2800" b="0" i="1" smtClean="0">
                        <a:solidFill>
                          <a:prstClr val="black"/>
                        </a:solidFill>
                        <a:latin typeface="Cambria Math" panose="02040503050406030204" pitchFamily="18" charset="0"/>
                      </a:rPr>
                      <m:t>𝑦</m:t>
                    </m:r>
                  </m:oMath>
                </a14:m>
                <a:endParaRPr lang="en-US" sz="2800" b="0" dirty="0">
                  <a:solidFill>
                    <a:prstClr val="black"/>
                  </a:solidFill>
                </a:endParaRPr>
              </a:p>
              <a:p>
                <a:pPr algn="just"/>
                <a:r>
                  <a:rPr lang="es-ES" sz="2800" dirty="0">
                    <a:solidFill>
                      <a:prstClr val="black"/>
                    </a:solidFill>
                    <a:latin typeface="Corbel" panose="020B0503020204020204"/>
                  </a:rPr>
                  <a:t>Se consume el más barato, entonces, min(</a:t>
                </a:r>
                <a14:m>
                  <m:oMath xmlns:m="http://schemas.openxmlformats.org/officeDocument/2006/math">
                    <m:sSub>
                      <m:sSubPr>
                        <m:ctrlPr>
                          <a:rPr lang="es-ES" sz="2800" i="1" smtClean="0">
                            <a:solidFill>
                              <a:prstClr val="black"/>
                            </a:solidFill>
                            <a:latin typeface="Cambria Math" panose="02040503050406030204" pitchFamily="18" charset="0"/>
                          </a:rPr>
                        </m:ctrlPr>
                      </m:sSubPr>
                      <m:e>
                        <m:r>
                          <m:rPr>
                            <m:sty m:val="p"/>
                          </m:rPr>
                          <a:rPr lang="en-US" sz="2800" i="0">
                            <a:solidFill>
                              <a:prstClr val="black"/>
                            </a:solidFill>
                            <a:latin typeface="Cambria Math" panose="02040503050406030204" pitchFamily="18" charset="0"/>
                          </a:rPr>
                          <m:t>w</m:t>
                        </m:r>
                      </m:e>
                      <m:sub>
                        <m:r>
                          <a:rPr lang="en-US" sz="2800" i="0">
                            <a:solidFill>
                              <a:prstClr val="black"/>
                            </a:solidFill>
                            <a:latin typeface="Cambria Math" panose="02040503050406030204" pitchFamily="18" charset="0"/>
                          </a:rPr>
                          <m:t>1</m:t>
                        </m:r>
                      </m:sub>
                    </m:sSub>
                  </m:oMath>
                </a14:m>
                <a:r>
                  <a:rPr lang="es-ES" sz="2800" dirty="0">
                    <a:solidFill>
                      <a:prstClr val="black"/>
                    </a:solidFill>
                    <a:latin typeface="Corbel" panose="020B0503020204020204"/>
                  </a:rPr>
                  <a:t>y+</a:t>
                </a:r>
                <a:r>
                  <a:rPr lang="es-ES" sz="2800"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m:rPr>
                            <m:sty m:val="p"/>
                          </m:rPr>
                          <a:rPr lang="en-US" sz="2800" i="0">
                            <a:solidFill>
                              <a:prstClr val="black"/>
                            </a:solidFill>
                            <a:latin typeface="Cambria Math" panose="02040503050406030204" pitchFamily="18" charset="0"/>
                          </a:rPr>
                          <m:t>w</m:t>
                        </m:r>
                      </m:e>
                      <m:sub>
                        <m:r>
                          <a:rPr lang="en-US" sz="2800" b="0" i="0" smtClean="0">
                            <a:solidFill>
                              <a:prstClr val="black"/>
                            </a:solidFill>
                            <a:latin typeface="Cambria Math" panose="02040503050406030204" pitchFamily="18" charset="0"/>
                          </a:rPr>
                          <m:t>2</m:t>
                        </m:r>
                      </m:sub>
                    </m:sSub>
                    <m:r>
                      <m:rPr>
                        <m:sty m:val="p"/>
                      </m:rPr>
                      <a:rPr lang="en-US" sz="2800" b="0" i="0" smtClean="0">
                        <a:solidFill>
                          <a:prstClr val="black"/>
                        </a:solidFill>
                        <a:latin typeface="Cambria Math" panose="02040503050406030204" pitchFamily="18" charset="0"/>
                      </a:rPr>
                      <m:t>y</m:t>
                    </m:r>
                  </m:oMath>
                </a14:m>
                <a:r>
                  <a:rPr lang="en-US" sz="2800" dirty="0">
                    <a:solidFill>
                      <a:prstClr val="black"/>
                    </a:solidFill>
                  </a:rPr>
                  <a:t>)</a:t>
                </a:r>
                <a:endParaRPr lang="es-ES" sz="2800" dirty="0">
                  <a:solidFill>
                    <a:prstClr val="black"/>
                  </a:solidFill>
                  <a:latin typeface="Corbel" panose="020B0503020204020204"/>
                </a:endParaRPr>
              </a:p>
              <a:p>
                <a:pPr algn="just"/>
                <a:r>
                  <a:rPr lang="en-US" sz="2800" dirty="0" err="1">
                    <a:solidFill>
                      <a:prstClr val="black"/>
                    </a:solidFill>
                    <a:latin typeface="Corbel" panose="020B0503020204020204"/>
                  </a:rPr>
                  <a:t>Asumimos</a:t>
                </a:r>
                <a:r>
                  <a:rPr lang="en-US" sz="2800" dirty="0">
                    <a:solidFill>
                      <a:prstClr val="black"/>
                    </a:solidFill>
                    <a:latin typeface="Corbel" panose="020B0503020204020204"/>
                  </a:rPr>
                  <a:t> que  </a:t>
                </a:r>
                <a:r>
                  <a:rPr lang="en-US" sz="2800" dirty="0" err="1">
                    <a:solidFill>
                      <a:prstClr val="black"/>
                    </a:solidFill>
                    <a:latin typeface="Corbel" panose="020B0503020204020204"/>
                  </a:rPr>
                  <a:t>los</a:t>
                </a:r>
                <a:r>
                  <a:rPr lang="en-US" sz="2800" dirty="0">
                    <a:solidFill>
                      <a:prstClr val="black"/>
                    </a:solidFill>
                    <a:latin typeface="Corbel" panose="020B0503020204020204"/>
                  </a:rPr>
                  <a:t> </a:t>
                </a:r>
                <a:r>
                  <a:rPr lang="en-US" sz="2800" dirty="0" err="1">
                    <a:solidFill>
                      <a:prstClr val="black"/>
                    </a:solidFill>
                    <a:latin typeface="Corbel" panose="020B0503020204020204"/>
                  </a:rPr>
                  <a:t>factores</a:t>
                </a:r>
                <a:r>
                  <a:rPr lang="en-US" sz="2800" dirty="0">
                    <a:solidFill>
                      <a:prstClr val="black"/>
                    </a:solidFill>
                    <a:latin typeface="Corbel" panose="020B0503020204020204"/>
                  </a:rPr>
                  <a:t> son L y K:</a:t>
                </a:r>
              </a:p>
              <a:p>
                <a:pPr algn="ctr"/>
                <a14:m>
                  <m:oMath xmlns:m="http://schemas.openxmlformats.org/officeDocument/2006/math">
                    <m:f>
                      <m:fPr>
                        <m:ctrlPr>
                          <a:rPr lang="en-US" sz="3200" i="1" smtClean="0">
                            <a:solidFill>
                              <a:prstClr val="black"/>
                            </a:solidFill>
                            <a:latin typeface="Cambria Math" panose="02040503050406030204" pitchFamily="18" charset="0"/>
                          </a:rPr>
                        </m:ctrlPr>
                      </m:fPr>
                      <m:num>
                        <m:r>
                          <a:rPr lang="en-US" sz="3200" b="0" i="1" smtClean="0">
                            <a:solidFill>
                              <a:prstClr val="black"/>
                            </a:solidFill>
                            <a:latin typeface="Cambria Math" panose="02040503050406030204" pitchFamily="18" charset="0"/>
                          </a:rPr>
                          <m:t>𝑃𝑚𝑔𝐿</m:t>
                        </m:r>
                      </m:num>
                      <m:den>
                        <m:r>
                          <a:rPr lang="en-US" sz="3200" b="0" i="1" smtClean="0">
                            <a:solidFill>
                              <a:prstClr val="black"/>
                            </a:solidFill>
                            <a:latin typeface="Cambria Math" panose="02040503050406030204" pitchFamily="18" charset="0"/>
                          </a:rPr>
                          <m:t>𝑃𝑚𝑔𝐾</m:t>
                        </m:r>
                      </m:den>
                    </m:f>
                  </m:oMath>
                </a14:m>
                <a:r>
                  <a:rPr lang="en-US" sz="3200" dirty="0">
                    <a:solidFill>
                      <a:prstClr val="black"/>
                    </a:solidFill>
                    <a:latin typeface="Corbel" panose="020B0503020204020204"/>
                  </a:rPr>
                  <a:t>=</a:t>
                </a:r>
                <a14:m>
                  <m:oMath xmlns:m="http://schemas.openxmlformats.org/officeDocument/2006/math">
                    <m:f>
                      <m:fPr>
                        <m:ctrlPr>
                          <a:rPr lang="en-US" sz="3200" i="1" dirty="0" smtClean="0">
                            <a:solidFill>
                              <a:prstClr val="black"/>
                            </a:solidFill>
                            <a:latin typeface="Cambria Math" panose="02040503050406030204" pitchFamily="18" charset="0"/>
                          </a:rPr>
                        </m:ctrlPr>
                      </m:fPr>
                      <m:num>
                        <m:sSub>
                          <m:sSubPr>
                            <m:ctrlPr>
                              <a:rPr lang="es-ES" sz="3200" i="1">
                                <a:solidFill>
                                  <a:prstClr val="black"/>
                                </a:solidFill>
                                <a:latin typeface="Cambria Math" panose="02040503050406030204" pitchFamily="18" charset="0"/>
                              </a:rPr>
                            </m:ctrlPr>
                          </m:sSubPr>
                          <m:e>
                            <m:r>
                              <a:rPr lang="en-US" sz="3200" i="1">
                                <a:solidFill>
                                  <a:prstClr val="black"/>
                                </a:solidFill>
                                <a:latin typeface="Cambria Math" panose="02040503050406030204" pitchFamily="18" charset="0"/>
                              </a:rPr>
                              <m:t>𝑤</m:t>
                            </m:r>
                          </m:e>
                          <m:sub>
                            <m:r>
                              <a:rPr lang="en-US" sz="3200" b="0" i="1" smtClean="0">
                                <a:solidFill>
                                  <a:prstClr val="black"/>
                                </a:solidFill>
                                <a:latin typeface="Cambria Math" panose="02040503050406030204" pitchFamily="18" charset="0"/>
                              </a:rPr>
                              <m:t>𝐿</m:t>
                            </m:r>
                          </m:sub>
                        </m:sSub>
                      </m:num>
                      <m:den>
                        <m:sSub>
                          <m:sSubPr>
                            <m:ctrlPr>
                              <a:rPr lang="es-ES" sz="3200" i="1">
                                <a:solidFill>
                                  <a:prstClr val="black"/>
                                </a:solidFill>
                                <a:latin typeface="Cambria Math" panose="02040503050406030204" pitchFamily="18" charset="0"/>
                              </a:rPr>
                            </m:ctrlPr>
                          </m:sSubPr>
                          <m:e>
                            <m:r>
                              <a:rPr lang="en-US" sz="3200" i="1">
                                <a:solidFill>
                                  <a:prstClr val="black"/>
                                </a:solidFill>
                                <a:latin typeface="Cambria Math" panose="02040503050406030204" pitchFamily="18" charset="0"/>
                              </a:rPr>
                              <m:t>𝑤</m:t>
                            </m:r>
                          </m:e>
                          <m:sub>
                            <m:r>
                              <a:rPr lang="en-US" sz="3200" b="0" i="1" smtClean="0">
                                <a:solidFill>
                                  <a:prstClr val="black"/>
                                </a:solidFill>
                                <a:latin typeface="Cambria Math" panose="02040503050406030204" pitchFamily="18" charset="0"/>
                              </a:rPr>
                              <m:t>𝐾</m:t>
                            </m:r>
                          </m:sub>
                        </m:sSub>
                      </m:den>
                    </m:f>
                  </m:oMath>
                </a14:m>
                <a:endParaRPr lang="en-US" sz="3200" dirty="0">
                  <a:solidFill>
                    <a:prstClr val="black"/>
                  </a:solidFill>
                  <a:latin typeface="Corbel" panose="020B0503020204020204"/>
                </a:endParaRPr>
              </a:p>
              <a:p>
                <a:pPr algn="ctr"/>
                <a:endParaRPr lang="en-US" sz="1600" dirty="0">
                  <a:solidFill>
                    <a:prstClr val="black"/>
                  </a:solidFill>
                  <a:latin typeface="Cambria Math" panose="02040503050406030204" pitchFamily="18" charset="0"/>
                  <a:ea typeface="Cambria Math" panose="02040503050406030204" pitchFamily="18" charset="0"/>
                </a:endParaRPr>
              </a:p>
              <a:p>
                <a:pPr algn="ctr"/>
                <a14:m>
                  <m:oMath xmlns:m="http://schemas.openxmlformats.org/officeDocument/2006/math">
                    <m:f>
                      <m:fPr>
                        <m:ctrlPr>
                          <a:rPr lang="en-US" sz="3200" i="1" smtClean="0">
                            <a:solidFill>
                              <a:prstClr val="black"/>
                            </a:solidFill>
                            <a:latin typeface="Cambria Math" panose="02040503050406030204" pitchFamily="18" charset="0"/>
                            <a:ea typeface="Cambria Math" panose="02040503050406030204" pitchFamily="18" charset="0"/>
                          </a:rPr>
                        </m:ctrlPr>
                      </m:fPr>
                      <m:num>
                        <m:r>
                          <a:rPr lang="en-US" sz="3200" b="0" i="1" smtClean="0">
                            <a:solidFill>
                              <a:prstClr val="black"/>
                            </a:solidFill>
                            <a:latin typeface="Cambria Math" panose="02040503050406030204" pitchFamily="18" charset="0"/>
                            <a:ea typeface="Cambria Math" panose="02040503050406030204" pitchFamily="18" charset="0"/>
                          </a:rPr>
                          <m:t>𝑃𝑚𝑔𝐿</m:t>
                        </m:r>
                      </m:num>
                      <m:den>
                        <m:sSub>
                          <m:sSubPr>
                            <m:ctrlPr>
                              <a:rPr lang="es-ES" sz="3200" i="1">
                                <a:solidFill>
                                  <a:prstClr val="black"/>
                                </a:solidFill>
                                <a:latin typeface="Cambria Math" panose="02040503050406030204" pitchFamily="18" charset="0"/>
                                <a:ea typeface="Cambria Math" panose="02040503050406030204" pitchFamily="18" charset="0"/>
                              </a:rPr>
                            </m:ctrlPr>
                          </m:sSubPr>
                          <m:e>
                            <m:r>
                              <a:rPr lang="en-US" sz="3200" i="1">
                                <a:solidFill>
                                  <a:prstClr val="black"/>
                                </a:solidFill>
                                <a:latin typeface="Cambria Math" panose="02040503050406030204" pitchFamily="18" charset="0"/>
                                <a:ea typeface="Cambria Math" panose="02040503050406030204" pitchFamily="18" charset="0"/>
                              </a:rPr>
                              <m:t>𝑤</m:t>
                            </m:r>
                          </m:e>
                          <m:sub>
                            <m:r>
                              <a:rPr lang="en-US" sz="3200" i="1">
                                <a:solidFill>
                                  <a:prstClr val="black"/>
                                </a:solidFill>
                                <a:latin typeface="Cambria Math" panose="02040503050406030204" pitchFamily="18" charset="0"/>
                                <a:ea typeface="Cambria Math" panose="02040503050406030204" pitchFamily="18" charset="0"/>
                              </a:rPr>
                              <m:t>𝐿</m:t>
                            </m:r>
                          </m:sub>
                        </m:sSub>
                      </m:den>
                    </m:f>
                    <m:r>
                      <m:rPr>
                        <m:nor/>
                      </m:rPr>
                      <a:rPr lang="en-US" sz="3200">
                        <a:latin typeface="Cambria Math" panose="02040503050406030204" pitchFamily="18" charset="0"/>
                        <a:ea typeface="Cambria Math" panose="02040503050406030204" pitchFamily="18" charset="0"/>
                      </a:rPr>
                      <m:t>&gt;</m:t>
                    </m:r>
                    <m:f>
                      <m:fPr>
                        <m:ctrlPr>
                          <a:rPr lang="en-US" sz="3200" i="1" dirty="0" smtClean="0">
                            <a:solidFill>
                              <a:prstClr val="black"/>
                            </a:solidFill>
                            <a:latin typeface="Cambria Math" panose="02040503050406030204" pitchFamily="18" charset="0"/>
                            <a:ea typeface="Cambria Math" panose="02040503050406030204" pitchFamily="18" charset="0"/>
                          </a:rPr>
                        </m:ctrlPr>
                      </m:fPr>
                      <m:num>
                        <m:r>
                          <a:rPr lang="en-US" sz="3200" i="1">
                            <a:solidFill>
                              <a:prstClr val="black"/>
                            </a:solidFill>
                            <a:latin typeface="Cambria Math" panose="02040503050406030204" pitchFamily="18" charset="0"/>
                            <a:ea typeface="Cambria Math" panose="02040503050406030204" pitchFamily="18" charset="0"/>
                          </a:rPr>
                          <m:t>𝑃𝑚𝑔</m:t>
                        </m:r>
                        <m:r>
                          <a:rPr lang="en-US" sz="3200" b="0" i="1" smtClean="0">
                            <a:solidFill>
                              <a:prstClr val="black"/>
                            </a:solidFill>
                            <a:latin typeface="Cambria Math" panose="02040503050406030204" pitchFamily="18" charset="0"/>
                            <a:ea typeface="Cambria Math" panose="02040503050406030204" pitchFamily="18" charset="0"/>
                          </a:rPr>
                          <m:t>𝐾</m:t>
                        </m:r>
                      </m:num>
                      <m:den>
                        <m:sSub>
                          <m:sSubPr>
                            <m:ctrlPr>
                              <a:rPr lang="es-ES" sz="3200" i="1">
                                <a:solidFill>
                                  <a:prstClr val="black"/>
                                </a:solidFill>
                                <a:latin typeface="Cambria Math" panose="02040503050406030204" pitchFamily="18" charset="0"/>
                                <a:ea typeface="Cambria Math" panose="02040503050406030204" pitchFamily="18" charset="0"/>
                              </a:rPr>
                            </m:ctrlPr>
                          </m:sSubPr>
                          <m:e>
                            <m:r>
                              <a:rPr lang="en-US" sz="3200" i="1">
                                <a:solidFill>
                                  <a:prstClr val="black"/>
                                </a:solidFill>
                                <a:latin typeface="Cambria Math" panose="02040503050406030204" pitchFamily="18" charset="0"/>
                                <a:ea typeface="Cambria Math" panose="02040503050406030204" pitchFamily="18" charset="0"/>
                              </a:rPr>
                              <m:t>𝑤</m:t>
                            </m:r>
                          </m:e>
                          <m:sub>
                            <m:r>
                              <a:rPr lang="en-US" sz="3200" b="0" i="1" smtClean="0">
                                <a:solidFill>
                                  <a:prstClr val="black"/>
                                </a:solidFill>
                                <a:latin typeface="Cambria Math" panose="02040503050406030204" pitchFamily="18" charset="0"/>
                                <a:ea typeface="Cambria Math" panose="02040503050406030204" pitchFamily="18" charset="0"/>
                              </a:rPr>
                              <m:t>𝐾</m:t>
                            </m:r>
                          </m:sub>
                        </m:sSub>
                      </m:den>
                    </m:f>
                  </m:oMath>
                </a14:m>
                <a:r>
                  <a:rPr lang="en-US" sz="3200" dirty="0">
                    <a:solidFill>
                      <a:prstClr val="black"/>
                    </a:solidFill>
                    <a:latin typeface="Cambria Math" panose="02040503050406030204" pitchFamily="18" charset="0"/>
                    <a:ea typeface="Cambria Math" panose="02040503050406030204" pitchFamily="18" charset="0"/>
                  </a:rPr>
                  <a:t> </a:t>
                </a:r>
                <a:r>
                  <a:rPr lang="en-US" sz="3200" dirty="0" err="1">
                    <a:solidFill>
                      <a:prstClr val="black"/>
                    </a:solidFill>
                    <a:latin typeface="Cambria Math" panose="02040503050406030204" pitchFamily="18" charset="0"/>
                    <a:ea typeface="Cambria Math" panose="02040503050406030204" pitchFamily="18" charset="0"/>
                  </a:rPr>
                  <a:t>entonces</a:t>
                </a:r>
                <a:r>
                  <a:rPr lang="en-US" sz="3200" dirty="0">
                    <a:solidFill>
                      <a:prstClr val="black"/>
                    </a:solidFill>
                    <a:latin typeface="Cambria Math" panose="02040503050406030204" pitchFamily="18" charset="0"/>
                    <a:ea typeface="Cambria Math" panose="02040503050406030204" pitchFamily="18" charset="0"/>
                  </a:rPr>
                  <a:t> se consume L=y , K=0</a:t>
                </a:r>
              </a:p>
              <a:p>
                <a:pPr algn="ctr"/>
                <a:endParaRPr lang="en-US" sz="2800" dirty="0">
                  <a:solidFill>
                    <a:prstClr val="black"/>
                  </a:solidFill>
                  <a:latin typeface="Cambria Math" panose="02040503050406030204" pitchFamily="18" charset="0"/>
                  <a:ea typeface="Cambria Math" panose="02040503050406030204" pitchFamily="18" charset="0"/>
                </a:endParaRPr>
              </a:p>
              <a:p>
                <a:pPr algn="ctr"/>
                <a14:m>
                  <m:oMath xmlns:m="http://schemas.openxmlformats.org/officeDocument/2006/math">
                    <m:f>
                      <m:fPr>
                        <m:ctrlPr>
                          <a:rPr lang="en-US" sz="3200" i="1">
                            <a:latin typeface="Cambria Math" panose="02040503050406030204" pitchFamily="18" charset="0"/>
                            <a:ea typeface="Cambria Math" panose="02040503050406030204" pitchFamily="18" charset="0"/>
                          </a:rPr>
                        </m:ctrlPr>
                      </m:fPr>
                      <m:num>
                        <m:r>
                          <a:rPr lang="en-US" sz="3200">
                            <a:latin typeface="Cambria Math" panose="02040503050406030204" pitchFamily="18" charset="0"/>
                            <a:ea typeface="Cambria Math" panose="02040503050406030204" pitchFamily="18" charset="0"/>
                          </a:rPr>
                          <m:t>𝑃𝑚𝑔𝐿</m:t>
                        </m:r>
                      </m:num>
                      <m:den>
                        <m:sSub>
                          <m:sSubPr>
                            <m:ctrlPr>
                              <a:rPr lang="es-ES" sz="3200" i="1">
                                <a:latin typeface="Cambria Math" panose="02040503050406030204" pitchFamily="18" charset="0"/>
                                <a:ea typeface="Cambria Math" panose="02040503050406030204" pitchFamily="18" charset="0"/>
                              </a:rPr>
                            </m:ctrlPr>
                          </m:sSubPr>
                          <m:e>
                            <m:r>
                              <a:rPr lang="en-US" sz="3200">
                                <a:latin typeface="Cambria Math" panose="02040503050406030204" pitchFamily="18" charset="0"/>
                                <a:ea typeface="Cambria Math" panose="02040503050406030204" pitchFamily="18" charset="0"/>
                              </a:rPr>
                              <m:t>𝑤</m:t>
                            </m:r>
                          </m:e>
                          <m:sub>
                            <m:r>
                              <a:rPr lang="en-US" sz="3200">
                                <a:latin typeface="Cambria Math" panose="02040503050406030204" pitchFamily="18" charset="0"/>
                                <a:ea typeface="Cambria Math" panose="02040503050406030204" pitchFamily="18" charset="0"/>
                              </a:rPr>
                              <m:t>𝐿</m:t>
                            </m:r>
                          </m:sub>
                        </m:sSub>
                      </m:den>
                    </m:f>
                    <m:r>
                      <m:rPr>
                        <m:nor/>
                      </m:rPr>
                      <a:rPr lang="en-US" sz="3200">
                        <a:latin typeface="Cambria Math" panose="02040503050406030204" pitchFamily="18" charset="0"/>
                        <a:ea typeface="Cambria Math" panose="02040503050406030204" pitchFamily="18" charset="0"/>
                      </a:rPr>
                      <m:t>&lt;</m:t>
                    </m:r>
                    <m:f>
                      <m:fPr>
                        <m:ctrlPr>
                          <a:rPr lang="en-US" sz="3200" i="1" dirty="0">
                            <a:latin typeface="Cambria Math" panose="02040503050406030204" pitchFamily="18" charset="0"/>
                            <a:ea typeface="Cambria Math" panose="02040503050406030204" pitchFamily="18" charset="0"/>
                          </a:rPr>
                        </m:ctrlPr>
                      </m:fPr>
                      <m:num>
                        <m:r>
                          <a:rPr lang="en-US" sz="3200">
                            <a:latin typeface="Cambria Math" panose="02040503050406030204" pitchFamily="18" charset="0"/>
                            <a:ea typeface="Cambria Math" panose="02040503050406030204" pitchFamily="18" charset="0"/>
                          </a:rPr>
                          <m:t>𝑃𝑚𝑔𝐾</m:t>
                        </m:r>
                      </m:num>
                      <m:den>
                        <m:sSub>
                          <m:sSubPr>
                            <m:ctrlPr>
                              <a:rPr lang="es-ES" sz="3200" i="1">
                                <a:latin typeface="Cambria Math" panose="02040503050406030204" pitchFamily="18" charset="0"/>
                                <a:ea typeface="Cambria Math" panose="02040503050406030204" pitchFamily="18" charset="0"/>
                              </a:rPr>
                            </m:ctrlPr>
                          </m:sSubPr>
                          <m:e>
                            <m:r>
                              <a:rPr lang="en-US" sz="3200">
                                <a:latin typeface="Cambria Math" panose="02040503050406030204" pitchFamily="18" charset="0"/>
                                <a:ea typeface="Cambria Math" panose="02040503050406030204" pitchFamily="18" charset="0"/>
                              </a:rPr>
                              <m:t>𝑤</m:t>
                            </m:r>
                          </m:e>
                          <m:sub>
                            <m:r>
                              <a:rPr lang="en-US" sz="3200">
                                <a:latin typeface="Cambria Math" panose="02040503050406030204" pitchFamily="18" charset="0"/>
                                <a:ea typeface="Cambria Math" panose="02040503050406030204" pitchFamily="18" charset="0"/>
                              </a:rPr>
                              <m:t>𝐾</m:t>
                            </m:r>
                          </m:sub>
                        </m:sSub>
                      </m:den>
                    </m:f>
                  </m:oMath>
                </a14:m>
                <a:r>
                  <a:rPr lang="en-US" sz="3200" dirty="0">
                    <a:solidFill>
                      <a:prstClr val="black"/>
                    </a:solidFill>
                    <a:latin typeface="Cambria Math" panose="02040503050406030204" pitchFamily="18" charset="0"/>
                    <a:ea typeface="Cambria Math" panose="02040503050406030204" pitchFamily="18" charset="0"/>
                  </a:rPr>
                  <a:t> </a:t>
                </a:r>
                <a:r>
                  <a:rPr lang="en-US" sz="3200" dirty="0" err="1">
                    <a:solidFill>
                      <a:prstClr val="black"/>
                    </a:solidFill>
                    <a:latin typeface="Cambria Math" panose="02040503050406030204" pitchFamily="18" charset="0"/>
                    <a:ea typeface="Cambria Math" panose="02040503050406030204" pitchFamily="18" charset="0"/>
                  </a:rPr>
                  <a:t>entonces</a:t>
                </a:r>
                <a:r>
                  <a:rPr lang="en-US" sz="3200" dirty="0">
                    <a:solidFill>
                      <a:prstClr val="black"/>
                    </a:solidFill>
                    <a:latin typeface="Cambria Math" panose="02040503050406030204" pitchFamily="18" charset="0"/>
                    <a:ea typeface="Cambria Math" panose="02040503050406030204" pitchFamily="18" charset="0"/>
                  </a:rPr>
                  <a:t> se consume L=0 , K=y</a:t>
                </a:r>
              </a:p>
              <a:p>
                <a:pPr algn="ctr"/>
                <a:endParaRPr lang="en-US" sz="3200" dirty="0">
                  <a:solidFill>
                    <a:prstClr val="black"/>
                  </a:solidFill>
                  <a:latin typeface="Cambria Math" panose="02040503050406030204" pitchFamily="18" charset="0"/>
                  <a:ea typeface="Cambria Math" panose="02040503050406030204" pitchFamily="18" charset="0"/>
                </a:endParaRPr>
              </a:p>
              <a:p>
                <a:pPr algn="just"/>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600" dirty="0">
                  <a:solidFill>
                    <a:prstClr val="black"/>
                  </a:solidFill>
                  <a:latin typeface="Corbel" panose="020B0503020204020204"/>
                </a:endParaRPr>
              </a:p>
            </p:txBody>
          </p:sp>
        </mc:Choice>
        <mc:Fallback xmlns="">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657225" y="1289993"/>
                <a:ext cx="11056057" cy="6826292"/>
              </a:xfrm>
              <a:prstGeom prst="rect">
                <a:avLst/>
              </a:prstGeom>
              <a:blipFill>
                <a:blip r:embed="rId3"/>
                <a:stretch>
                  <a:fillRect l="-1158" t="-894"/>
                </a:stretch>
              </a:blipFill>
            </p:spPr>
            <p:txBody>
              <a:bodyPr/>
              <a:lstStyle/>
              <a:p>
                <a:r>
                  <a:rPr lang="en-US">
                    <a:noFill/>
                  </a:rPr>
                  <a:t> </a:t>
                </a:r>
              </a:p>
            </p:txBody>
          </p:sp>
        </mc:Fallback>
      </mc:AlternateContent>
    </p:spTree>
    <p:extLst>
      <p:ext uri="{BB962C8B-B14F-4D97-AF65-F5344CB8AC3E}">
        <p14:creationId xmlns:p14="http://schemas.microsoft.com/office/powerpoint/2010/main" val="1273690028"/>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653557" y="495240"/>
            <a:ext cx="10966943" cy="988627"/>
          </a:xfrm>
        </p:spPr>
        <p:txBody>
          <a:bodyPr>
            <a:noAutofit/>
          </a:bodyPr>
          <a:lstStyle/>
          <a:p>
            <a:r>
              <a:rPr lang="en-US" sz="3200" b="1" dirty="0" err="1">
                <a:solidFill>
                  <a:srgbClr val="1F497D"/>
                </a:solidFill>
              </a:rPr>
              <a:t>mINIMIZACIóN</a:t>
            </a:r>
            <a:r>
              <a:rPr lang="en-US" sz="3200" b="1" dirty="0">
                <a:solidFill>
                  <a:srgbClr val="1F497D"/>
                </a:solidFill>
              </a:rPr>
              <a:t> DE LOS COSTOS – </a:t>
            </a:r>
            <a:r>
              <a:rPr lang="en-US" sz="3200" b="1" i="1" dirty="0" err="1">
                <a:solidFill>
                  <a:schemeClr val="accent6">
                    <a:lumMod val="75000"/>
                  </a:schemeClr>
                </a:solidFill>
              </a:rPr>
              <a:t>Sustituto</a:t>
            </a:r>
            <a:r>
              <a:rPr lang="en-US" sz="3200" b="1" i="1" dirty="0">
                <a:solidFill>
                  <a:schemeClr val="accent6">
                    <a:lumMod val="75000"/>
                  </a:schemeClr>
                </a:solidFill>
              </a:rPr>
              <a:t> perfecto</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2123658"/>
              </a:xfrm>
              <a:prstGeom prst="rect">
                <a:avLst/>
              </a:prstGeom>
              <a:noFill/>
            </p:spPr>
            <p:txBody>
              <a:bodyPr wrap="square">
                <a:spAutoFit/>
              </a:bodyPr>
              <a:lstStyle/>
              <a:p>
                <a:r>
                  <a:rPr lang="en-US" sz="3200" b="1" dirty="0">
                    <a:solidFill>
                      <a:srgbClr val="C00000"/>
                    </a:solidFill>
                    <a:latin typeface="Cambria Math" panose="02040503050406030204" pitchFamily="18" charset="0"/>
                  </a:rPr>
                  <a:t>Ejemplo:</a:t>
                </a:r>
              </a:p>
              <a:p>
                <a:r>
                  <a:rPr lang="en-US" sz="3200" b="1" dirty="0">
                    <a:solidFill>
                      <a:srgbClr val="C00000"/>
                    </a:solidFill>
                    <a:latin typeface="Cambria Math" panose="02040503050406030204" pitchFamily="18" charset="0"/>
                  </a:rPr>
                  <a:t>y=L+2k		y=200	</a:t>
                </a:r>
                <a:r>
                  <a:rPr lang="es-ES" sz="3200" dirty="0">
                    <a:solidFill>
                      <a:prstClr val="black"/>
                    </a:solidFill>
                    <a:ea typeface="Cambria Math" panose="02040503050406030204" pitchFamily="18" charset="0"/>
                  </a:rPr>
                  <a:t> </a:t>
                </a:r>
                <a14:m>
                  <m:oMath xmlns:m="http://schemas.openxmlformats.org/officeDocument/2006/math">
                    <m:sSub>
                      <m:sSubPr>
                        <m:ctrlPr>
                          <a:rPr lang="es-ES" sz="3200" b="1" i="1">
                            <a:solidFill>
                              <a:srgbClr val="C00000"/>
                            </a:solidFill>
                            <a:latin typeface="Cambria Math" panose="02040503050406030204" pitchFamily="18" charset="0"/>
                          </a:rPr>
                        </m:ctrlPr>
                      </m:sSubPr>
                      <m:e>
                        <m:r>
                          <a:rPr lang="en-US" sz="3200" b="1" i="1">
                            <a:solidFill>
                              <a:srgbClr val="C00000"/>
                            </a:solidFill>
                            <a:latin typeface="Cambria Math" panose="02040503050406030204" pitchFamily="18" charset="0"/>
                          </a:rPr>
                          <m:t>𝒘</m:t>
                        </m:r>
                      </m:e>
                      <m:sub>
                        <m:r>
                          <a:rPr lang="en-US" sz="3200" b="1" i="1">
                            <a:solidFill>
                              <a:srgbClr val="C00000"/>
                            </a:solidFill>
                            <a:latin typeface="Cambria Math" panose="02040503050406030204" pitchFamily="18" charset="0"/>
                          </a:rPr>
                          <m:t>𝑳</m:t>
                        </m:r>
                      </m:sub>
                    </m:sSub>
                  </m:oMath>
                </a14:m>
                <a:r>
                  <a:rPr lang="en-US" sz="3200" b="1" dirty="0">
                    <a:solidFill>
                      <a:srgbClr val="C00000"/>
                    </a:solidFill>
                    <a:latin typeface="Cambria Math" panose="02040503050406030204" pitchFamily="18" charset="0"/>
                  </a:rPr>
                  <a:t>=5	</a:t>
                </a:r>
                <a14:m>
                  <m:oMath xmlns:m="http://schemas.openxmlformats.org/officeDocument/2006/math">
                    <m:sSub>
                      <m:sSubPr>
                        <m:ctrlPr>
                          <a:rPr lang="es-ES" sz="3200" b="1" i="1">
                            <a:solidFill>
                              <a:srgbClr val="C00000"/>
                            </a:solidFill>
                            <a:latin typeface="Cambria Math" panose="02040503050406030204" pitchFamily="18" charset="0"/>
                          </a:rPr>
                        </m:ctrlPr>
                      </m:sSubPr>
                      <m:e>
                        <m:r>
                          <a:rPr lang="en-US" sz="3200" b="1" i="1">
                            <a:solidFill>
                              <a:srgbClr val="C00000"/>
                            </a:solidFill>
                            <a:latin typeface="Cambria Math" panose="02040503050406030204" pitchFamily="18" charset="0"/>
                          </a:rPr>
                          <m:t>𝒘</m:t>
                        </m:r>
                      </m:e>
                      <m:sub>
                        <m:r>
                          <a:rPr lang="en-US" sz="3200" b="1" i="1" smtClean="0">
                            <a:solidFill>
                              <a:srgbClr val="C00000"/>
                            </a:solidFill>
                            <a:latin typeface="Cambria Math" panose="02040503050406030204" pitchFamily="18" charset="0"/>
                          </a:rPr>
                          <m:t>𝒌</m:t>
                        </m:r>
                      </m:sub>
                    </m:sSub>
                  </m:oMath>
                </a14:m>
                <a:r>
                  <a:rPr lang="en-US" sz="3200" b="1" dirty="0">
                    <a:solidFill>
                      <a:srgbClr val="C00000"/>
                    </a:solidFill>
                    <a:latin typeface="Cambria Math" panose="02040503050406030204" pitchFamily="18" charset="0"/>
                  </a:rPr>
                  <a:t>=20</a:t>
                </a:r>
              </a:p>
              <a:p>
                <a:endParaRPr lang="en-US" sz="3200" b="1" dirty="0">
                  <a:solidFill>
                    <a:srgbClr val="C00000"/>
                  </a:solidFill>
                  <a:latin typeface="Cambria Math" panose="02040503050406030204" pitchFamily="18" charset="0"/>
                </a:endParaRPr>
              </a:p>
              <a:p>
                <a:pPr algn="just"/>
                <a:endParaRPr lang="en-US" sz="3600" dirty="0">
                  <a:solidFill>
                    <a:prstClr val="black"/>
                  </a:solidFill>
                  <a:latin typeface="Corbel" panose="020B0503020204020204"/>
                </a:endParaRPr>
              </a:p>
            </p:txBody>
          </p:sp>
        </mc:Choice>
        <mc:Fallback>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657225" y="1289993"/>
                <a:ext cx="11056057" cy="2123658"/>
              </a:xfrm>
              <a:prstGeom prst="rect">
                <a:avLst/>
              </a:prstGeom>
              <a:blipFill>
                <a:blip r:embed="rId3"/>
                <a:stretch>
                  <a:fillRect l="-1434" t="-37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03F4FD0-F737-5F87-4635-47D141DA3639}"/>
                  </a:ext>
                </a:extLst>
              </p:cNvPr>
              <p:cNvSpPr txBox="1"/>
              <p:nvPr/>
            </p:nvSpPr>
            <p:spPr>
              <a:xfrm>
                <a:off x="945259" y="2367870"/>
                <a:ext cx="10084689" cy="3163174"/>
              </a:xfrm>
              <a:prstGeom prst="rect">
                <a:avLst/>
              </a:prstGeom>
              <a:noFill/>
            </p:spPr>
            <p:txBody>
              <a:bodyPr wrap="square">
                <a:spAutoFit/>
              </a:bodyPr>
              <a:lstStyle/>
              <a:p>
                <a:endParaRPr lang="en-US" sz="1800" i="1" dirty="0">
                  <a:solidFill>
                    <a:prstClr val="black"/>
                  </a:solidFill>
                  <a:latin typeface="Cambria Math" panose="02040503050406030204" pitchFamily="18" charset="0"/>
                </a:endParaRPr>
              </a:p>
              <a:p>
                <a:pPr algn="ctr"/>
                <a14:m>
                  <m:oMath xmlns:m="http://schemas.openxmlformats.org/officeDocument/2006/math">
                    <m:f>
                      <m:fPr>
                        <m:ctrlPr>
                          <a:rPr lang="en-US" sz="2800" i="1" smtClean="0">
                            <a:solidFill>
                              <a:prstClr val="black"/>
                            </a:solidFill>
                            <a:latin typeface="Cambria Math" panose="02040503050406030204" pitchFamily="18" charset="0"/>
                          </a:rPr>
                        </m:ctrlPr>
                      </m:fPr>
                      <m:num>
                        <m:r>
                          <a:rPr lang="en-US" sz="2800" b="0" i="1" smtClean="0">
                            <a:solidFill>
                              <a:prstClr val="black"/>
                            </a:solidFill>
                            <a:latin typeface="Cambria Math" panose="02040503050406030204" pitchFamily="18" charset="0"/>
                          </a:rPr>
                          <m:t>𝑃𝑚𝑔𝐿</m:t>
                        </m:r>
                      </m:num>
                      <m:den>
                        <m:r>
                          <a:rPr lang="en-US" sz="2800" b="0" i="1" smtClean="0">
                            <a:solidFill>
                              <a:prstClr val="black"/>
                            </a:solidFill>
                            <a:latin typeface="Cambria Math" panose="02040503050406030204" pitchFamily="18" charset="0"/>
                          </a:rPr>
                          <m:t>𝑃𝑚𝑔𝐾</m:t>
                        </m:r>
                      </m:den>
                    </m:f>
                  </m:oMath>
                </a14:m>
                <a:r>
                  <a:rPr lang="en-US" sz="2800" dirty="0">
                    <a:solidFill>
                      <a:prstClr val="black"/>
                    </a:solidFill>
                    <a:latin typeface="Corbel" panose="020B0503020204020204"/>
                  </a:rPr>
                  <a:t>=</a:t>
                </a:r>
                <a14:m>
                  <m:oMath xmlns:m="http://schemas.openxmlformats.org/officeDocument/2006/math">
                    <m:f>
                      <m:fPr>
                        <m:ctrlPr>
                          <a:rPr lang="en-US" sz="2800" i="1" dirty="0" smtClean="0">
                            <a:solidFill>
                              <a:prstClr val="black"/>
                            </a:solidFill>
                            <a:latin typeface="Cambria Math" panose="02040503050406030204" pitchFamily="18" charset="0"/>
                          </a:rPr>
                        </m:ctrlPr>
                      </m:fPr>
                      <m:num>
                        <m:r>
                          <a:rPr lang="en-US" sz="2800" b="0" i="1" dirty="0" smtClean="0">
                            <a:solidFill>
                              <a:prstClr val="black"/>
                            </a:solidFill>
                            <a:latin typeface="Cambria Math" panose="02040503050406030204" pitchFamily="18" charset="0"/>
                          </a:rPr>
                          <m:t>1</m:t>
                        </m:r>
                      </m:num>
                      <m:den>
                        <m:r>
                          <a:rPr lang="en-US" sz="2800" i="1" smtClean="0">
                            <a:solidFill>
                              <a:prstClr val="black"/>
                            </a:solidFill>
                            <a:latin typeface="Cambria Math" panose="02040503050406030204" pitchFamily="18" charset="0"/>
                          </a:rPr>
                          <m:t>2</m:t>
                        </m:r>
                      </m:den>
                    </m:f>
                  </m:oMath>
                </a14:m>
                <a:r>
                  <a:rPr lang="en-US" sz="1800" dirty="0">
                    <a:solidFill>
                      <a:prstClr val="black"/>
                    </a:solidFill>
                    <a:latin typeface="Corbel" panose="020B0503020204020204"/>
                  </a:rPr>
                  <a:t>		</a:t>
                </a:r>
                <a:r>
                  <a:rPr lang="en-US" sz="2800" i="1" dirty="0">
                    <a:solidFill>
                      <a:prstClr val="black"/>
                    </a:solidFill>
                    <a:latin typeface="Cambria Math" panose="02040503050406030204" pitchFamily="18" charset="0"/>
                  </a:rPr>
                  <a:t> </a:t>
                </a:r>
                <a14:m>
                  <m:oMath xmlns:m="http://schemas.openxmlformats.org/officeDocument/2006/math">
                    <m:f>
                      <m:fPr>
                        <m:ctrlPr>
                          <a:rPr lang="en-US" sz="2800" i="1" dirty="0">
                            <a:solidFill>
                              <a:prstClr val="black"/>
                            </a:solidFill>
                            <a:latin typeface="Cambria Math" panose="02040503050406030204" pitchFamily="18" charset="0"/>
                          </a:rPr>
                        </m:ctrlPr>
                      </m:fPr>
                      <m:num>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𝐿</m:t>
                            </m:r>
                          </m:sub>
                        </m:sSub>
                      </m:num>
                      <m:den>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𝐾</m:t>
                            </m:r>
                          </m:sub>
                        </m:sSub>
                      </m:den>
                    </m:f>
                    <m:r>
                      <a:rPr lang="en-US" sz="2800" i="1">
                        <a:solidFill>
                          <a:prstClr val="black"/>
                        </a:solidFill>
                        <a:latin typeface="Cambria Math" panose="02040503050406030204" pitchFamily="18" charset="0"/>
                      </a:rPr>
                      <m:t> </m:t>
                    </m:r>
                  </m:oMath>
                </a14:m>
                <a:r>
                  <a:rPr lang="en-US" sz="2800" i="1" dirty="0">
                    <a:solidFill>
                      <a:prstClr val="black"/>
                    </a:solidFill>
                    <a:latin typeface="Cambria Math" panose="02040503050406030204" pitchFamily="18" charset="0"/>
                  </a:rPr>
                  <a:t>= </a:t>
                </a:r>
                <a14:m>
                  <m:oMath xmlns:m="http://schemas.openxmlformats.org/officeDocument/2006/math">
                    <m:f>
                      <m:fPr>
                        <m:ctrlPr>
                          <a:rPr lang="en-US" sz="2800" i="1" dirty="0">
                            <a:solidFill>
                              <a:prstClr val="black"/>
                            </a:solidFill>
                            <a:latin typeface="Cambria Math" panose="02040503050406030204" pitchFamily="18" charset="0"/>
                          </a:rPr>
                        </m:ctrlPr>
                      </m:fPr>
                      <m:num>
                        <m:r>
                          <a:rPr lang="en-US" sz="2800" b="0" i="1" dirty="0" smtClean="0">
                            <a:solidFill>
                              <a:prstClr val="black"/>
                            </a:solidFill>
                            <a:latin typeface="Cambria Math" panose="02040503050406030204" pitchFamily="18" charset="0"/>
                          </a:rPr>
                          <m:t>5</m:t>
                        </m:r>
                      </m:num>
                      <m:den>
                        <m:r>
                          <a:rPr lang="en-US" sz="2800" b="0" i="1" smtClean="0">
                            <a:solidFill>
                              <a:prstClr val="black"/>
                            </a:solidFill>
                            <a:latin typeface="Cambria Math" panose="02040503050406030204" pitchFamily="18" charset="0"/>
                          </a:rPr>
                          <m:t>20</m:t>
                        </m:r>
                      </m:den>
                    </m:f>
                    <m:r>
                      <a:rPr lang="en-US" sz="2800" i="1">
                        <a:solidFill>
                          <a:prstClr val="black"/>
                        </a:solidFill>
                        <a:latin typeface="Cambria Math" panose="02040503050406030204" pitchFamily="18" charset="0"/>
                      </a:rPr>
                      <m:t> </m:t>
                    </m:r>
                  </m:oMath>
                </a14:m>
                <a:r>
                  <a:rPr lang="en-US" sz="1800" dirty="0">
                    <a:solidFill>
                      <a:prstClr val="black"/>
                    </a:solidFill>
                    <a:latin typeface="Corbel" panose="020B0503020204020204"/>
                  </a:rPr>
                  <a:t>	</a:t>
                </a:r>
              </a:p>
              <a:p>
                <a:pPr algn="ctr"/>
                <a:endParaRPr lang="en-US" sz="1050" dirty="0">
                  <a:solidFill>
                    <a:prstClr val="black"/>
                  </a:solidFill>
                  <a:latin typeface="Cambria Math" panose="02040503050406030204" pitchFamily="18" charset="0"/>
                  <a:ea typeface="Cambria Math" panose="02040503050406030204" pitchFamily="18" charset="0"/>
                </a:endParaRPr>
              </a:p>
              <a:p>
                <a:pPr algn="ctr"/>
                <a:endParaRPr lang="en-US" sz="1050" dirty="0">
                  <a:solidFill>
                    <a:prstClr val="black"/>
                  </a:solidFill>
                  <a:latin typeface="Cambria Math" panose="02040503050406030204" pitchFamily="18" charset="0"/>
                  <a:ea typeface="Cambria Math" panose="02040503050406030204" pitchFamily="18" charset="0"/>
                </a:endParaRPr>
              </a:p>
              <a:p>
                <a:r>
                  <a:rPr lang="en-US" sz="2400" dirty="0">
                    <a:solidFill>
                      <a:prstClr val="black"/>
                    </a:solidFill>
                  </a:rPr>
                  <a:t>Al </a:t>
                </a:r>
                <a:r>
                  <a:rPr lang="en-US" sz="2400" dirty="0" err="1">
                    <a:solidFill>
                      <a:prstClr val="black"/>
                    </a:solidFill>
                  </a:rPr>
                  <a:t>comparar</a:t>
                </a:r>
                <a:r>
                  <a:rPr lang="en-US" sz="2400" dirty="0">
                    <a:solidFill>
                      <a:prstClr val="black"/>
                    </a:solidFill>
                  </a:rPr>
                  <a:t>  </a:t>
                </a:r>
                <a14:m>
                  <m:oMath xmlns:m="http://schemas.openxmlformats.org/officeDocument/2006/math">
                    <m:f>
                      <m:fPr>
                        <m:ctrlPr>
                          <a:rPr lang="en-US" sz="2400" i="1">
                            <a:solidFill>
                              <a:prstClr val="black"/>
                            </a:solidFill>
                            <a:latin typeface="Cambria Math" panose="02040503050406030204" pitchFamily="18" charset="0"/>
                          </a:rPr>
                        </m:ctrlPr>
                      </m:fPr>
                      <m:num>
                        <m:r>
                          <a:rPr lang="en-US" sz="2400" i="1">
                            <a:solidFill>
                              <a:prstClr val="black"/>
                            </a:solidFill>
                            <a:latin typeface="Cambria Math" panose="02040503050406030204" pitchFamily="18" charset="0"/>
                          </a:rPr>
                          <m:t>𝑃𝑚𝑔𝐿</m:t>
                        </m:r>
                      </m:num>
                      <m:den>
                        <m:sSub>
                          <m:sSubPr>
                            <m:ctrlPr>
                              <a:rPr lang="es-E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𝑤</m:t>
                            </m:r>
                          </m:e>
                          <m:sub>
                            <m:r>
                              <a:rPr lang="en-US" sz="2400" i="1">
                                <a:solidFill>
                                  <a:prstClr val="black"/>
                                </a:solidFill>
                                <a:latin typeface="Cambria Math" panose="02040503050406030204" pitchFamily="18" charset="0"/>
                              </a:rPr>
                              <m:t>𝐿</m:t>
                            </m:r>
                          </m:sub>
                        </m:sSub>
                      </m:den>
                    </m:f>
                    <m:r>
                      <m:rPr>
                        <m:nor/>
                      </m:rPr>
                      <a:rPr lang="en-US" sz="2400" b="0" i="1" smtClean="0">
                        <a:solidFill>
                          <a:prstClr val="black"/>
                        </a:solidFill>
                        <a:latin typeface="Cambria Math" panose="02040503050406030204" pitchFamily="18" charset="0"/>
                      </a:rPr>
                      <m:t> </m:t>
                    </m:r>
                    <m:r>
                      <a:rPr lang="en-US" sz="2400" b="0" i="1" smtClean="0">
                        <a:solidFill>
                          <a:prstClr val="black"/>
                        </a:solidFill>
                        <a:latin typeface="Cambria Math" panose="02040503050406030204" pitchFamily="18" charset="0"/>
                      </a:rPr>
                      <m:t>𝑐𝑜𝑛</m:t>
                    </m:r>
                    <m:r>
                      <a:rPr lang="en-US" sz="2400" b="0" i="1" smtClean="0">
                        <a:solidFill>
                          <a:prstClr val="black"/>
                        </a:solidFill>
                        <a:latin typeface="Cambria Math" panose="02040503050406030204" pitchFamily="18" charset="0"/>
                      </a:rPr>
                      <m:t> </m:t>
                    </m:r>
                    <m:f>
                      <m:fPr>
                        <m:ctrlPr>
                          <a:rPr lang="en-US" sz="2400" i="1" dirty="0">
                            <a:solidFill>
                              <a:prstClr val="black"/>
                            </a:solidFill>
                            <a:latin typeface="Cambria Math" panose="02040503050406030204" pitchFamily="18" charset="0"/>
                          </a:rPr>
                        </m:ctrlPr>
                      </m:fPr>
                      <m:num>
                        <m:r>
                          <a:rPr lang="en-US" sz="2400" i="1">
                            <a:solidFill>
                              <a:prstClr val="black"/>
                            </a:solidFill>
                            <a:latin typeface="Cambria Math" panose="02040503050406030204" pitchFamily="18" charset="0"/>
                          </a:rPr>
                          <m:t>𝑃𝑚𝑔𝐾</m:t>
                        </m:r>
                      </m:num>
                      <m:den>
                        <m:sSub>
                          <m:sSubPr>
                            <m:ctrlPr>
                              <a:rPr lang="es-E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rPr>
                              <m:t>𝑤</m:t>
                            </m:r>
                          </m:e>
                          <m:sub>
                            <m:r>
                              <a:rPr lang="en-US" sz="2400" i="1">
                                <a:solidFill>
                                  <a:prstClr val="black"/>
                                </a:solidFill>
                                <a:latin typeface="Cambria Math" panose="02040503050406030204" pitchFamily="18" charset="0"/>
                              </a:rPr>
                              <m:t>𝐾</m:t>
                            </m:r>
                          </m:sub>
                        </m:sSub>
                      </m:den>
                    </m:f>
                    <m:r>
                      <a:rPr lang="en-US" sz="2400" b="0" i="1" smtClean="0">
                        <a:solidFill>
                          <a:prstClr val="black"/>
                        </a:solidFill>
                        <a:latin typeface="Cambria Math" panose="02040503050406030204" pitchFamily="18" charset="0"/>
                      </a:rPr>
                      <m:t> </m:t>
                    </m:r>
                  </m:oMath>
                </a14:m>
                <a:endParaRPr lang="en-US" sz="2400" i="1" dirty="0">
                  <a:solidFill>
                    <a:prstClr val="black"/>
                  </a:solidFill>
                  <a:latin typeface="Cambria Math" panose="02040503050406030204" pitchFamily="18" charset="0"/>
                </a:endParaRPr>
              </a:p>
              <a:p>
                <a:r>
                  <a:rPr lang="en-US" sz="2400" b="1" dirty="0">
                    <a:solidFill>
                      <a:prstClr val="black"/>
                    </a:solidFill>
                  </a:rPr>
                  <a:t>                                    </a:t>
                </a:r>
                <a14:m>
                  <m:oMath xmlns:m="http://schemas.openxmlformats.org/officeDocument/2006/math">
                    <m:f>
                      <m:fPr>
                        <m:ctrlPr>
                          <a:rPr lang="en-US" sz="2400" b="1" i="1" smtClean="0">
                            <a:solidFill>
                              <a:prstClr val="black"/>
                            </a:solidFill>
                            <a:latin typeface="Cambria Math" panose="02040503050406030204" pitchFamily="18" charset="0"/>
                          </a:rPr>
                        </m:ctrlPr>
                      </m:fPr>
                      <m:num>
                        <m:r>
                          <a:rPr lang="en-US" sz="2400" b="1" i="1">
                            <a:solidFill>
                              <a:prstClr val="black"/>
                            </a:solidFill>
                            <a:latin typeface="Cambria Math" panose="02040503050406030204" pitchFamily="18" charset="0"/>
                          </a:rPr>
                          <m:t>𝟏</m:t>
                        </m:r>
                      </m:num>
                      <m:den>
                        <m:r>
                          <a:rPr lang="en-US" sz="2400" b="1" i="1" smtClean="0">
                            <a:solidFill>
                              <a:prstClr val="black"/>
                            </a:solidFill>
                            <a:latin typeface="Cambria Math" panose="02040503050406030204" pitchFamily="18" charset="0"/>
                          </a:rPr>
                          <m:t>   </m:t>
                        </m:r>
                        <m:r>
                          <a:rPr lang="en-US" sz="2400" b="1" i="1">
                            <a:solidFill>
                              <a:prstClr val="black"/>
                            </a:solidFill>
                            <a:latin typeface="Cambria Math" panose="02040503050406030204" pitchFamily="18" charset="0"/>
                          </a:rPr>
                          <m:t>𝟓</m:t>
                        </m:r>
                      </m:den>
                    </m:f>
                  </m:oMath>
                </a14:m>
                <a:r>
                  <a:rPr lang="en-US" sz="2400" b="1" dirty="0">
                    <a:solidFill>
                      <a:prstClr val="black"/>
                    </a:solidFill>
                  </a:rPr>
                  <a:t> </a:t>
                </a:r>
                <a14:m>
                  <m:oMath xmlns:m="http://schemas.openxmlformats.org/officeDocument/2006/math">
                    <m:r>
                      <m:rPr>
                        <m:nor/>
                      </m:rPr>
                      <a:rPr lang="en-US" sz="2400" b="1" i="1">
                        <a:solidFill>
                          <a:prstClr val="black"/>
                        </a:solidFill>
                        <a:latin typeface="Cambria Math" panose="02040503050406030204" pitchFamily="18" charset="0"/>
                      </a:rPr>
                      <m:t>&gt;</m:t>
                    </m:r>
                  </m:oMath>
                </a14:m>
                <a:r>
                  <a:rPr lang="en-US" sz="2400" b="1" dirty="0">
                    <a:solidFill>
                      <a:prstClr val="black"/>
                    </a:solidFill>
                  </a:rPr>
                  <a:t> </a:t>
                </a:r>
                <a14:m>
                  <m:oMath xmlns:m="http://schemas.openxmlformats.org/officeDocument/2006/math">
                    <m:f>
                      <m:fPr>
                        <m:ctrlPr>
                          <a:rPr lang="en-US" sz="2400" b="1" i="1">
                            <a:solidFill>
                              <a:prstClr val="black"/>
                            </a:solidFill>
                            <a:latin typeface="Cambria Math" panose="02040503050406030204" pitchFamily="18" charset="0"/>
                          </a:rPr>
                        </m:ctrlPr>
                      </m:fPr>
                      <m:num>
                        <m:r>
                          <a:rPr lang="en-US" sz="2400" b="1" i="1">
                            <a:solidFill>
                              <a:prstClr val="black"/>
                            </a:solidFill>
                            <a:latin typeface="Cambria Math" panose="02040503050406030204" pitchFamily="18" charset="0"/>
                          </a:rPr>
                          <m:t>𝟐</m:t>
                        </m:r>
                      </m:num>
                      <m:den>
                        <m:r>
                          <a:rPr lang="en-US" sz="2400" b="1" i="1">
                            <a:solidFill>
                              <a:prstClr val="black"/>
                            </a:solidFill>
                            <a:latin typeface="Cambria Math" panose="02040503050406030204" pitchFamily="18" charset="0"/>
                          </a:rPr>
                          <m:t>𝟐𝟎</m:t>
                        </m:r>
                      </m:den>
                    </m:f>
                    <m:r>
                      <a:rPr lang="en-US" sz="2400" b="1" i="1">
                        <a:solidFill>
                          <a:prstClr val="black"/>
                        </a:solidFill>
                        <a:latin typeface="Cambria Math" panose="02040503050406030204" pitchFamily="18" charset="0"/>
                      </a:rPr>
                      <m:t> </m:t>
                    </m:r>
                  </m:oMath>
                </a14:m>
                <a:endParaRPr lang="en-US" sz="2400" b="1" i="1" dirty="0">
                  <a:solidFill>
                    <a:prstClr val="black"/>
                  </a:solidFill>
                  <a:latin typeface="Cambria Math" panose="02040503050406030204" pitchFamily="18" charset="0"/>
                </a:endParaRPr>
              </a:p>
              <a:p>
                <a:endParaRPr lang="en-US" sz="2800" i="1" dirty="0">
                  <a:solidFill>
                    <a:prstClr val="black"/>
                  </a:solidFill>
                  <a:latin typeface="Cambria Math" panose="02040503050406030204" pitchFamily="18" charset="0"/>
                </a:endParaRPr>
              </a:p>
              <a:p>
                <a:pPr marL="457200" indent="-457200" algn="just">
                  <a:buFont typeface="Arial" panose="020B0604020202020204" pitchFamily="34" charset="0"/>
                  <a:buChar char="•"/>
                </a:pPr>
                <a:endParaRPr lang="en-US" sz="1800" dirty="0">
                  <a:solidFill>
                    <a:prstClr val="black"/>
                  </a:solidFill>
                  <a:latin typeface="Corbel" panose="020B0503020204020204"/>
                </a:endParaRPr>
              </a:p>
            </p:txBody>
          </p:sp>
        </mc:Choice>
        <mc:Fallback>
          <p:sp>
            <p:nvSpPr>
              <p:cNvPr id="4" name="TextBox 3">
                <a:extLst>
                  <a:ext uri="{FF2B5EF4-FFF2-40B4-BE49-F238E27FC236}">
                    <a16:creationId xmlns:a16="http://schemas.microsoft.com/office/drawing/2014/main" id="{F03F4FD0-F737-5F87-4635-47D141DA3639}"/>
                  </a:ext>
                </a:extLst>
              </p:cNvPr>
              <p:cNvSpPr txBox="1">
                <a:spLocks noRot="1" noChangeAspect="1" noMove="1" noResize="1" noEditPoints="1" noAdjustHandles="1" noChangeArrowheads="1" noChangeShapeType="1" noTextEdit="1"/>
              </p:cNvSpPr>
              <p:nvPr/>
            </p:nvSpPr>
            <p:spPr>
              <a:xfrm>
                <a:off x="945259" y="2367870"/>
                <a:ext cx="10084689" cy="3163174"/>
              </a:xfrm>
              <a:prstGeom prst="rect">
                <a:avLst/>
              </a:prstGeom>
              <a:blipFill>
                <a:blip r:embed="rId4"/>
                <a:stretch>
                  <a:fillRect l="-90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8E7D7BD-BBC4-D67C-0ECA-29556BB8A5C0}"/>
              </a:ext>
            </a:extLst>
          </p:cNvPr>
          <p:cNvSpPr txBox="1"/>
          <p:nvPr/>
        </p:nvSpPr>
        <p:spPr>
          <a:xfrm>
            <a:off x="505047" y="4913552"/>
            <a:ext cx="10896378" cy="1785104"/>
          </a:xfrm>
          <a:prstGeom prst="rect">
            <a:avLst/>
          </a:prstGeom>
          <a:noFill/>
        </p:spPr>
        <p:txBody>
          <a:bodyPr wrap="square">
            <a:spAutoFit/>
          </a:bodyPr>
          <a:lstStyle/>
          <a:p>
            <a:pPr algn="ctr"/>
            <a:r>
              <a:rPr lang="en-US" sz="2400" i="1" dirty="0">
                <a:solidFill>
                  <a:prstClr val="black"/>
                </a:solidFill>
                <a:latin typeface="Cambria Math" panose="02040503050406030204" pitchFamily="18" charset="0"/>
              </a:rPr>
              <a:t>entonces se consume L=y , K=0 es </a:t>
            </a:r>
            <a:r>
              <a:rPr lang="en-US" sz="2400" i="1" dirty="0" err="1">
                <a:solidFill>
                  <a:prstClr val="black"/>
                </a:solidFill>
                <a:latin typeface="Cambria Math" panose="02040503050406030204" pitchFamily="18" charset="0"/>
              </a:rPr>
              <a:t>decir</a:t>
            </a:r>
            <a:r>
              <a:rPr lang="en-US" sz="2400" i="1" dirty="0">
                <a:solidFill>
                  <a:prstClr val="black"/>
                </a:solidFill>
                <a:latin typeface="Cambria Math" panose="02040503050406030204" pitchFamily="18" charset="0"/>
              </a:rPr>
              <a:t>, </a:t>
            </a:r>
          </a:p>
          <a:p>
            <a:pPr algn="ctr"/>
            <a:r>
              <a:rPr lang="en-US" sz="2400" i="1" dirty="0">
                <a:solidFill>
                  <a:prstClr val="black"/>
                </a:solidFill>
                <a:latin typeface="Cambria Math" panose="02040503050406030204" pitchFamily="18" charset="0"/>
              </a:rPr>
              <a:t>C=200(5) </a:t>
            </a:r>
          </a:p>
          <a:p>
            <a:pPr algn="ctr"/>
            <a:r>
              <a:rPr lang="en-US" sz="2400" b="1" i="1" dirty="0">
                <a:solidFill>
                  <a:prstClr val="black"/>
                </a:solidFill>
                <a:latin typeface="Cambria Math" panose="02040503050406030204" pitchFamily="18" charset="0"/>
              </a:rPr>
              <a:t>C=1,000</a:t>
            </a:r>
          </a:p>
          <a:p>
            <a:pPr algn="ctr"/>
            <a:endParaRPr lang="en-US" sz="1800" dirty="0">
              <a:solidFill>
                <a:prstClr val="black"/>
              </a:solidFill>
              <a:latin typeface="Cambria Math" panose="02040503050406030204" pitchFamily="18" charset="0"/>
              <a:ea typeface="Cambria Math" panose="02040503050406030204" pitchFamily="18" charset="0"/>
            </a:endParaRPr>
          </a:p>
          <a:p>
            <a:pPr algn="just"/>
            <a:endParaRPr lang="en-US" sz="1800" dirty="0">
              <a:solidFill>
                <a:prstClr val="black"/>
              </a:solidFill>
              <a:latin typeface="Corbel" panose="020B0503020204020204"/>
            </a:endParaRPr>
          </a:p>
        </p:txBody>
      </p:sp>
      <p:sp>
        <p:nvSpPr>
          <p:cNvPr id="11" name="Rectangle 10">
            <a:extLst>
              <a:ext uri="{FF2B5EF4-FFF2-40B4-BE49-F238E27FC236}">
                <a16:creationId xmlns:a16="http://schemas.microsoft.com/office/drawing/2014/main" id="{6C4724C9-4B7D-C777-B6EE-4D94024569D3}"/>
              </a:ext>
            </a:extLst>
          </p:cNvPr>
          <p:cNvSpPr/>
          <p:nvPr/>
        </p:nvSpPr>
        <p:spPr>
          <a:xfrm>
            <a:off x="5200650" y="5743575"/>
            <a:ext cx="1457325" cy="35657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991239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478719" y="495240"/>
            <a:ext cx="11618032" cy="988627"/>
          </a:xfrm>
        </p:spPr>
        <p:txBody>
          <a:bodyPr>
            <a:noAutofit/>
          </a:bodyPr>
          <a:lstStyle/>
          <a:p>
            <a:r>
              <a:rPr lang="en-US" sz="3200" b="1" dirty="0" err="1">
                <a:solidFill>
                  <a:srgbClr val="1F497D"/>
                </a:solidFill>
              </a:rPr>
              <a:t>mINIMIZACIóN</a:t>
            </a:r>
            <a:r>
              <a:rPr lang="en-US" sz="3200" b="1" dirty="0">
                <a:solidFill>
                  <a:srgbClr val="1F497D"/>
                </a:solidFill>
              </a:rPr>
              <a:t> DE LOS COSTOS – </a:t>
            </a:r>
            <a:r>
              <a:rPr lang="en-US" sz="3200" b="1" i="1" dirty="0" err="1">
                <a:solidFill>
                  <a:schemeClr val="accent6">
                    <a:lumMod val="75000"/>
                  </a:schemeClr>
                </a:solidFill>
              </a:rPr>
              <a:t>complementos</a:t>
            </a:r>
            <a:r>
              <a:rPr lang="en-US" sz="3200" b="1" i="1" dirty="0">
                <a:solidFill>
                  <a:schemeClr val="accent6">
                    <a:lumMod val="75000"/>
                  </a:schemeClr>
                </a:solidFill>
              </a:rPr>
              <a:t> perfecto</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7A729C9-D054-02AB-DE8E-0E97D67907A8}"/>
                  </a:ext>
                </a:extLst>
              </p:cNvPr>
              <p:cNvSpPr txBox="1"/>
              <p:nvPr/>
            </p:nvSpPr>
            <p:spPr>
              <a:xfrm>
                <a:off x="542927" y="1333501"/>
                <a:ext cx="8601073" cy="1815882"/>
              </a:xfrm>
              <a:prstGeom prst="rect">
                <a:avLst/>
              </a:prstGeom>
              <a:noFill/>
            </p:spPr>
            <p:txBody>
              <a:bodyPr wrap="square">
                <a:spAutoFit/>
              </a:bodyPr>
              <a:lstStyle/>
              <a:p>
                <a:pPr marL="457200" indent="-457200" algn="just">
                  <a:buFont typeface="Arial" panose="020B0604020202020204" pitchFamily="34" charset="0"/>
                  <a:buChar char="•"/>
                </a:pPr>
                <a:r>
                  <a:rPr lang="en-US" sz="2800" b="1" dirty="0">
                    <a:solidFill>
                      <a:prstClr val="black"/>
                    </a:solidFill>
                    <a:latin typeface="Corbel" panose="020B0503020204020204"/>
                  </a:rPr>
                  <a:t>Supongamos la </a:t>
                </a:r>
                <a:r>
                  <a:rPr lang="en-US" sz="2800" b="1" dirty="0" err="1">
                    <a:solidFill>
                      <a:prstClr val="black"/>
                    </a:solidFill>
                    <a:latin typeface="Corbel" panose="020B0503020204020204"/>
                  </a:rPr>
                  <a:t>función</a:t>
                </a:r>
                <a:r>
                  <a:rPr lang="en-US" sz="2800" b="1" dirty="0">
                    <a:solidFill>
                      <a:prstClr val="black"/>
                    </a:solidFill>
                    <a:latin typeface="Corbel" panose="020B0503020204020204"/>
                  </a:rPr>
                  <a:t> f</a:t>
                </a:r>
                <a14:m>
                  <m:oMath xmlns:m="http://schemas.openxmlformats.org/officeDocument/2006/math">
                    <m:sSub>
                      <m:sSubPr>
                        <m:ctrlPr>
                          <a:rPr lang="es-ES" sz="2800" b="1" i="1">
                            <a:solidFill>
                              <a:prstClr val="black"/>
                            </a:solidFill>
                            <a:latin typeface="Cambria Math" panose="02040503050406030204" pitchFamily="18" charset="0"/>
                          </a:rPr>
                        </m:ctrlPr>
                      </m:sSubPr>
                      <m:e>
                        <m:r>
                          <a:rPr lang="en-US" sz="2800" b="1" i="1">
                            <a:solidFill>
                              <a:prstClr val="black"/>
                            </a:solidFill>
                            <a:latin typeface="Cambria Math" panose="02040503050406030204" pitchFamily="18" charset="0"/>
                          </a:rPr>
                          <m:t>(</m:t>
                        </m:r>
                        <m:r>
                          <a:rPr lang="en-US" sz="2800" b="1" i="1" smtClean="0">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𝟏</m:t>
                        </m:r>
                      </m:sub>
                    </m:sSub>
                    <m:r>
                      <a:rPr lang="en-US" sz="2800" b="1">
                        <a:solidFill>
                          <a:prstClr val="black"/>
                        </a:solidFill>
                        <a:latin typeface="Cambria Math" panose="02040503050406030204" pitchFamily="18" charset="0"/>
                      </a:rPr>
                      <m:t>,</m:t>
                    </m:r>
                  </m:oMath>
                </a14:m>
                <a:r>
                  <a:rPr lang="es-ES" sz="2800" b="1" dirty="0">
                    <a:solidFill>
                      <a:prstClr val="black"/>
                    </a:solidFill>
                  </a:rPr>
                  <a:t> </a:t>
                </a:r>
                <a14:m>
                  <m:oMath xmlns:m="http://schemas.openxmlformats.org/officeDocument/2006/math">
                    <m:sSub>
                      <m:sSubPr>
                        <m:ctrlPr>
                          <a:rPr lang="es-ES" sz="2800" b="1" i="1" smtClean="0">
                            <a:solidFill>
                              <a:prstClr val="black"/>
                            </a:solidFill>
                            <a:latin typeface="Cambria Math" panose="02040503050406030204" pitchFamily="18" charset="0"/>
                          </a:rPr>
                        </m:ctrlPr>
                      </m:sSubPr>
                      <m:e>
                        <m:r>
                          <a:rPr lang="en-US" sz="2800" b="1" i="1" smtClean="0">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𝟐</m:t>
                        </m:r>
                      </m:sub>
                    </m:sSub>
                  </m:oMath>
                </a14:m>
                <a:r>
                  <a:rPr lang="es-ES" sz="2800" b="1" dirty="0">
                    <a:solidFill>
                      <a:prstClr val="black"/>
                    </a:solidFill>
                  </a:rPr>
                  <a:t>) = mín (</a:t>
                </a:r>
                <a14:m>
                  <m:oMath xmlns:m="http://schemas.openxmlformats.org/officeDocument/2006/math">
                    <m:sSub>
                      <m:sSubPr>
                        <m:ctrlPr>
                          <a:rPr lang="es-ES" sz="2800" b="1" i="1">
                            <a:solidFill>
                              <a:prstClr val="black"/>
                            </a:solidFill>
                            <a:latin typeface="Cambria Math" panose="02040503050406030204" pitchFamily="18" charset="0"/>
                          </a:rPr>
                        </m:ctrlPr>
                      </m:sSubPr>
                      <m:e>
                        <m:r>
                          <a:rPr lang="en-US" sz="2800" b="1" i="1">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𝟏</m:t>
                        </m:r>
                      </m:sub>
                    </m:sSub>
                    <m:r>
                      <a:rPr lang="en-US" sz="2800" b="1" i="0" smtClean="0">
                        <a:solidFill>
                          <a:prstClr val="black"/>
                        </a:solidFill>
                        <a:latin typeface="Cambria Math" panose="02040503050406030204" pitchFamily="18" charset="0"/>
                      </a:rPr>
                      <m:t>,</m:t>
                    </m:r>
                  </m:oMath>
                </a14:m>
                <a:r>
                  <a:rPr lang="es-ES" sz="2800" b="1" dirty="0">
                    <a:solidFill>
                      <a:prstClr val="black"/>
                    </a:solidFill>
                  </a:rPr>
                  <a:t> </a:t>
                </a:r>
                <a14:m>
                  <m:oMath xmlns:m="http://schemas.openxmlformats.org/officeDocument/2006/math">
                    <m:sSub>
                      <m:sSubPr>
                        <m:ctrlPr>
                          <a:rPr lang="es-ES" sz="2800" b="1" i="1">
                            <a:solidFill>
                              <a:prstClr val="black"/>
                            </a:solidFill>
                            <a:latin typeface="Cambria Math" panose="02040503050406030204" pitchFamily="18" charset="0"/>
                          </a:rPr>
                        </m:ctrlPr>
                      </m:sSubPr>
                      <m:e>
                        <m:r>
                          <a:rPr lang="en-US" sz="2800" b="1" i="1">
                            <a:solidFill>
                              <a:prstClr val="black"/>
                            </a:solidFill>
                            <a:latin typeface="Cambria Math" panose="02040503050406030204" pitchFamily="18" charset="0"/>
                          </a:rPr>
                          <m:t>𝒙</m:t>
                        </m:r>
                      </m:e>
                      <m:sub>
                        <m:r>
                          <a:rPr lang="en-US" sz="2800" b="1" i="1">
                            <a:solidFill>
                              <a:prstClr val="black"/>
                            </a:solidFill>
                            <a:latin typeface="Cambria Math" panose="02040503050406030204" pitchFamily="18" charset="0"/>
                          </a:rPr>
                          <m:t>𝟐</m:t>
                        </m:r>
                      </m:sub>
                    </m:sSub>
                    <m:r>
                      <a:rPr lang="en-US" sz="2800" b="1" i="1" smtClean="0">
                        <a:solidFill>
                          <a:prstClr val="black"/>
                        </a:solidFill>
                        <a:latin typeface="Cambria Math" panose="02040503050406030204" pitchFamily="18" charset="0"/>
                      </a:rPr>
                      <m:t>)</m:t>
                    </m:r>
                  </m:oMath>
                </a14:m>
                <a:endParaRPr lang="en-US" sz="2800" b="1" dirty="0">
                  <a:solidFill>
                    <a:prstClr val="black"/>
                  </a:solidFill>
                </a:endParaRPr>
              </a:p>
              <a:p>
                <a:pPr algn="just"/>
                <a:r>
                  <a:rPr lang="en-US" sz="2800" dirty="0">
                    <a:solidFill>
                      <a:prstClr val="black"/>
                    </a:solidFill>
                    <a:latin typeface="Corbel" panose="020B0503020204020204"/>
                  </a:rPr>
                  <a:t>C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1</m:t>
                        </m:r>
                      </m:sub>
                    </m:sSub>
                  </m:oMath>
                </a14:m>
                <a:r>
                  <a:rPr lang="es-ES" sz="2800" i="1" dirty="0">
                    <a:solidFill>
                      <a:prstClr val="black"/>
                    </a:solidFill>
                    <a:latin typeface="Corbel" panose="020B0503020204020204"/>
                  </a:rPr>
                  <a:t>,</a:t>
                </a:r>
                <a:r>
                  <a:rPr lang="es-ES" sz="2800" i="1"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2</m:t>
                        </m:r>
                      </m:sub>
                    </m:sSub>
                    <m:r>
                      <a:rPr lang="en-US" sz="2800" b="0" i="1" smtClean="0">
                        <a:solidFill>
                          <a:prstClr val="black"/>
                        </a:solidFill>
                        <a:latin typeface="Cambria Math" panose="02040503050406030204" pitchFamily="18" charset="0"/>
                      </a:rPr>
                      <m:t>,</m:t>
                    </m:r>
                  </m:oMath>
                </a14:m>
                <a:r>
                  <a:rPr lang="es-ES" sz="2800" i="1" dirty="0">
                    <a:solidFill>
                      <a:prstClr val="black"/>
                    </a:solidFill>
                    <a:latin typeface="Corbel" panose="020B0503020204020204"/>
                  </a:rPr>
                  <a:t> y) =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1</m:t>
                        </m:r>
                      </m:sub>
                    </m:sSub>
                  </m:oMath>
                </a14:m>
                <a:r>
                  <a:rPr lang="es-ES" sz="2800" i="1" dirty="0">
                    <a:solidFill>
                      <a:prstClr val="black"/>
                    </a:solidFill>
                    <a:latin typeface="Corbel" panose="020B0503020204020204"/>
                  </a:rPr>
                  <a:t>y+</a:t>
                </a:r>
                <a:r>
                  <a:rPr lang="es-ES" sz="2800"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b="0" i="1" smtClean="0">
                            <a:solidFill>
                              <a:prstClr val="black"/>
                            </a:solidFill>
                            <a:latin typeface="Cambria Math" panose="02040503050406030204" pitchFamily="18" charset="0"/>
                          </a:rPr>
                          <m:t>2</m:t>
                        </m:r>
                      </m:sub>
                    </m:sSub>
                    <m:r>
                      <a:rPr lang="en-US" sz="2800" b="0" i="1" smtClean="0">
                        <a:solidFill>
                          <a:prstClr val="black"/>
                        </a:solidFill>
                        <a:latin typeface="Cambria Math" panose="02040503050406030204" pitchFamily="18" charset="0"/>
                      </a:rPr>
                      <m:t>𝑦</m:t>
                    </m:r>
                  </m:oMath>
                </a14:m>
                <a:r>
                  <a:rPr lang="en-US" sz="2800" b="0" dirty="0">
                    <a:solidFill>
                      <a:prstClr val="black"/>
                    </a:solidFill>
                  </a:rPr>
                  <a:t>=(</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1</m:t>
                        </m:r>
                      </m:sub>
                    </m:sSub>
                  </m:oMath>
                </a14:m>
                <a:r>
                  <a:rPr lang="es-ES" sz="2800" i="1" dirty="0">
                    <a:solidFill>
                      <a:prstClr val="black"/>
                    </a:solidFill>
                  </a:rPr>
                  <a:t>+</a:t>
                </a:r>
                <a:r>
                  <a:rPr lang="es-ES" sz="2800" dirty="0">
                    <a:solidFill>
                      <a:prstClr val="black"/>
                    </a:solidFill>
                  </a:rPr>
                  <a:t> </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𝑤</m:t>
                        </m:r>
                      </m:e>
                      <m:sub>
                        <m:r>
                          <a:rPr lang="en-US" sz="2800" i="1">
                            <a:solidFill>
                              <a:prstClr val="black"/>
                            </a:solidFill>
                            <a:latin typeface="Cambria Math" panose="02040503050406030204" pitchFamily="18" charset="0"/>
                          </a:rPr>
                          <m:t>2</m:t>
                        </m:r>
                      </m:sub>
                    </m:sSub>
                    <m:r>
                      <a:rPr lang="en-US" sz="2800" b="0" i="1" smtClean="0">
                        <a:solidFill>
                          <a:prstClr val="black"/>
                        </a:solidFill>
                        <a:latin typeface="Cambria Math" panose="02040503050406030204" pitchFamily="18" charset="0"/>
                      </a:rPr>
                      <m:t>)</m:t>
                    </m:r>
                    <m:r>
                      <a:rPr lang="en-US" sz="2800" b="0" i="1" smtClean="0">
                        <a:solidFill>
                          <a:prstClr val="black"/>
                        </a:solidFill>
                        <a:latin typeface="Cambria Math" panose="02040503050406030204" pitchFamily="18" charset="0"/>
                      </a:rPr>
                      <m:t>𝑦</m:t>
                    </m:r>
                  </m:oMath>
                </a14:m>
                <a:endParaRPr lang="en-US" sz="2800" b="0" dirty="0">
                  <a:solidFill>
                    <a:prstClr val="black"/>
                  </a:solidFill>
                </a:endParaRPr>
              </a:p>
              <a:p>
                <a:pPr algn="just"/>
                <a:endParaRPr lang="en-US" sz="2800" b="0" dirty="0">
                  <a:solidFill>
                    <a:prstClr val="black"/>
                  </a:solidFill>
                </a:endParaRPr>
              </a:p>
              <a:p>
                <a:pPr algn="just"/>
                <a:endParaRPr lang="en-US" sz="2800" b="0" dirty="0">
                  <a:solidFill>
                    <a:prstClr val="black"/>
                  </a:solidFill>
                </a:endParaRPr>
              </a:p>
            </p:txBody>
          </p:sp>
        </mc:Choice>
        <mc:Fallback>
          <p:sp>
            <p:nvSpPr>
              <p:cNvPr id="4" name="TextBox 3">
                <a:extLst>
                  <a:ext uri="{FF2B5EF4-FFF2-40B4-BE49-F238E27FC236}">
                    <a16:creationId xmlns:a16="http://schemas.microsoft.com/office/drawing/2014/main" id="{F7A729C9-D054-02AB-DE8E-0E97D67907A8}"/>
                  </a:ext>
                </a:extLst>
              </p:cNvPr>
              <p:cNvSpPr txBox="1">
                <a:spLocks noRot="1" noChangeAspect="1" noMove="1" noResize="1" noEditPoints="1" noAdjustHandles="1" noChangeArrowheads="1" noChangeShapeType="1" noTextEdit="1"/>
              </p:cNvSpPr>
              <p:nvPr/>
            </p:nvSpPr>
            <p:spPr>
              <a:xfrm>
                <a:off x="542927" y="1333501"/>
                <a:ext cx="8601073" cy="1815882"/>
              </a:xfrm>
              <a:prstGeom prst="rect">
                <a:avLst/>
              </a:prstGeom>
              <a:blipFill>
                <a:blip r:embed="rId3"/>
                <a:stretch>
                  <a:fillRect l="-1417" t="-3356"/>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A6AA38C3-B620-62CC-A028-B7CE778D5415}"/>
              </a:ext>
            </a:extLst>
          </p:cNvPr>
          <p:cNvGrpSpPr/>
          <p:nvPr/>
        </p:nvGrpSpPr>
        <p:grpSpPr>
          <a:xfrm>
            <a:off x="593016" y="2497591"/>
            <a:ext cx="11056057" cy="4231992"/>
            <a:chOff x="593016" y="2497591"/>
            <a:chExt cx="11056057" cy="4231992"/>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32FD14A-4595-1D04-895B-1236EE97D54A}"/>
                    </a:ext>
                  </a:extLst>
                </p:cNvPr>
                <p:cNvSpPr txBox="1"/>
                <p:nvPr/>
              </p:nvSpPr>
              <p:spPr>
                <a:xfrm>
                  <a:off x="593016" y="2497591"/>
                  <a:ext cx="11056057" cy="4231992"/>
                </a:xfrm>
                <a:prstGeom prst="rect">
                  <a:avLst/>
                </a:prstGeom>
                <a:noFill/>
              </p:spPr>
              <p:txBody>
                <a:bodyPr wrap="square">
                  <a:spAutoFit/>
                </a:bodyPr>
                <a:lstStyle/>
                <a:p>
                  <a:r>
                    <a:rPr lang="en-US" sz="2800" b="1" dirty="0">
                      <a:solidFill>
                        <a:srgbClr val="C00000"/>
                      </a:solidFill>
                      <a:latin typeface="Cambria Math" panose="02040503050406030204" pitchFamily="18" charset="0"/>
                    </a:rPr>
                    <a:t>Ejemplo:</a:t>
                  </a:r>
                </a:p>
                <a:p>
                  <a:r>
                    <a:rPr lang="en-US" sz="2800" b="1" dirty="0">
                      <a:solidFill>
                        <a:srgbClr val="C00000"/>
                      </a:solidFill>
                      <a:latin typeface="Cambria Math" panose="02040503050406030204" pitchFamily="18" charset="0"/>
                    </a:rPr>
                    <a:t>y=</a:t>
                  </a:r>
                  <a:r>
                    <a:rPr lang="en-US" sz="2800" b="1" dirty="0" err="1">
                      <a:solidFill>
                        <a:srgbClr val="C00000"/>
                      </a:solidFill>
                      <a:latin typeface="Cambria Math" panose="02040503050406030204" pitchFamily="18" charset="0"/>
                    </a:rPr>
                    <a:t>mín</a:t>
                  </a:r>
                  <a:r>
                    <a:rPr lang="en-US" sz="2800" b="1" dirty="0">
                      <a:solidFill>
                        <a:srgbClr val="C00000"/>
                      </a:solidFill>
                      <a:latin typeface="Cambria Math" panose="02040503050406030204" pitchFamily="18" charset="0"/>
                    </a:rPr>
                    <a:t>(3L,5K)		w=</a:t>
                  </a:r>
                  <a14:m>
                    <m:oMath xmlns:m="http://schemas.openxmlformats.org/officeDocument/2006/math">
                      <m:sSub>
                        <m:sSubPr>
                          <m:ctrlPr>
                            <a:rPr lang="en-US" sz="2800" b="1" i="1" smtClean="0">
                              <a:solidFill>
                                <a:srgbClr val="C00000"/>
                              </a:solidFill>
                              <a:latin typeface="Cambria Math" panose="02040503050406030204" pitchFamily="18" charset="0"/>
                            </a:rPr>
                          </m:ctrlPr>
                        </m:sSubPr>
                        <m:e>
                          <m:r>
                            <a:rPr lang="en-US" sz="2800" b="1" i="1" smtClean="0">
                              <a:solidFill>
                                <a:srgbClr val="C00000"/>
                              </a:solidFill>
                              <a:latin typeface="Cambria Math" panose="02040503050406030204" pitchFamily="18" charset="0"/>
                            </a:rPr>
                            <m:t>𝑷</m:t>
                          </m:r>
                        </m:e>
                        <m:sub>
                          <m:r>
                            <a:rPr lang="en-US" sz="2800" b="1" i="1" smtClean="0">
                              <a:solidFill>
                                <a:srgbClr val="C00000"/>
                              </a:solidFill>
                              <a:latin typeface="Cambria Math" panose="02040503050406030204" pitchFamily="18" charset="0"/>
                            </a:rPr>
                            <m:t>𝒍</m:t>
                          </m:r>
                        </m:sub>
                      </m:sSub>
                      <m:r>
                        <a:rPr lang="en-US" sz="2800" b="1" i="1" smtClean="0">
                          <a:solidFill>
                            <a:srgbClr val="C00000"/>
                          </a:solidFill>
                          <a:latin typeface="Cambria Math" panose="02040503050406030204" pitchFamily="18" charset="0"/>
                        </a:rPr>
                        <m:t>=</m:t>
                      </m:r>
                      <m:r>
                        <a:rPr lang="en-US" sz="2800" b="1" i="1" smtClean="0">
                          <a:solidFill>
                            <a:srgbClr val="C00000"/>
                          </a:solidFill>
                          <a:latin typeface="Cambria Math" panose="02040503050406030204" pitchFamily="18" charset="0"/>
                        </a:rPr>
                        <m:t>𝟕</m:t>
                      </m:r>
                    </m:oMath>
                  </a14:m>
                  <a:r>
                    <a:rPr lang="en-US" sz="2800" b="1" dirty="0">
                      <a:solidFill>
                        <a:srgbClr val="C00000"/>
                      </a:solidFill>
                      <a:latin typeface="Cambria Math" panose="02040503050406030204" pitchFamily="18" charset="0"/>
                    </a:rPr>
                    <a:t>			r=</a:t>
                  </a:r>
                  <a14:m>
                    <m:oMath xmlns:m="http://schemas.openxmlformats.org/officeDocument/2006/math">
                      <m:sSub>
                        <m:sSubPr>
                          <m:ctrlPr>
                            <a:rPr lang="en-US" sz="2800" b="1" i="1">
                              <a:solidFill>
                                <a:srgbClr val="C00000"/>
                              </a:solidFill>
                              <a:latin typeface="Cambria Math" panose="02040503050406030204" pitchFamily="18" charset="0"/>
                            </a:rPr>
                          </m:ctrlPr>
                        </m:sSubPr>
                        <m:e>
                          <m:r>
                            <a:rPr lang="en-US" sz="2800" b="1" i="1">
                              <a:solidFill>
                                <a:srgbClr val="C00000"/>
                              </a:solidFill>
                              <a:latin typeface="Cambria Math" panose="02040503050406030204" pitchFamily="18" charset="0"/>
                            </a:rPr>
                            <m:t>𝑷</m:t>
                          </m:r>
                        </m:e>
                        <m:sub>
                          <m:r>
                            <a:rPr lang="en-US" sz="2800" b="1" i="1" smtClean="0">
                              <a:solidFill>
                                <a:srgbClr val="C00000"/>
                              </a:solidFill>
                              <a:latin typeface="Cambria Math" panose="02040503050406030204" pitchFamily="18" charset="0"/>
                            </a:rPr>
                            <m:t>𝒌</m:t>
                          </m:r>
                        </m:sub>
                      </m:sSub>
                      <m:r>
                        <a:rPr lang="en-US" sz="2800" b="1" i="1">
                          <a:solidFill>
                            <a:srgbClr val="C00000"/>
                          </a:solidFill>
                          <a:latin typeface="Cambria Math" panose="02040503050406030204" pitchFamily="18" charset="0"/>
                        </a:rPr>
                        <m:t>=</m:t>
                      </m:r>
                      <m:r>
                        <a:rPr lang="en-US" sz="2800" b="1" i="1" smtClean="0">
                          <a:solidFill>
                            <a:srgbClr val="C00000"/>
                          </a:solidFill>
                          <a:latin typeface="Cambria Math" panose="02040503050406030204" pitchFamily="18" charset="0"/>
                        </a:rPr>
                        <m:t>𝟐</m:t>
                      </m:r>
                    </m:oMath>
                  </a14:m>
                  <a:r>
                    <a:rPr lang="en-US" sz="3200" b="1" dirty="0">
                      <a:solidFill>
                        <a:srgbClr val="C00000"/>
                      </a:solidFill>
                      <a:latin typeface="Cambria Math" panose="02040503050406030204" pitchFamily="18" charset="0"/>
                    </a:rPr>
                    <a:t>	</a:t>
                  </a:r>
                </a:p>
                <a:p>
                  <a:endParaRPr lang="en-US" sz="2000" b="1" dirty="0">
                    <a:solidFill>
                      <a:srgbClr val="C00000"/>
                    </a:solidFill>
                    <a:latin typeface="Cambria Math" panose="02040503050406030204" pitchFamily="18" charset="0"/>
                  </a:endParaRPr>
                </a:p>
                <a:p>
                  <a:pPr marL="457200" indent="-457200">
                    <a:buFont typeface="Arial" panose="020B0604020202020204" pitchFamily="34" charset="0"/>
                    <a:buChar char="•"/>
                  </a:pPr>
                  <a:r>
                    <a:rPr lang="en-US" sz="2400" b="1" dirty="0" err="1">
                      <a:latin typeface="Cambria Math" panose="02040503050406030204" pitchFamily="18" charset="0"/>
                    </a:rPr>
                    <a:t>Igualamos</a:t>
                  </a:r>
                  <a:r>
                    <a:rPr lang="en-US" sz="2400" b="1" dirty="0">
                      <a:latin typeface="Cambria Math" panose="02040503050406030204" pitchFamily="18" charset="0"/>
                    </a:rPr>
                    <a:t> la </a:t>
                  </a:r>
                  <a:r>
                    <a:rPr lang="en-US" sz="2400" b="1" dirty="0" err="1">
                      <a:latin typeface="Cambria Math" panose="02040503050406030204" pitchFamily="18" charset="0"/>
                    </a:rPr>
                    <a:t>producción</a:t>
                  </a:r>
                  <a:r>
                    <a:rPr lang="en-US" sz="2400" b="1" dirty="0">
                      <a:latin typeface="Cambria Math" panose="02040503050406030204" pitchFamily="18" charset="0"/>
                    </a:rPr>
                    <a:t> con </a:t>
                  </a:r>
                  <a:r>
                    <a:rPr lang="en-US" sz="2400" b="1" dirty="0" err="1">
                      <a:latin typeface="Cambria Math" panose="02040503050406030204" pitchFamily="18" charset="0"/>
                    </a:rPr>
                    <a:t>cada</a:t>
                  </a:r>
                  <a:r>
                    <a:rPr lang="en-US" sz="2400" b="1" dirty="0">
                      <a:latin typeface="Cambria Math" panose="02040503050406030204" pitchFamily="18" charset="0"/>
                    </a:rPr>
                    <a:t> factor y </a:t>
                  </a:r>
                  <a:r>
                    <a:rPr lang="en-US" sz="2400" b="1" dirty="0" err="1">
                      <a:latin typeface="Cambria Math" panose="02040503050406030204" pitchFamily="18" charset="0"/>
                    </a:rPr>
                    <a:t>despejamos</a:t>
                  </a:r>
                  <a:r>
                    <a:rPr lang="en-US" sz="2400" b="1" dirty="0">
                      <a:latin typeface="Cambria Math" panose="02040503050406030204" pitchFamily="18" charset="0"/>
                    </a:rPr>
                    <a:t> </a:t>
                  </a:r>
                  <a:r>
                    <a:rPr lang="en-US" sz="2400" b="1" dirty="0" err="1">
                      <a:latin typeface="Cambria Math" panose="02040503050406030204" pitchFamily="18" charset="0"/>
                    </a:rPr>
                    <a:t>los</a:t>
                  </a:r>
                  <a:r>
                    <a:rPr lang="en-US" sz="2400" b="1" dirty="0">
                      <a:latin typeface="Cambria Math" panose="02040503050406030204" pitchFamily="18" charset="0"/>
                    </a:rPr>
                    <a:t> </a:t>
                  </a:r>
                  <a:r>
                    <a:rPr lang="en-US" sz="2400" b="1" dirty="0" err="1">
                      <a:latin typeface="Cambria Math" panose="02040503050406030204" pitchFamily="18" charset="0"/>
                    </a:rPr>
                    <a:t>factores</a:t>
                  </a:r>
                  <a:endParaRPr lang="en-US" sz="2400" b="1" dirty="0">
                    <a:latin typeface="Cambria Math" panose="02040503050406030204" pitchFamily="18" charset="0"/>
                  </a:endParaRPr>
                </a:p>
                <a:p>
                  <a:r>
                    <a:rPr lang="en-US" sz="2400" b="1" dirty="0">
                      <a:latin typeface="Cambria Math" panose="02040503050406030204" pitchFamily="18" charset="0"/>
                    </a:rPr>
                    <a:t>Q=3L		L= </a:t>
                  </a:r>
                  <a14:m>
                    <m:oMath xmlns:m="http://schemas.openxmlformats.org/officeDocument/2006/math">
                      <m:f>
                        <m:fPr>
                          <m:type m:val="skw"/>
                          <m:ctrlPr>
                            <a:rPr lang="en-US" sz="2400" b="1" i="1" smtClean="0">
                              <a:latin typeface="Cambria Math" panose="02040503050406030204" pitchFamily="18" charset="0"/>
                            </a:rPr>
                          </m:ctrlPr>
                        </m:fPr>
                        <m:num>
                          <m:r>
                            <a:rPr lang="en-US" sz="2400" b="1" i="1" smtClean="0">
                              <a:latin typeface="Cambria Math" panose="02040503050406030204" pitchFamily="18" charset="0"/>
                            </a:rPr>
                            <m:t>𝑸</m:t>
                          </m:r>
                        </m:num>
                        <m:den>
                          <m:r>
                            <a:rPr lang="en-US" sz="2400" b="1" i="1" smtClean="0">
                              <a:latin typeface="Cambria Math" panose="02040503050406030204" pitchFamily="18" charset="0"/>
                            </a:rPr>
                            <m:t>𝟑</m:t>
                          </m:r>
                        </m:den>
                      </m:f>
                    </m:oMath>
                  </a14:m>
                  <a:r>
                    <a:rPr lang="en-US" sz="2400" b="1" dirty="0">
                      <a:latin typeface="Cambria Math" panose="02040503050406030204" pitchFamily="18" charset="0"/>
                    </a:rPr>
                    <a:t>		Q=5K		 K= </a:t>
                  </a:r>
                  <a14:m>
                    <m:oMath xmlns:m="http://schemas.openxmlformats.org/officeDocument/2006/math">
                      <m:f>
                        <m:fPr>
                          <m:type m:val="skw"/>
                          <m:ctrlPr>
                            <a:rPr lang="en-US" sz="2400" b="1" i="1">
                              <a:latin typeface="Cambria Math" panose="02040503050406030204" pitchFamily="18" charset="0"/>
                            </a:rPr>
                          </m:ctrlPr>
                        </m:fPr>
                        <m:num>
                          <m:r>
                            <a:rPr lang="en-US" sz="2400" b="1" i="1">
                              <a:latin typeface="Cambria Math" panose="02040503050406030204" pitchFamily="18" charset="0"/>
                            </a:rPr>
                            <m:t>𝑸</m:t>
                          </m:r>
                        </m:num>
                        <m:den>
                          <m:r>
                            <a:rPr lang="en-US" sz="2400" b="1" i="1" smtClean="0">
                              <a:latin typeface="Cambria Math" panose="02040503050406030204" pitchFamily="18" charset="0"/>
                            </a:rPr>
                            <m:t>𝟓</m:t>
                          </m:r>
                        </m:den>
                      </m:f>
                    </m:oMath>
                  </a14:m>
                  <a:endParaRPr lang="en-US" sz="2400" b="1" dirty="0">
                    <a:latin typeface="Cambria Math" panose="02040503050406030204" pitchFamily="18" charset="0"/>
                  </a:endParaRPr>
                </a:p>
                <a:p>
                  <a:pPr marL="342900" indent="-342900">
                    <a:buFont typeface="Arial" panose="020B0604020202020204" pitchFamily="34" charset="0"/>
                    <a:buChar char="•"/>
                  </a:pPr>
                  <a:r>
                    <a:rPr lang="en-US" sz="2400" b="1" dirty="0" err="1">
                      <a:latin typeface="Cambria Math" panose="02040503050406030204" pitchFamily="18" charset="0"/>
                    </a:rPr>
                    <a:t>Función</a:t>
                  </a:r>
                  <a:r>
                    <a:rPr lang="en-US" sz="2400" b="1" dirty="0">
                      <a:latin typeface="Cambria Math" panose="02040503050406030204" pitchFamily="18" charset="0"/>
                    </a:rPr>
                    <a:t> de </a:t>
                  </a:r>
                  <a:r>
                    <a:rPr lang="en-US" sz="2400" b="1" dirty="0" err="1">
                      <a:latin typeface="Cambria Math" panose="02040503050406030204" pitchFamily="18" charset="0"/>
                    </a:rPr>
                    <a:t>costos</a:t>
                  </a:r>
                  <a:r>
                    <a:rPr lang="en-US" sz="2400" b="1" dirty="0">
                      <a:latin typeface="Cambria Math" panose="02040503050406030204" pitchFamily="18" charset="0"/>
                    </a:rPr>
                    <a:t> y </a:t>
                  </a:r>
                  <a:r>
                    <a:rPr lang="en-US" sz="2400" b="1" dirty="0" err="1">
                      <a:latin typeface="Cambria Math" panose="02040503050406030204" pitchFamily="18" charset="0"/>
                    </a:rPr>
                    <a:t>sustituimos</a:t>
                  </a:r>
                  <a:endParaRPr lang="en-US" sz="2400" b="1" dirty="0">
                    <a:latin typeface="Cambria Math" panose="02040503050406030204" pitchFamily="18" charset="0"/>
                  </a:endParaRPr>
                </a:p>
                <a:p>
                  <a:r>
                    <a:rPr lang="en-US" sz="2400" b="1" dirty="0">
                      <a:latin typeface="Cambria Math" panose="02040503050406030204" pitchFamily="18" charset="0"/>
                    </a:rPr>
                    <a:t>C=</a:t>
                  </a:r>
                  <a:r>
                    <a:rPr lang="en-US" sz="2400" b="1" dirty="0" err="1">
                      <a:latin typeface="Cambria Math" panose="02040503050406030204" pitchFamily="18" charset="0"/>
                    </a:rPr>
                    <a:t>rK+Wl</a:t>
                  </a:r>
                  <a:endParaRPr lang="en-US" sz="2400" b="1" dirty="0">
                    <a:latin typeface="Cambria Math" panose="02040503050406030204" pitchFamily="18" charset="0"/>
                  </a:endParaRPr>
                </a:p>
                <a:p>
                  <a:r>
                    <a:rPr lang="en-US" sz="2400" b="1" dirty="0">
                      <a:latin typeface="Cambria Math" panose="02040503050406030204" pitchFamily="18" charset="0"/>
                    </a:rPr>
                    <a:t>C=2(</a:t>
                  </a:r>
                  <a14:m>
                    <m:oMath xmlns:m="http://schemas.openxmlformats.org/officeDocument/2006/math">
                      <m:f>
                        <m:fPr>
                          <m:type m:val="skw"/>
                          <m:ctrlPr>
                            <a:rPr lang="en-US" sz="2400" b="1" i="1">
                              <a:latin typeface="Cambria Math" panose="02040503050406030204" pitchFamily="18" charset="0"/>
                            </a:rPr>
                          </m:ctrlPr>
                        </m:fPr>
                        <m:num>
                          <m:r>
                            <a:rPr lang="en-US" sz="2400" b="1" i="1">
                              <a:latin typeface="Cambria Math" panose="02040503050406030204" pitchFamily="18" charset="0"/>
                            </a:rPr>
                            <m:t>𝑸</m:t>
                          </m:r>
                        </m:num>
                        <m:den>
                          <m:r>
                            <a:rPr lang="en-US" sz="2400" b="1" i="1">
                              <a:latin typeface="Cambria Math" panose="02040503050406030204" pitchFamily="18" charset="0"/>
                            </a:rPr>
                            <m:t>𝟓</m:t>
                          </m:r>
                        </m:den>
                      </m:f>
                    </m:oMath>
                  </a14:m>
                  <a:r>
                    <a:rPr lang="en-US" sz="2400" b="1" dirty="0">
                      <a:latin typeface="Cambria Math" panose="02040503050406030204" pitchFamily="18" charset="0"/>
                    </a:rPr>
                    <a:t>)+7(</a:t>
                  </a:r>
                  <a14:m>
                    <m:oMath xmlns:m="http://schemas.openxmlformats.org/officeDocument/2006/math">
                      <m:f>
                        <m:fPr>
                          <m:type m:val="skw"/>
                          <m:ctrlPr>
                            <a:rPr lang="en-US" sz="2400" b="1" i="1">
                              <a:latin typeface="Cambria Math" panose="02040503050406030204" pitchFamily="18" charset="0"/>
                            </a:rPr>
                          </m:ctrlPr>
                        </m:fPr>
                        <m:num>
                          <m:r>
                            <a:rPr lang="en-US" sz="2400" b="1" i="1">
                              <a:latin typeface="Cambria Math" panose="02040503050406030204" pitchFamily="18" charset="0"/>
                            </a:rPr>
                            <m:t>𝑸</m:t>
                          </m:r>
                        </m:num>
                        <m:den>
                          <m:r>
                            <a:rPr lang="en-US" sz="2400" b="1" i="1">
                              <a:latin typeface="Cambria Math" panose="02040503050406030204" pitchFamily="18" charset="0"/>
                            </a:rPr>
                            <m:t>𝟑</m:t>
                          </m:r>
                        </m:den>
                      </m:f>
                    </m:oMath>
                  </a14:m>
                  <a:r>
                    <a:rPr lang="en-US" sz="2400" b="1" dirty="0">
                      <a:latin typeface="Cambria Math" panose="02040503050406030204" pitchFamily="18" charset="0"/>
                    </a:rPr>
                    <a:t>)</a:t>
                  </a:r>
                </a:p>
                <a:p>
                  <a:r>
                    <a:rPr lang="en-US" sz="2400" b="1" dirty="0">
                      <a:latin typeface="Cambria Math" panose="02040503050406030204" pitchFamily="18" charset="0"/>
                    </a:rPr>
                    <a:t>C= </a:t>
                  </a:r>
                  <a14:m>
                    <m:oMath xmlns:m="http://schemas.openxmlformats.org/officeDocument/2006/math">
                      <m:f>
                        <m:fPr>
                          <m:type m:val="skw"/>
                          <m:ctrlPr>
                            <a:rPr lang="en-US" sz="2400" b="1" i="1">
                              <a:latin typeface="Cambria Math" panose="02040503050406030204" pitchFamily="18" charset="0"/>
                            </a:rPr>
                          </m:ctrlPr>
                        </m:fPr>
                        <m:num>
                          <m:r>
                            <a:rPr lang="en-US" sz="2400" b="1" i="1" smtClean="0">
                              <a:latin typeface="Cambria Math" panose="02040503050406030204" pitchFamily="18" charset="0"/>
                            </a:rPr>
                            <m:t>𝟒𝟏</m:t>
                          </m:r>
                          <m:r>
                            <a:rPr lang="en-US" sz="2400" b="1" i="1">
                              <a:latin typeface="Cambria Math" panose="02040503050406030204" pitchFamily="18" charset="0"/>
                            </a:rPr>
                            <m:t>𝑸</m:t>
                          </m:r>
                        </m:num>
                        <m:den>
                          <m:r>
                            <a:rPr lang="en-US" sz="2400" b="1" i="1" smtClean="0">
                              <a:latin typeface="Cambria Math" panose="02040503050406030204" pitchFamily="18" charset="0"/>
                            </a:rPr>
                            <m:t>𝟏𝟓</m:t>
                          </m:r>
                        </m:den>
                      </m:f>
                    </m:oMath>
                  </a14:m>
                  <a:endParaRPr lang="en-US" sz="2400" b="1" dirty="0">
                    <a:latin typeface="Cambria Math" panose="02040503050406030204" pitchFamily="18" charset="0"/>
                  </a:endParaRPr>
                </a:p>
                <a:p>
                  <a:pPr algn="just"/>
                  <a:endParaRPr lang="en-US" sz="3600" dirty="0">
                    <a:solidFill>
                      <a:prstClr val="black"/>
                    </a:solidFill>
                    <a:latin typeface="Corbel" panose="020B0503020204020204"/>
                  </a:endParaRPr>
                </a:p>
              </p:txBody>
            </p:sp>
          </mc:Choice>
          <mc:Fallback>
            <p:sp>
              <p:nvSpPr>
                <p:cNvPr id="5" name="TextBox 4">
                  <a:extLst>
                    <a:ext uri="{FF2B5EF4-FFF2-40B4-BE49-F238E27FC236}">
                      <a16:creationId xmlns:a16="http://schemas.microsoft.com/office/drawing/2014/main" id="{C32FD14A-4595-1D04-895B-1236EE97D54A}"/>
                    </a:ext>
                  </a:extLst>
                </p:cNvPr>
                <p:cNvSpPr txBox="1">
                  <a:spLocks noRot="1" noChangeAspect="1" noMove="1" noResize="1" noEditPoints="1" noAdjustHandles="1" noChangeArrowheads="1" noChangeShapeType="1" noTextEdit="1"/>
                </p:cNvSpPr>
                <p:nvPr/>
              </p:nvSpPr>
              <p:spPr>
                <a:xfrm>
                  <a:off x="593016" y="2497591"/>
                  <a:ext cx="11056057" cy="4231992"/>
                </a:xfrm>
                <a:prstGeom prst="rect">
                  <a:avLst/>
                </a:prstGeom>
                <a:blipFill>
                  <a:blip r:embed="rId4"/>
                  <a:stretch>
                    <a:fillRect l="-1103" t="-1585"/>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EAE81561-E6FA-560C-1639-6149982A0FF8}"/>
                </a:ext>
              </a:extLst>
            </p:cNvPr>
            <p:cNvSpPr/>
            <p:nvPr/>
          </p:nvSpPr>
          <p:spPr>
            <a:xfrm>
              <a:off x="2447298" y="4121159"/>
              <a:ext cx="1076315" cy="42794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335B2EC-32AF-47DF-1CCC-97EC1935A9C7}"/>
                </a:ext>
              </a:extLst>
            </p:cNvPr>
            <p:cNvSpPr/>
            <p:nvPr/>
          </p:nvSpPr>
          <p:spPr>
            <a:xfrm>
              <a:off x="6121044" y="4134407"/>
              <a:ext cx="1076315" cy="41469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6D072C6-D0F1-5C6F-FBD1-821AE1292E7A}"/>
                </a:ext>
              </a:extLst>
            </p:cNvPr>
            <p:cNvSpPr/>
            <p:nvPr/>
          </p:nvSpPr>
          <p:spPr>
            <a:xfrm>
              <a:off x="677836" y="5690200"/>
              <a:ext cx="1369155" cy="4826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8507869"/>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653557" y="495240"/>
            <a:ext cx="10966943" cy="988627"/>
          </a:xfrm>
        </p:spPr>
        <p:txBody>
          <a:bodyPr>
            <a:noAutofit/>
          </a:bodyPr>
          <a:lstStyle/>
          <a:p>
            <a:r>
              <a:rPr lang="en-US" sz="3200" b="1" dirty="0" err="1">
                <a:solidFill>
                  <a:srgbClr val="1F497D"/>
                </a:solidFill>
              </a:rPr>
              <a:t>mINIMIZACIóN</a:t>
            </a:r>
            <a:r>
              <a:rPr lang="en-US" sz="3200" b="1" dirty="0">
                <a:solidFill>
                  <a:srgbClr val="1F497D"/>
                </a:solidFill>
              </a:rPr>
              <a:t> DE LOS COSTOS – </a:t>
            </a:r>
            <a:r>
              <a:rPr lang="en-US" sz="3200" b="1" i="1" dirty="0">
                <a:solidFill>
                  <a:schemeClr val="accent6">
                    <a:lumMod val="75000"/>
                  </a:schemeClr>
                </a:solidFill>
              </a:rPr>
              <a:t>cobb </a:t>
            </a:r>
            <a:r>
              <a:rPr lang="en-US" sz="3200" b="1" i="1" dirty="0" err="1">
                <a:solidFill>
                  <a:schemeClr val="accent6">
                    <a:lumMod val="75000"/>
                  </a:schemeClr>
                </a:solidFill>
              </a:rPr>
              <a:t>douglass</a:t>
            </a:r>
            <a:endParaRPr lang="en-US" sz="3200" b="1" i="1" dirty="0">
              <a:solidFill>
                <a:schemeClr val="accent6">
                  <a:lumMod val="75000"/>
                </a:schemeClr>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E545717-1E68-644D-327B-804C14E49689}"/>
                  </a:ext>
                </a:extLst>
              </p:cNvPr>
              <p:cNvSpPr txBox="1"/>
              <p:nvPr/>
            </p:nvSpPr>
            <p:spPr>
              <a:xfrm>
                <a:off x="653557" y="1270943"/>
                <a:ext cx="11056057" cy="5083956"/>
              </a:xfrm>
              <a:prstGeom prst="rect">
                <a:avLst/>
              </a:prstGeom>
              <a:noFill/>
            </p:spPr>
            <p:txBody>
              <a:bodyPr wrap="square">
                <a:spAutoFit/>
              </a:bodyPr>
              <a:lstStyle/>
              <a:p>
                <a:pPr algn="just"/>
                <a:r>
                  <a:rPr lang="en-US" sz="3200" b="1" dirty="0">
                    <a:solidFill>
                      <a:prstClr val="black"/>
                    </a:solidFill>
                    <a:latin typeface="Corbel" panose="020B0503020204020204"/>
                  </a:rPr>
                  <a:t>Ejemplo </a:t>
                </a:r>
                <a:r>
                  <a:rPr lang="en-US" sz="3200" i="1" dirty="0">
                    <a:solidFill>
                      <a:prstClr val="black"/>
                    </a:solidFill>
                    <a:latin typeface="Corbel" panose="020B0503020204020204"/>
                  </a:rPr>
                  <a:t>(largo </a:t>
                </a:r>
                <a:r>
                  <a:rPr lang="en-US" sz="3200" i="1" dirty="0" err="1">
                    <a:solidFill>
                      <a:prstClr val="black"/>
                    </a:solidFill>
                    <a:latin typeface="Corbel" panose="020B0503020204020204"/>
                  </a:rPr>
                  <a:t>plazo</a:t>
                </a:r>
                <a:r>
                  <a:rPr lang="en-US" sz="3200" i="1" dirty="0">
                    <a:solidFill>
                      <a:prstClr val="black"/>
                    </a:solidFill>
                    <a:latin typeface="Corbel" panose="020B0503020204020204"/>
                  </a:rPr>
                  <a:t>)</a:t>
                </a:r>
              </a:p>
              <a:p>
                <a:pPr algn="just"/>
                <a:endParaRPr lang="en-US" sz="3200" dirty="0">
                  <a:solidFill>
                    <a:prstClr val="black"/>
                  </a:solidFill>
                  <a:latin typeface="Corbel" panose="020B0503020204020204"/>
                </a:endParaRPr>
              </a:p>
              <a:p>
                <a:pPr algn="just"/>
                <a:r>
                  <a:rPr lang="en-US" sz="3200" dirty="0" err="1">
                    <a:solidFill>
                      <a:prstClr val="black"/>
                    </a:solidFill>
                    <a:latin typeface="Corbel" panose="020B0503020204020204"/>
                  </a:rPr>
                  <a:t>Considere</a:t>
                </a:r>
                <a:r>
                  <a:rPr lang="en-US" sz="3200" dirty="0">
                    <a:solidFill>
                      <a:prstClr val="black"/>
                    </a:solidFill>
                    <a:latin typeface="Corbel" panose="020B0503020204020204"/>
                  </a:rPr>
                  <a:t> que la </a:t>
                </a:r>
                <a:r>
                  <a:rPr lang="en-US" sz="3200" dirty="0" err="1">
                    <a:solidFill>
                      <a:prstClr val="black"/>
                    </a:solidFill>
                    <a:latin typeface="Corbel" panose="020B0503020204020204"/>
                  </a:rPr>
                  <a:t>función</a:t>
                </a:r>
                <a:r>
                  <a:rPr lang="en-US" sz="3200" dirty="0">
                    <a:solidFill>
                      <a:prstClr val="black"/>
                    </a:solidFill>
                    <a:latin typeface="Corbel" panose="020B0503020204020204"/>
                  </a:rPr>
                  <a:t> de </a:t>
                </a:r>
                <a:r>
                  <a:rPr lang="en-US" sz="3200" dirty="0" err="1">
                    <a:solidFill>
                      <a:prstClr val="black"/>
                    </a:solidFill>
                    <a:latin typeface="Corbel" panose="020B0503020204020204"/>
                  </a:rPr>
                  <a:t>producción</a:t>
                </a:r>
                <a:r>
                  <a:rPr lang="en-US" sz="3200" dirty="0">
                    <a:solidFill>
                      <a:prstClr val="black"/>
                    </a:solidFill>
                    <a:latin typeface="Corbel" panose="020B0503020204020204"/>
                  </a:rPr>
                  <a:t> de </a:t>
                </a:r>
                <a:r>
                  <a:rPr lang="en-US" sz="3200" dirty="0" err="1">
                    <a:solidFill>
                      <a:prstClr val="black"/>
                    </a:solidFill>
                    <a:latin typeface="Corbel" panose="020B0503020204020204"/>
                  </a:rPr>
                  <a:t>una</a:t>
                </a:r>
                <a:r>
                  <a:rPr lang="en-US" sz="3200" dirty="0">
                    <a:solidFill>
                      <a:prstClr val="black"/>
                    </a:solidFill>
                    <a:latin typeface="Corbel" panose="020B0503020204020204"/>
                  </a:rPr>
                  <a:t> </a:t>
                </a:r>
                <a:r>
                  <a:rPr lang="en-US" sz="3200" dirty="0" err="1">
                    <a:solidFill>
                      <a:prstClr val="black"/>
                    </a:solidFill>
                    <a:latin typeface="Corbel" panose="020B0503020204020204"/>
                  </a:rPr>
                  <a:t>empresa</a:t>
                </a:r>
                <a:r>
                  <a:rPr lang="en-US" sz="3200" dirty="0">
                    <a:solidFill>
                      <a:prstClr val="black"/>
                    </a:solidFill>
                    <a:latin typeface="Corbel" panose="020B0503020204020204"/>
                  </a:rPr>
                  <a:t> es la </a:t>
                </a:r>
                <a:r>
                  <a:rPr lang="en-US" sz="3200" dirty="0" err="1">
                    <a:solidFill>
                      <a:prstClr val="black"/>
                    </a:solidFill>
                    <a:latin typeface="Corbel" panose="020B0503020204020204"/>
                  </a:rPr>
                  <a:t>siguiente</a:t>
                </a:r>
                <a:r>
                  <a:rPr lang="en-US" sz="3200" dirty="0">
                    <a:solidFill>
                      <a:prstClr val="black"/>
                    </a:solidFill>
                    <a:latin typeface="Corbel" panose="020B0503020204020204"/>
                  </a:rPr>
                  <a:t>: q=</a:t>
                </a:r>
                <a14:m>
                  <m:oMath xmlns:m="http://schemas.openxmlformats.org/officeDocument/2006/math">
                    <m:sSup>
                      <m:sSupPr>
                        <m:ctrlPr>
                          <a:rPr lang="en-US" sz="3200" i="1" smtClean="0">
                            <a:solidFill>
                              <a:prstClr val="black"/>
                            </a:solidFill>
                            <a:latin typeface="Cambria Math" panose="02040503050406030204" pitchFamily="18" charset="0"/>
                          </a:rPr>
                        </m:ctrlPr>
                      </m:sSupPr>
                      <m:e>
                        <m:r>
                          <a:rPr lang="en-US" sz="3200" b="0" i="1" smtClean="0">
                            <a:solidFill>
                              <a:prstClr val="black"/>
                            </a:solidFill>
                            <a:latin typeface="Cambria Math" panose="02040503050406030204" pitchFamily="18" charset="0"/>
                          </a:rPr>
                          <m:t>𝐾</m:t>
                        </m:r>
                      </m:e>
                      <m:sup>
                        <m:r>
                          <a:rPr lang="en-US" sz="3200" b="0" i="1" smtClean="0">
                            <a:solidFill>
                              <a:prstClr val="black"/>
                            </a:solidFill>
                            <a:latin typeface="Cambria Math" panose="02040503050406030204" pitchFamily="18" charset="0"/>
                          </a:rPr>
                          <m:t>0</m:t>
                        </m:r>
                        <m:r>
                          <a:rPr lang="en-US" sz="3200" b="0" i="1" smtClean="0">
                            <a:solidFill>
                              <a:prstClr val="black"/>
                            </a:solidFill>
                            <a:latin typeface="Cambria Math" panose="02040503050406030204" pitchFamily="18" charset="0"/>
                          </a:rPr>
                          <m:t>.</m:t>
                        </m:r>
                        <m:r>
                          <a:rPr lang="en-US" sz="3200" b="0" i="1" smtClean="0">
                            <a:solidFill>
                              <a:prstClr val="black"/>
                            </a:solidFill>
                            <a:latin typeface="Cambria Math" panose="02040503050406030204" pitchFamily="18" charset="0"/>
                          </a:rPr>
                          <m:t>5</m:t>
                        </m:r>
                      </m:sup>
                    </m:sSup>
                  </m:oMath>
                </a14:m>
                <a:r>
                  <a:rPr lang="en-US" sz="3200" dirty="0">
                    <a:solidFill>
                      <a:prstClr val="black"/>
                    </a:solidFill>
                  </a:rPr>
                  <a:t> </a:t>
                </a:r>
                <a14:m>
                  <m:oMath xmlns:m="http://schemas.openxmlformats.org/officeDocument/2006/math">
                    <m:sSup>
                      <m:sSupPr>
                        <m:ctrlPr>
                          <a:rPr lang="en-US" sz="3200" i="1">
                            <a:solidFill>
                              <a:prstClr val="black"/>
                            </a:solidFill>
                            <a:latin typeface="Cambria Math" panose="02040503050406030204" pitchFamily="18" charset="0"/>
                          </a:rPr>
                        </m:ctrlPr>
                      </m:sSupPr>
                      <m:e>
                        <m:r>
                          <a:rPr lang="en-US" sz="3200" b="0" i="1" smtClean="0">
                            <a:solidFill>
                              <a:prstClr val="black"/>
                            </a:solidFill>
                            <a:latin typeface="Cambria Math" panose="02040503050406030204" pitchFamily="18" charset="0"/>
                          </a:rPr>
                          <m:t>𝐿</m:t>
                        </m:r>
                      </m:e>
                      <m:sup>
                        <m:r>
                          <a:rPr lang="en-US" sz="3200" i="1">
                            <a:solidFill>
                              <a:prstClr val="black"/>
                            </a:solidFill>
                            <a:latin typeface="Cambria Math" panose="02040503050406030204" pitchFamily="18" charset="0"/>
                          </a:rPr>
                          <m:t>0</m:t>
                        </m:r>
                        <m:r>
                          <a:rPr lang="en-US" sz="3200" i="1">
                            <a:solidFill>
                              <a:prstClr val="black"/>
                            </a:solidFill>
                            <a:latin typeface="Cambria Math" panose="02040503050406030204" pitchFamily="18" charset="0"/>
                          </a:rPr>
                          <m:t>.</m:t>
                        </m:r>
                        <m:r>
                          <a:rPr lang="en-US" sz="3200" i="1">
                            <a:solidFill>
                              <a:prstClr val="black"/>
                            </a:solidFill>
                            <a:latin typeface="Cambria Math" panose="02040503050406030204" pitchFamily="18" charset="0"/>
                          </a:rPr>
                          <m:t>5</m:t>
                        </m:r>
                      </m:sup>
                    </m:sSup>
                  </m:oMath>
                </a14:m>
                <a:endParaRPr lang="en-US" sz="3200" dirty="0">
                  <a:solidFill>
                    <a:prstClr val="black"/>
                  </a:solidFill>
                  <a:latin typeface="Corbel" panose="020B0503020204020204"/>
                </a:endParaRPr>
              </a:p>
              <a:p>
                <a:pPr marL="457200" indent="-457200" algn="just">
                  <a:buFont typeface="Arial" panose="020B0604020202020204" pitchFamily="34" charset="0"/>
                  <a:buChar char="•"/>
                </a:pPr>
                <a:r>
                  <a:rPr lang="en-US" sz="3200" dirty="0">
                    <a:solidFill>
                      <a:prstClr val="black"/>
                    </a:solidFill>
                    <a:latin typeface="Corbel" panose="020B0503020204020204"/>
                  </a:rPr>
                  <a:t>Se sabe que </a:t>
                </a:r>
                <a:r>
                  <a:rPr lang="en-US" sz="3200" dirty="0" err="1">
                    <a:solidFill>
                      <a:prstClr val="black"/>
                    </a:solidFill>
                    <a:latin typeface="Corbel" panose="020B0503020204020204"/>
                  </a:rPr>
                  <a:t>los</a:t>
                </a:r>
                <a:r>
                  <a:rPr lang="en-US" sz="3200" dirty="0">
                    <a:solidFill>
                      <a:prstClr val="black"/>
                    </a:solidFill>
                    <a:latin typeface="Corbel" panose="020B0503020204020204"/>
                  </a:rPr>
                  <a:t> </a:t>
                </a:r>
                <a:r>
                  <a:rPr lang="en-US" sz="3200" dirty="0" err="1">
                    <a:solidFill>
                      <a:prstClr val="black"/>
                    </a:solidFill>
                    <a:latin typeface="Corbel" panose="020B0503020204020204"/>
                  </a:rPr>
                  <a:t>precios</a:t>
                </a:r>
                <a:r>
                  <a:rPr lang="en-US" sz="3200" dirty="0">
                    <a:solidFill>
                      <a:prstClr val="black"/>
                    </a:solidFill>
                    <a:latin typeface="Corbel" panose="020B0503020204020204"/>
                  </a:rPr>
                  <a:t> </a:t>
                </a:r>
                <a:r>
                  <a:rPr lang="en-US" sz="3200" dirty="0" err="1">
                    <a:solidFill>
                      <a:prstClr val="black"/>
                    </a:solidFill>
                    <a:latin typeface="Corbel" panose="020B0503020204020204"/>
                  </a:rPr>
                  <a:t>unitarios</a:t>
                </a:r>
                <a:r>
                  <a:rPr lang="en-US" sz="3200" dirty="0">
                    <a:solidFill>
                      <a:prstClr val="black"/>
                    </a:solidFill>
                    <a:latin typeface="Corbel" panose="020B0503020204020204"/>
                  </a:rPr>
                  <a:t> del capital y del </a:t>
                </a:r>
                <a:r>
                  <a:rPr lang="en-US" sz="3200" dirty="0" err="1">
                    <a:solidFill>
                      <a:prstClr val="black"/>
                    </a:solidFill>
                    <a:latin typeface="Corbel" panose="020B0503020204020204"/>
                  </a:rPr>
                  <a:t>trabajo</a:t>
                </a:r>
                <a:r>
                  <a:rPr lang="en-US" sz="3200" dirty="0">
                    <a:solidFill>
                      <a:prstClr val="black"/>
                    </a:solidFill>
                    <a:latin typeface="Corbel" panose="020B0503020204020204"/>
                  </a:rPr>
                  <a:t> son $16 y $4, </a:t>
                </a:r>
                <a:r>
                  <a:rPr lang="en-US" sz="3200" dirty="0" err="1">
                    <a:solidFill>
                      <a:prstClr val="black"/>
                    </a:solidFill>
                    <a:latin typeface="Corbel" panose="020B0503020204020204"/>
                  </a:rPr>
                  <a:t>respectivamente</a:t>
                </a:r>
                <a:r>
                  <a:rPr lang="en-US" sz="3200" dirty="0">
                    <a:solidFill>
                      <a:prstClr val="black"/>
                    </a:solidFill>
                    <a:latin typeface="Corbel" panose="020B0503020204020204"/>
                  </a:rPr>
                  <a:t>. </a:t>
                </a:r>
                <a:r>
                  <a:rPr lang="en-US" sz="3200" dirty="0" err="1">
                    <a:solidFill>
                      <a:prstClr val="black"/>
                    </a:solidFill>
                    <a:latin typeface="Corbel" panose="020B0503020204020204"/>
                  </a:rPr>
                  <a:t>Encuentre</a:t>
                </a:r>
                <a:r>
                  <a:rPr lang="en-US" sz="3200" dirty="0">
                    <a:solidFill>
                      <a:prstClr val="black"/>
                    </a:solidFill>
                    <a:latin typeface="Corbel" panose="020B0503020204020204"/>
                  </a:rPr>
                  <a:t> las </a:t>
                </a:r>
                <a:r>
                  <a:rPr lang="en-US" sz="3200" dirty="0" err="1">
                    <a:solidFill>
                      <a:prstClr val="black"/>
                    </a:solidFill>
                    <a:latin typeface="Corbel" panose="020B0503020204020204"/>
                  </a:rPr>
                  <a:t>demandas</a:t>
                </a:r>
                <a:r>
                  <a:rPr lang="en-US" sz="3200" dirty="0">
                    <a:solidFill>
                      <a:prstClr val="black"/>
                    </a:solidFill>
                    <a:latin typeface="Corbel" panose="020B0503020204020204"/>
                  </a:rPr>
                  <a:t> </a:t>
                </a:r>
                <a:r>
                  <a:rPr lang="en-US" sz="3200" dirty="0" err="1">
                    <a:solidFill>
                      <a:prstClr val="black"/>
                    </a:solidFill>
                    <a:latin typeface="Corbel" panose="020B0503020204020204"/>
                  </a:rPr>
                  <a:t>condicionadas</a:t>
                </a:r>
                <a:r>
                  <a:rPr lang="en-US" sz="3200" dirty="0">
                    <a:solidFill>
                      <a:prstClr val="black"/>
                    </a:solidFill>
                    <a:latin typeface="Corbel" panose="020B0503020204020204"/>
                  </a:rPr>
                  <a:t> </a:t>
                </a:r>
                <a:r>
                  <a:rPr lang="en-US" sz="3200" dirty="0" err="1">
                    <a:solidFill>
                      <a:prstClr val="black"/>
                    </a:solidFill>
                    <a:latin typeface="Corbel" panose="020B0503020204020204"/>
                  </a:rPr>
                  <a:t>por</a:t>
                </a:r>
                <a:r>
                  <a:rPr lang="en-US" sz="3200" dirty="0">
                    <a:solidFill>
                      <a:prstClr val="black"/>
                    </a:solidFill>
                    <a:latin typeface="Corbel" panose="020B0503020204020204"/>
                  </a:rPr>
                  <a:t> </a:t>
                </a:r>
                <a:r>
                  <a:rPr lang="en-US" sz="3200" dirty="0" err="1">
                    <a:solidFill>
                      <a:prstClr val="black"/>
                    </a:solidFill>
                    <a:latin typeface="Corbel" panose="020B0503020204020204"/>
                  </a:rPr>
                  <a:t>factores</a:t>
                </a:r>
                <a:r>
                  <a:rPr lang="en-US" sz="3200" dirty="0">
                    <a:solidFill>
                      <a:prstClr val="black"/>
                    </a:solidFill>
                    <a:latin typeface="Corbel" panose="020B0503020204020204"/>
                  </a:rPr>
                  <a:t> y </a:t>
                </a:r>
                <a:r>
                  <a:rPr lang="en-US" sz="3200" dirty="0" err="1">
                    <a:solidFill>
                      <a:prstClr val="black"/>
                    </a:solidFill>
                    <a:latin typeface="Corbel" panose="020B0503020204020204"/>
                  </a:rPr>
                  <a:t>el</a:t>
                </a:r>
                <a:r>
                  <a:rPr lang="en-US" sz="3200" dirty="0">
                    <a:solidFill>
                      <a:prstClr val="black"/>
                    </a:solidFill>
                    <a:latin typeface="Corbel" panose="020B0503020204020204"/>
                  </a:rPr>
                  <a:t> </a:t>
                </a:r>
                <a:r>
                  <a:rPr lang="en-US" sz="3200" dirty="0" err="1">
                    <a:solidFill>
                      <a:prstClr val="black"/>
                    </a:solidFill>
                    <a:latin typeface="Corbel" panose="020B0503020204020204"/>
                  </a:rPr>
                  <a:t>costo</a:t>
                </a:r>
                <a:r>
                  <a:rPr lang="en-US" sz="3200" dirty="0">
                    <a:solidFill>
                      <a:prstClr val="black"/>
                    </a:solidFill>
                    <a:latin typeface="Corbel" panose="020B0503020204020204"/>
                  </a:rPr>
                  <a:t> total </a:t>
                </a:r>
                <a:r>
                  <a:rPr lang="en-US" sz="3200" dirty="0" err="1">
                    <a:solidFill>
                      <a:prstClr val="black"/>
                    </a:solidFill>
                    <a:latin typeface="Corbel" panose="020B0503020204020204"/>
                  </a:rPr>
                  <a:t>mínimo</a:t>
                </a:r>
                <a:r>
                  <a:rPr lang="en-US" sz="3200" dirty="0">
                    <a:solidFill>
                      <a:prstClr val="black"/>
                    </a:solidFill>
                    <a:latin typeface="Corbel" panose="020B0503020204020204"/>
                  </a:rPr>
                  <a:t>.</a:t>
                </a:r>
              </a:p>
              <a:p>
                <a:pPr algn="just"/>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600" dirty="0">
                  <a:solidFill>
                    <a:prstClr val="black"/>
                  </a:solidFill>
                  <a:latin typeface="Corbel" panose="020B0503020204020204"/>
                </a:endParaRPr>
              </a:p>
            </p:txBody>
          </p:sp>
        </mc:Choice>
        <mc:Fallback>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653557" y="1270943"/>
                <a:ext cx="11056057" cy="5083956"/>
              </a:xfrm>
              <a:prstGeom prst="rect">
                <a:avLst/>
              </a:prstGeom>
              <a:blipFill>
                <a:blip r:embed="rId3"/>
                <a:stretch>
                  <a:fillRect l="-1378" t="-1559" r="-1433"/>
                </a:stretch>
              </a:blipFill>
            </p:spPr>
            <p:txBody>
              <a:bodyPr/>
              <a:lstStyle/>
              <a:p>
                <a:r>
                  <a:rPr lang="en-US">
                    <a:noFill/>
                  </a:rPr>
                  <a:t> </a:t>
                </a:r>
              </a:p>
            </p:txBody>
          </p:sp>
        </mc:Fallback>
      </mc:AlternateContent>
    </p:spTree>
    <p:extLst>
      <p:ext uri="{BB962C8B-B14F-4D97-AF65-F5344CB8AC3E}">
        <p14:creationId xmlns:p14="http://schemas.microsoft.com/office/powerpoint/2010/main" val="447928617"/>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D85A-0C94-4E1D-1717-1E99ED2465C9}"/>
              </a:ext>
            </a:extLst>
          </p:cNvPr>
          <p:cNvSpPr>
            <a:spLocks noGrp="1"/>
          </p:cNvSpPr>
          <p:nvPr>
            <p:ph type="title"/>
          </p:nvPr>
        </p:nvSpPr>
        <p:spPr/>
        <p:txBody>
          <a:bodyPr>
            <a:normAutofit/>
          </a:bodyPr>
          <a:lstStyle/>
          <a:p>
            <a:pPr algn="ctr"/>
            <a:r>
              <a:rPr lang="en-US" sz="4400" b="1" dirty="0" err="1"/>
              <a:t>Teoría</a:t>
            </a:r>
            <a:r>
              <a:rPr lang="en-US" sz="4400" b="1" dirty="0"/>
              <a:t> </a:t>
            </a:r>
            <a:r>
              <a:rPr lang="en-US" sz="4400" b="1" dirty="0" err="1"/>
              <a:t>Microeconómica</a:t>
            </a:r>
            <a:r>
              <a:rPr lang="en-US" sz="4400" b="1" dirty="0"/>
              <a:t> 1</a:t>
            </a:r>
            <a:endParaRPr lang="en-US" sz="4400" dirty="0"/>
          </a:p>
        </p:txBody>
      </p:sp>
      <p:sp>
        <p:nvSpPr>
          <p:cNvPr id="3" name="Content Placeholder 2">
            <a:extLst>
              <a:ext uri="{FF2B5EF4-FFF2-40B4-BE49-F238E27FC236}">
                <a16:creationId xmlns:a16="http://schemas.microsoft.com/office/drawing/2014/main" id="{1D9DF532-AADA-2DDE-ED2D-E339659E213C}"/>
              </a:ext>
            </a:extLst>
          </p:cNvPr>
          <p:cNvSpPr>
            <a:spLocks noGrp="1"/>
          </p:cNvSpPr>
          <p:nvPr>
            <p:ph idx="1"/>
          </p:nvPr>
        </p:nvSpPr>
        <p:spPr>
          <a:xfrm>
            <a:off x="1202919" y="2267712"/>
            <a:ext cx="9784080" cy="3950208"/>
          </a:xfrm>
        </p:spPr>
        <p:txBody>
          <a:bodyPr>
            <a:normAutofit/>
          </a:bodyPr>
          <a:lstStyle/>
          <a:p>
            <a:r>
              <a:rPr lang="en-US" sz="3800" b="1" dirty="0" err="1"/>
              <a:t>Próxima</a:t>
            </a:r>
            <a:r>
              <a:rPr lang="en-US" sz="3800" b="1" dirty="0"/>
              <a:t> </a:t>
            </a:r>
            <a:r>
              <a:rPr lang="en-US" sz="3800" b="1" dirty="0" err="1"/>
              <a:t>Clase</a:t>
            </a:r>
            <a:r>
              <a:rPr lang="en-US" sz="3800" b="1" dirty="0"/>
              <a:t>: </a:t>
            </a:r>
            <a:r>
              <a:rPr lang="en-US" sz="3800" b="1" dirty="0">
                <a:solidFill>
                  <a:srgbClr val="FFC000"/>
                </a:solidFill>
              </a:rPr>
              <a:t>22 de Julio</a:t>
            </a:r>
            <a:endParaRPr lang="en-US" sz="3800" dirty="0">
              <a:solidFill>
                <a:srgbClr val="FFC000"/>
              </a:solidFill>
            </a:endParaRPr>
          </a:p>
        </p:txBody>
      </p:sp>
    </p:spTree>
    <p:extLst>
      <p:ext uri="{BB962C8B-B14F-4D97-AF65-F5344CB8AC3E}">
        <p14:creationId xmlns:p14="http://schemas.microsoft.com/office/powerpoint/2010/main" val="14818676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11671</TotalTime>
  <Words>1405</Words>
  <Application>Microsoft Office PowerPoint</Application>
  <PresentationFormat>Widescreen</PresentationFormat>
  <Paragraphs>143</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Cambria Math</vt:lpstr>
      <vt:lpstr>Corbel</vt:lpstr>
      <vt:lpstr>Google Sans</vt:lpstr>
      <vt:lpstr>Wingdings</vt:lpstr>
      <vt:lpstr>Banded</vt:lpstr>
      <vt:lpstr>La minimización de costos</vt:lpstr>
      <vt:lpstr>Clase pasada</vt:lpstr>
      <vt:lpstr>Temas a desarrollar</vt:lpstr>
      <vt:lpstr>Introducción</vt:lpstr>
      <vt:lpstr>mINIMIZACIóN DE LOS COSTOS</vt:lpstr>
      <vt:lpstr>mINIMIZACIóN DE LOS COSTOS</vt:lpstr>
      <vt:lpstr>mINIMIZACIóN DE LOS COSTOS</vt:lpstr>
      <vt:lpstr>mINIMIZACIóN DE LOS COSTOS</vt:lpstr>
      <vt:lpstr>Funciones de demanda condicionadas</vt:lpstr>
      <vt:lpstr>Funciones de demanda condicionadas</vt:lpstr>
      <vt:lpstr>Costos a corto y largo plazo</vt:lpstr>
      <vt:lpstr>Costos a corto plazo</vt:lpstr>
      <vt:lpstr>Costos a largo plazo</vt:lpstr>
      <vt:lpstr>Costos fijos y cuasifijos</vt:lpstr>
      <vt:lpstr>mINIMIZACIóN DE LOS COSTOS – Sustituto perfecto</vt:lpstr>
      <vt:lpstr>mINIMIZACIóN DE LOS COSTOS – Sustituto perfecto</vt:lpstr>
      <vt:lpstr>mINIMIZACIóN DE LOS COSTOS – complementos perfecto</vt:lpstr>
      <vt:lpstr>mINIMIZACIóN DE LOS COSTOS – cobb douglass</vt:lpstr>
      <vt:lpstr>Teoría Microeconómica 1</vt:lpstr>
    </vt:vector>
  </TitlesOfParts>
  <Company>BCRD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la MaximizaciÓn de la utilidad a la demanda</dc:title>
  <dc:creator>Jessica Aloi Rodriguez</dc:creator>
  <cp:lastModifiedBy>Jessica Aloi Rodriguez</cp:lastModifiedBy>
  <cp:revision>47</cp:revision>
  <dcterms:created xsi:type="dcterms:W3CDTF">2024-05-22T13:25:52Z</dcterms:created>
  <dcterms:modified xsi:type="dcterms:W3CDTF">2024-07-17T22:50:49Z</dcterms:modified>
</cp:coreProperties>
</file>